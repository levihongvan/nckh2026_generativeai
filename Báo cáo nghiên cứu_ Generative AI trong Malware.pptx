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Montserrat"/>
      <p:bold r:id="rId17"/>
    </p:embeddedFont>
    <p:embeddedFont>
      <p:font typeface="Roboto"/>
      <p:bold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3657" autoAdjust="0"/>
  </p:normalViewPr>
  <p:slideViewPr>
    <p:cSldViewPr snapToGrid="0" snapToObjects="1">
      <p:cViewPr>
        <p:scale>
          <a:sx n="50" d="100"/>
          <a:sy n="50" d="100"/>
        </p:scale>
        <p:origin x="1099" y="29"/>
      </p:cViewPr>
      <p:guideLst>
        <p:guide orient="horz" pos="2160"/>
        <p:guide pos="2880"/>
      </p:guideLst>
    </p:cSldViewPr>
  </p:slideViewPr>
  <p:notesTextViewPr>
    <p:cViewPr>
      <p:scale>
        <a:sx n="100" d="100"/>
        <a:sy n="100" d="100"/>
      </p:scale>
      <p:origin x="0" y="-9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34A8E-BC46-4285-A884-3702A9D4F9C0}"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48FFC3-9481-4211-A1C4-A0413854C135}" type="slidenum">
              <a:rPr lang="en-US" smtClean="0"/>
              <a:t>‹#›</a:t>
            </a:fld>
            <a:endParaRPr lang="en-US"/>
          </a:p>
        </p:txBody>
      </p:sp>
    </p:spTree>
    <p:extLst>
      <p:ext uri="{BB962C8B-B14F-4D97-AF65-F5344CB8AC3E}">
        <p14:creationId xmlns:p14="http://schemas.microsoft.com/office/powerpoint/2010/main" val="307320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“Em xin chào thầ</a:t>
            </a:r>
            <a:r>
              <a:rPr lang="en-US" dirty="0" smtClean="0"/>
              <a:t>y</a:t>
            </a:r>
            <a:r>
              <a:rPr lang="vi-VN" dirty="0" smtClean="0"/>
              <a:t>.</a:t>
            </a:r>
          </a:p>
          <a:p>
            <a:r>
              <a:rPr lang="vi-VN" dirty="0" smtClean="0"/>
              <a:t>Hôm nay em xin trình bày kết quả nghiên cứu của</a:t>
            </a:r>
            <a:r>
              <a:rPr lang="en-US" baseline="0" dirty="0" smtClean="0"/>
              <a:t> chúng</a:t>
            </a:r>
            <a:r>
              <a:rPr lang="vi-VN" dirty="0" smtClean="0"/>
              <a:t> em về bài báo </a:t>
            </a:r>
            <a:r>
              <a:rPr lang="vi-VN" b="1" dirty="0" smtClean="0"/>
              <a:t>‘Generating Synthetic Malware Samples Using Generative AI’</a:t>
            </a:r>
            <a:r>
              <a:rPr lang="vi-VN" dirty="0" smtClean="0"/>
              <a:t>, được công bố trên tạp chí IEEE Access năm 2025.</a:t>
            </a:r>
          </a:p>
          <a:p>
            <a:r>
              <a:rPr lang="vi-VN" dirty="0" smtClean="0"/>
              <a:t>Chủ đề chính của bài báo là sử dụng các mô hình </a:t>
            </a:r>
            <a:r>
              <a:rPr lang="vi-VN" b="1" dirty="0" smtClean="0"/>
              <a:t>Generative AI</a:t>
            </a:r>
            <a:r>
              <a:rPr lang="vi-VN" dirty="0" smtClean="0"/>
              <a:t>, cụ thể là </a:t>
            </a:r>
            <a:r>
              <a:rPr lang="vi-VN" b="1" dirty="0" smtClean="0"/>
              <a:t>GAN, WGAN-GP và Diffusion</a:t>
            </a:r>
            <a:r>
              <a:rPr lang="vi-VN" dirty="0" smtClean="0"/>
              <a:t>, để sinh ra các dữ liệu malware tổng hợp.</a:t>
            </a:r>
          </a:p>
          <a:p>
            <a:r>
              <a:rPr lang="vi-VN" dirty="0" smtClean="0"/>
              <a:t>Mục tiêu của nghiên cứu không phải là tạo ra một file malware .exe hoàn chỉnh để thực thi, mà là tạo ra </a:t>
            </a:r>
            <a:r>
              <a:rPr lang="vi-VN" b="1" dirty="0" smtClean="0"/>
              <a:t>các malware embedding tổng hợp</a:t>
            </a:r>
            <a:r>
              <a:rPr lang="vi-VN" dirty="0" smtClean="0"/>
              <a:t>, sau đó sử dụng những dữ liệu này để </a:t>
            </a:r>
            <a:r>
              <a:rPr lang="vi-VN" b="1" dirty="0" smtClean="0"/>
              <a:t>bổ sung cho tập dữ liệu huấn luyện</a:t>
            </a:r>
            <a:r>
              <a:rPr lang="vi-VN" dirty="0" smtClean="0"/>
              <a:t>, từ đó cải thiện khả năng phân loại malware của các mô hình Machine Learning.</a:t>
            </a:r>
          </a:p>
          <a:p>
            <a:r>
              <a:rPr lang="vi-VN" dirty="0" smtClean="0"/>
              <a:t>Trong phần trình bày, em sẽ lần lượt nói về vấn đề mà bài báo giải quyết, cách biểu diễn malware, ba mô hình Generative AI, phương pháp đánh giá và cuối cùng là kết quả cũng như hạn chế của nghiên cứu.”</a:t>
            </a:r>
          </a:p>
          <a:p>
            <a:r>
              <a:rPr lang="vi-VN" b="1" dirty="0" smtClean="0"/>
              <a:t>Câu chuyển:</a:t>
            </a:r>
            <a:endParaRPr lang="vi-VN" dirty="0" smtClean="0"/>
          </a:p>
          <a:p>
            <a:r>
              <a:rPr lang="vi-VN" dirty="0" smtClean="0"/>
              <a:t>“Đầu tiên, em xin trình bày vấn đề mà nhóm tác giả đặt ra.”</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1</a:t>
            </a:fld>
            <a:endParaRPr lang="en-US"/>
          </a:p>
        </p:txBody>
      </p:sp>
    </p:spTree>
    <p:extLst>
      <p:ext uri="{BB962C8B-B14F-4D97-AF65-F5344CB8AC3E}">
        <p14:creationId xmlns:p14="http://schemas.microsoft.com/office/powerpoint/2010/main" val="1916466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“Bài trình bày của em gồm 4 phần chính.</a:t>
            </a:r>
          </a:p>
          <a:p>
            <a:r>
              <a:rPr lang="vi-VN" b="1" dirty="0" smtClean="0"/>
              <a:t>Phần thứ nhất là đặt vấn đề.</a:t>
            </a:r>
            <a:r>
              <a:rPr lang="vi-VN" dirty="0" smtClean="0"/>
              <a:t/>
            </a:r>
            <a:br>
              <a:rPr lang="vi-VN" dirty="0" smtClean="0"/>
            </a:br>
            <a:r>
              <a:rPr lang="vi-VN" dirty="0" smtClean="0"/>
              <a:t>Em sẽ giải thích tại sao việc phân loại malware gặp khó khăn và tại sao dữ liệu huấn luyện lại là một vấn đề.</a:t>
            </a:r>
          </a:p>
          <a:p>
            <a:r>
              <a:rPr lang="vi-VN" b="1" dirty="0" smtClean="0"/>
              <a:t>Phần thứ hai là phương pháp.</a:t>
            </a:r>
            <a:r>
              <a:rPr lang="vi-VN" dirty="0" smtClean="0"/>
              <a:t/>
            </a:r>
            <a:br>
              <a:rPr lang="vi-VN" dirty="0" smtClean="0"/>
            </a:br>
            <a:r>
              <a:rPr lang="vi-VN" dirty="0" smtClean="0"/>
              <a:t>Phần này tập trung vào cách bài báo chuyển malware từ dạng binary sang biểu diễn bằng </a:t>
            </a:r>
            <a:r>
              <a:rPr lang="vi-VN" b="1" dirty="0" smtClean="0"/>
              <a:t>opcode</a:t>
            </a:r>
            <a:r>
              <a:rPr lang="vi-VN" dirty="0" smtClean="0"/>
              <a:t>, sau đó sử dụng </a:t>
            </a:r>
            <a:r>
              <a:rPr lang="vi-VN" b="1" dirty="0" smtClean="0"/>
              <a:t>Word2Vec</a:t>
            </a:r>
            <a:r>
              <a:rPr lang="vi-VN" dirty="0" smtClean="0"/>
              <a:t> để tạo embedding và đưa embedding này vào các mô hình Generative AI.</a:t>
            </a:r>
          </a:p>
          <a:p>
            <a:r>
              <a:rPr lang="vi-VN" b="1" dirty="0" smtClean="0"/>
              <a:t>Phần thứ ba là đánh giá.</a:t>
            </a:r>
            <a:r>
              <a:rPr lang="vi-VN" dirty="0" smtClean="0"/>
              <a:t/>
            </a:r>
            <a:br>
              <a:rPr lang="vi-VN" dirty="0" smtClean="0"/>
            </a:br>
            <a:r>
              <a:rPr lang="vi-VN" dirty="0" smtClean="0"/>
              <a:t>Nhóm tác giả sử dụng nhiều phương pháp khác nhau như Binary Classification, t-SNE, Fidelity, Cosine Similarity và Threshold Augmentation để kiểm tra chất lượng dữ liệu được sinh ra.</a:t>
            </a:r>
          </a:p>
          <a:p>
            <a:r>
              <a:rPr lang="vi-VN" b="1" dirty="0" smtClean="0"/>
              <a:t>Cuối cùng là kết luận.</a:t>
            </a:r>
            <a:r>
              <a:rPr lang="vi-VN" dirty="0" smtClean="0"/>
              <a:t/>
            </a:r>
            <a:br>
              <a:rPr lang="vi-VN" dirty="0" smtClean="0"/>
            </a:br>
            <a:r>
              <a:rPr lang="vi-VN" dirty="0" smtClean="0"/>
              <a:t>Em sẽ trình bày kết quả chính của bài báo, đặc biệt là việc sử dụng dữ liệu tổng hợp để cải thiện F1-score, đồng thời nêu những hạn chế của phương pháp.”</a:t>
            </a:r>
          </a:p>
          <a:p>
            <a:r>
              <a:rPr lang="vi-VN" b="1" dirty="0" smtClean="0"/>
              <a:t>Câu chuyển:</a:t>
            </a:r>
            <a:endParaRPr lang="vi-VN" dirty="0" smtClean="0"/>
          </a:p>
          <a:p>
            <a:r>
              <a:rPr lang="vi-VN" dirty="0" smtClean="0"/>
              <a:t>“Vậy vấn đề cụ thể mà bài báo muốn giải quyết là gì?”</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2</a:t>
            </a:fld>
            <a:endParaRPr lang="en-US"/>
          </a:p>
        </p:txBody>
      </p:sp>
    </p:spTree>
    <p:extLst>
      <p:ext uri="{BB962C8B-B14F-4D97-AF65-F5344CB8AC3E}">
        <p14:creationId xmlns:p14="http://schemas.microsoft.com/office/powerpoint/2010/main" val="3415936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“Trong bài toán phân loại malware, một khó khăn lớn là </a:t>
            </a:r>
            <a:r>
              <a:rPr lang="vi-VN" b="1" dirty="0" smtClean="0"/>
              <a:t>dữ liệu huấn luyện không cân bằng</a:t>
            </a:r>
            <a:r>
              <a:rPr lang="vi-VN" dirty="0" smtClean="0"/>
              <a:t>.</a:t>
            </a:r>
          </a:p>
          <a:p>
            <a:r>
              <a:rPr lang="vi-VN" dirty="0" smtClean="0"/>
              <a:t>Có những họ malware có rất nhiều mẫu, nhưng cũng có những họ chỉ có số lượng mẫu rất nhỏ.</a:t>
            </a:r>
          </a:p>
          <a:p>
            <a:r>
              <a:rPr lang="vi-VN" dirty="0" smtClean="0"/>
              <a:t>Ví dụ, nếu một họ malware có hàng nghìn mẫu nhưng một họ khác chỉ có vài chục hoặc vài trăm mẫu thì mô hình Machine Learning sẽ có xu hướng học tốt những họ có nhiều dữ liệu hơn và phân loại kém đối với những họ ít dữ liệu.</a:t>
            </a:r>
          </a:p>
          <a:p>
            <a:r>
              <a:rPr lang="vi-VN" dirty="0" smtClean="0"/>
              <a:t>Vấn đề thứ hai là </a:t>
            </a:r>
            <a:r>
              <a:rPr lang="vi-VN" b="1" dirty="0" smtClean="0"/>
              <a:t>thiếu dữ liệu huấn luyện</a:t>
            </a:r>
            <a:r>
              <a:rPr lang="vi-VN" dirty="0" smtClean="0"/>
              <a:t>.</a:t>
            </a:r>
          </a:p>
          <a:p>
            <a:r>
              <a:rPr lang="vi-VN" dirty="0" smtClean="0"/>
              <a:t>Để xây dựng một hệ thống phát hiện malware tốt, chúng ta cần một lượng lớn mẫu malware thực tế. Tuy nhiên, việc thu thập và phân tích các mẫu này có thể mất nhiều thời gian và tài nguyên.</a:t>
            </a:r>
          </a:p>
          <a:p>
            <a:r>
              <a:rPr lang="vi-VN" dirty="0" smtClean="0"/>
              <a:t>Một vấn đề khác là </a:t>
            </a:r>
            <a:r>
              <a:rPr lang="vi-VN" b="1" dirty="0" smtClean="0"/>
              <a:t>obfuscation</a:t>
            </a:r>
            <a:r>
              <a:rPr lang="vi-VN" dirty="0" smtClean="0"/>
              <a:t>, hay còn gọi là kỹ thuật làm rối mã.</a:t>
            </a:r>
          </a:p>
          <a:p>
            <a:r>
              <a:rPr lang="vi-VN" dirty="0" smtClean="0"/>
              <a:t>Kẻ tấn công có thể thay đổi cách biểu diễn của malware nhưng vẫn giữ nguyên chức năng của nó. Điều này khiến việc phát hiện và phân loại malware trở nên khó khăn hơn.</a:t>
            </a:r>
          </a:p>
          <a:p>
            <a:r>
              <a:rPr lang="vi-VN" dirty="0" smtClean="0"/>
              <a:t>Từ những vấn đề trên, nhóm tác giả đưa ra hướng tiếp cận là sử dụng </a:t>
            </a:r>
            <a:r>
              <a:rPr lang="vi-VN" b="1" dirty="0" smtClean="0"/>
              <a:t>Generative AI</a:t>
            </a:r>
            <a:r>
              <a:rPr lang="vi-VN" dirty="0" smtClean="0"/>
              <a:t>.</a:t>
            </a:r>
          </a:p>
          <a:p>
            <a:r>
              <a:rPr lang="vi-VN" dirty="0" smtClean="0"/>
              <a:t>Thay vì chỉ phụ thuộc vào những malware mẫu đã thu thập được, mô hình sẽ học phân bố của dữ liệu malware hiện có, sau đó tạo ra những </a:t>
            </a:r>
            <a:r>
              <a:rPr lang="vi-VN" b="1" dirty="0" smtClean="0"/>
              <a:t>synthetic samples</a:t>
            </a:r>
            <a:r>
              <a:rPr lang="vi-VN" dirty="0" smtClean="0"/>
              <a:t>, tức là những mẫu dữ liệu tổng hợp.</a:t>
            </a:r>
          </a:p>
          <a:p>
            <a:r>
              <a:rPr lang="vi-VN" dirty="0" smtClean="0"/>
              <a:t>Những mẫu này có thể được sử dụng để bổ sung vào tập huấn luyện, đặc biệt là cho những lớp malware có ít dữ liệu.”</a:t>
            </a:r>
          </a:p>
          <a:p>
            <a:r>
              <a:rPr lang="vi-VN" b="1" dirty="0" smtClean="0"/>
              <a:t>Câu chuyển:</a:t>
            </a:r>
            <a:endParaRPr lang="vi-VN" dirty="0" smtClean="0"/>
          </a:p>
          <a:p>
            <a:r>
              <a:rPr lang="vi-VN" dirty="0" smtClean="0"/>
              <a:t>“Để có thể sinh dữ liệu, trước hết malware phải được chuyển sang một dạng dữ liệu mà mô hình Machine Learning có thể xử lý.”</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3</a:t>
            </a:fld>
            <a:endParaRPr lang="en-US"/>
          </a:p>
        </p:txBody>
      </p:sp>
    </p:spTree>
    <p:extLst>
      <p:ext uri="{BB962C8B-B14F-4D97-AF65-F5344CB8AC3E}">
        <p14:creationId xmlns:p14="http://schemas.microsoft.com/office/powerpoint/2010/main" val="4197738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“Đây là quy trình tổng thể của phương pháp.</a:t>
            </a:r>
          </a:p>
          <a:p>
            <a:r>
              <a:rPr lang="vi-VN" dirty="0" smtClean="0"/>
              <a:t>Đầu tiên, đầu vào là </a:t>
            </a:r>
            <a:r>
              <a:rPr lang="vi-VN" b="1" dirty="0" smtClean="0"/>
              <a:t>Malware Binary</a:t>
            </a:r>
            <a:r>
              <a:rPr lang="vi-VN" dirty="0" smtClean="0"/>
              <a:t>, tức là file malware ở dạng binary.</a:t>
            </a:r>
          </a:p>
          <a:p>
            <a:r>
              <a:rPr lang="vi-VN" dirty="0" smtClean="0"/>
              <a:t>Từ binary, nhóm tác giả thực hiện </a:t>
            </a:r>
            <a:r>
              <a:rPr lang="vi-VN" b="1" dirty="0" smtClean="0"/>
              <a:t>disassembly</a:t>
            </a:r>
            <a:r>
              <a:rPr lang="vi-VN" dirty="0" smtClean="0"/>
              <a:t> để lấy ra các </a:t>
            </a:r>
            <a:r>
              <a:rPr lang="vi-VN" b="1" dirty="0" smtClean="0"/>
              <a:t>opcode</a:t>
            </a:r>
            <a:r>
              <a:rPr lang="vi-VN" dirty="0" smtClean="0"/>
              <a:t>.</a:t>
            </a:r>
          </a:p>
          <a:p>
            <a:r>
              <a:rPr lang="vi-VN" dirty="0" smtClean="0"/>
              <a:t>Opcode có thể hiểu đơn giản là các mã lệnh ở mức máy, ví dụ như mov, push, call.</a:t>
            </a:r>
          </a:p>
          <a:p>
            <a:r>
              <a:rPr lang="vi-VN" dirty="0" smtClean="0"/>
              <a:t>Sau khi có chuỗi opcode, nhóm tác giả sử dụng </a:t>
            </a:r>
            <a:r>
              <a:rPr lang="vi-VN" b="1" dirty="0" smtClean="0"/>
              <a:t>Word2Vec</a:t>
            </a:r>
            <a:r>
              <a:rPr lang="vi-VN" dirty="0" smtClean="0"/>
              <a:t> để chuyển các opcode thành các vector số.</a:t>
            </a:r>
          </a:p>
          <a:p>
            <a:r>
              <a:rPr lang="vi-VN" dirty="0" smtClean="0"/>
              <a:t>Sau bước này, mỗi malware được biểu diễn dưới dạng một </a:t>
            </a:r>
            <a:r>
              <a:rPr lang="vi-VN" b="1" dirty="0" smtClean="0"/>
              <a:t>vector 104 chiều</a:t>
            </a:r>
            <a:r>
              <a:rPr lang="vi-VN" dirty="0" smtClean="0"/>
              <a:t>, hay còn gọi là malware embedding.</a:t>
            </a:r>
          </a:p>
          <a:p>
            <a:r>
              <a:rPr lang="vi-VN" dirty="0" smtClean="0"/>
              <a:t>Các embedding này sau đó được đưa vào ba nhóm mô hình sinh dữ liệu là:</a:t>
            </a:r>
          </a:p>
          <a:p>
            <a:r>
              <a:rPr lang="vi-VN" dirty="0" smtClean="0"/>
              <a:t>GAN</a:t>
            </a:r>
          </a:p>
          <a:p>
            <a:r>
              <a:rPr lang="vi-VN" dirty="0" smtClean="0"/>
              <a:t>WGAN-GP</a:t>
            </a:r>
          </a:p>
          <a:p>
            <a:r>
              <a:rPr lang="vi-VN" dirty="0" smtClean="0"/>
              <a:t>Diffusion</a:t>
            </a:r>
          </a:p>
          <a:p>
            <a:r>
              <a:rPr lang="vi-VN" dirty="0" smtClean="0"/>
              <a:t>Các mô hình này học từ malware embedding thật và sau khi huấn luyện có thể sinh ra các embedding tổng hợp.</a:t>
            </a:r>
          </a:p>
          <a:p>
            <a:r>
              <a:rPr lang="vi-VN" dirty="0" smtClean="0"/>
              <a:t>Cuối cùng, các embedding tổng hợp được đánh giá và được sử dụng để bổ sung dữ liệu cho bài toán phân loại malware.</a:t>
            </a:r>
          </a:p>
          <a:p>
            <a:r>
              <a:rPr lang="vi-VN" dirty="0" smtClean="0"/>
              <a:t>Có thể tóm tắt quy trình thành:</a:t>
            </a:r>
          </a:p>
          <a:p>
            <a:r>
              <a:rPr lang="vi-VN" b="1" dirty="0" smtClean="0"/>
              <a:t>Malware Binary → Opcode → Word2Vec → Malware Embedding → Generative AI → Synthetic Embedding → Malware Classification.</a:t>
            </a:r>
            <a:r>
              <a:rPr lang="vi-VN" dirty="0" smtClean="0"/>
              <a:t>”</a:t>
            </a:r>
            <a:r>
              <a:rPr lang="en-US" dirty="0" smtClean="0"/>
              <a:t/>
            </a:r>
            <a:br>
              <a:rPr lang="en-US" dirty="0" smtClean="0"/>
            </a:br>
            <a:r>
              <a:rPr lang="vi-VN" dirty="0" smtClean="0"/>
              <a:t>“Tiếp theo em xin giải thích kỹ hơn cách malware được biểu diễn thành vector.”</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4</a:t>
            </a:fld>
            <a:endParaRPr lang="en-US"/>
          </a:p>
        </p:txBody>
      </p:sp>
    </p:spTree>
    <p:extLst>
      <p:ext uri="{BB962C8B-B14F-4D97-AF65-F5344CB8AC3E}">
        <p14:creationId xmlns:p14="http://schemas.microsoft.com/office/powerpoint/2010/main" val="246065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“Để Generative AI có thể xử lý malware, nhóm tác giả không đưa trực tiếp toàn bộ binary vào mô hình.</a:t>
            </a:r>
          </a:p>
          <a:p>
            <a:r>
              <a:rPr lang="vi-VN" dirty="0" smtClean="0"/>
              <a:t>Thay vào đó, họ sử dụng </a:t>
            </a:r>
            <a:r>
              <a:rPr lang="vi-VN" b="1" dirty="0" smtClean="0"/>
              <a:t>opcode</a:t>
            </a:r>
            <a:r>
              <a:rPr lang="vi-VN" dirty="0" smtClean="0"/>
              <a:t> làm đặc trưng.</a:t>
            </a:r>
          </a:p>
          <a:p>
            <a:r>
              <a:rPr lang="vi-VN" dirty="0" smtClean="0"/>
              <a:t>Ví dụ một đoạn mã có thể chứa những lệnh như:</a:t>
            </a:r>
          </a:p>
          <a:p>
            <a:r>
              <a:rPr lang="vi-VN" dirty="0" smtClean="0"/>
              <a:t>mov, push, call, jmp...</a:t>
            </a:r>
          </a:p>
          <a:p>
            <a:r>
              <a:rPr lang="vi-VN" dirty="0" smtClean="0"/>
              <a:t>Nhóm tác giả chỉ giữ lại các opcode và loại bỏ một số thông tin như </a:t>
            </a:r>
            <a:r>
              <a:rPr lang="vi-VN" b="1" dirty="0" smtClean="0"/>
              <a:t>thanh ghi và địa chỉ</a:t>
            </a:r>
            <a:r>
              <a:rPr lang="vi-VN" dirty="0" smtClean="0"/>
              <a:t>.</a:t>
            </a:r>
          </a:p>
          <a:p>
            <a:r>
              <a:rPr lang="vi-VN" dirty="0" smtClean="0"/>
              <a:t>Lý do là những thông tin này có thể làm dữ liệu trở nên phức tạp hơn, trong khi mục tiêu của nghiên cứu là tập trung vào chuỗi lệnh.</a:t>
            </a:r>
          </a:p>
          <a:p>
            <a:r>
              <a:rPr lang="vi-VN" dirty="0" smtClean="0"/>
              <a:t>Sau đó, nhóm tác giả sử dụng </a:t>
            </a:r>
            <a:r>
              <a:rPr lang="vi-VN" b="1" dirty="0" smtClean="0"/>
              <a:t>Word2Vec</a:t>
            </a:r>
            <a:r>
              <a:rPr lang="vi-VN" dirty="0" smtClean="0"/>
              <a:t>.</a:t>
            </a:r>
          </a:p>
          <a:p>
            <a:r>
              <a:rPr lang="vi-VN" dirty="0" smtClean="0"/>
              <a:t>Word2Vec ban đầu thường được sử dụng trong xử lý ngôn ngữ tự nhiên, dùng để biểu diễn một từ thành một vector dựa trên ngữ cảnh mà từ đó xuất hiện.</a:t>
            </a:r>
          </a:p>
          <a:p>
            <a:r>
              <a:rPr lang="vi-VN" dirty="0" smtClean="0"/>
              <a:t>Trong bài báo, ý tưởng này được áp dụng cho opcode.</a:t>
            </a:r>
          </a:p>
          <a:p>
            <a:r>
              <a:rPr lang="vi-VN" dirty="0" smtClean="0"/>
              <a:t>Có thể hiểu đơn giản:</a:t>
            </a:r>
          </a:p>
          <a:p>
            <a:r>
              <a:rPr lang="vi-VN" dirty="0" smtClean="0"/>
              <a:t>Nếu hai opcode thường xuất hiện trong những ngữ cảnh tương tự nhau thì Word2Vec sẽ học cách biểu diễn chúng bằng những vector có quan hệ gần nhau.</a:t>
            </a:r>
          </a:p>
          <a:p>
            <a:r>
              <a:rPr lang="vi-VN" dirty="0" smtClean="0"/>
              <a:t>Sau khi biểu diễn opcode, malware được chuyển thành một vector có </a:t>
            </a:r>
            <a:r>
              <a:rPr lang="vi-VN" b="1" dirty="0" smtClean="0"/>
              <a:t>104 chiều</a:t>
            </a:r>
            <a:r>
              <a:rPr lang="vi-VN" dirty="0" smtClean="0"/>
              <a:t>.</a:t>
            </a:r>
          </a:p>
          <a:p>
            <a:r>
              <a:rPr lang="vi-VN" dirty="0" smtClean="0"/>
              <a:t>Vector này được gọi là </a:t>
            </a:r>
            <a:r>
              <a:rPr lang="vi-VN" b="1" dirty="0" smtClean="0"/>
              <a:t>malware embedding</a:t>
            </a:r>
            <a:r>
              <a:rPr lang="vi-VN" dirty="0" smtClean="0"/>
              <a:t>.</a:t>
            </a:r>
          </a:p>
          <a:p>
            <a:r>
              <a:rPr lang="vi-VN" dirty="0" smtClean="0"/>
              <a:t>Như vậy, thay vì làm việc trực tiếp với file binary rất phức tạp, các mô hình GAN, WGAN-GP và Diffusion sẽ làm việc trên những vector số có kích thước cố định.”</a:t>
            </a:r>
          </a:p>
          <a:p>
            <a:r>
              <a:rPr lang="vi-VN" dirty="0" smtClean="0"/>
              <a:t>“Sau khi đã có malware embedding, bước tiếp theo là sử dụng các mô hình Generative AI để sinh dữ liệu mới.”</a:t>
            </a:r>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5</a:t>
            </a:fld>
            <a:endParaRPr lang="en-US"/>
          </a:p>
        </p:txBody>
      </p:sp>
    </p:spTree>
    <p:extLst>
      <p:ext uri="{BB962C8B-B14F-4D97-AF65-F5344CB8AC3E}">
        <p14:creationId xmlns:p14="http://schemas.microsoft.com/office/powerpoint/2010/main" val="2702735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“Trong nghiên cứu này, nhóm tác giả so sánh ba phương pháp sinh dữ liệu là </a:t>
            </a:r>
            <a:r>
              <a:rPr lang="vi-VN" b="1" dirty="0" smtClean="0"/>
              <a:t>GAN, WGAN-GP và Diffusion</a:t>
            </a:r>
            <a:r>
              <a:rPr lang="vi-VN" dirty="0" smtClean="0"/>
              <a:t>.</a:t>
            </a:r>
          </a:p>
          <a:p>
            <a:r>
              <a:rPr lang="vi-VN" dirty="0" smtClean="0"/>
              <a:t>Đầu tiên là </a:t>
            </a:r>
            <a:r>
              <a:rPr lang="vi-VN" b="1" dirty="0" smtClean="0"/>
              <a:t>GAN – Generative Adversarial Network</a:t>
            </a:r>
            <a:r>
              <a:rPr lang="vi-VN" dirty="0" smtClean="0"/>
              <a:t>.</a:t>
            </a:r>
          </a:p>
          <a:p>
            <a:r>
              <a:rPr lang="vi-VN" dirty="0" smtClean="0"/>
              <a:t>GAN gồm hai thành phần chính là </a:t>
            </a:r>
            <a:r>
              <a:rPr lang="vi-VN" b="1" dirty="0" smtClean="0"/>
              <a:t>Generator</a:t>
            </a:r>
            <a:r>
              <a:rPr lang="vi-VN" dirty="0" smtClean="0"/>
              <a:t> và </a:t>
            </a:r>
            <a:r>
              <a:rPr lang="vi-VN" b="1" dirty="0" smtClean="0"/>
              <a:t>Discriminator</a:t>
            </a:r>
            <a:r>
              <a:rPr lang="vi-VN" dirty="0" smtClean="0"/>
              <a:t>.</a:t>
            </a:r>
          </a:p>
          <a:p>
            <a:r>
              <a:rPr lang="vi-VN" dirty="0" smtClean="0"/>
              <a:t>Generator có nhiệm vụ tạo ra malware embedding giả.</a:t>
            </a:r>
          </a:p>
          <a:p>
            <a:r>
              <a:rPr lang="vi-VN" dirty="0" smtClean="0"/>
              <a:t>Discriminator có nhiệm vụ phân biệt embedding thật và embedding do Generator tạo ra.</a:t>
            </a:r>
          </a:p>
          <a:p>
            <a:r>
              <a:rPr lang="vi-VN" dirty="0" smtClean="0"/>
              <a:t>Hai thành phần này cạnh tranh với nhau trong quá trình huấn luyện.</a:t>
            </a:r>
          </a:p>
          <a:p>
            <a:r>
              <a:rPr lang="vi-VN" dirty="0" smtClean="0"/>
              <a:t>Generator càng tạo dữ liệu giống thật thì càng khó để Discriminator phân biệt.</a:t>
            </a:r>
          </a:p>
          <a:p>
            <a:r>
              <a:rPr lang="vi-VN" dirty="0" smtClean="0"/>
              <a:t>Các mẫu trong quá trình huấn luyện chủ yếu được sử dụng để cập nhật trọng số của mô hình. Sau khi Generator học được phân bố dữ liệu, chúng ta mới sử dụng Generator để sinh ra nhiều mẫu tổng hợp.</a:t>
            </a:r>
          </a:p>
          <a:p>
            <a:r>
              <a:rPr lang="vi-VN" dirty="0" smtClean="0"/>
              <a:t>Tiếp theo là </a:t>
            </a:r>
            <a:r>
              <a:rPr lang="vi-VN" b="1" dirty="0" smtClean="0"/>
              <a:t>WGAN-GP</a:t>
            </a:r>
            <a:r>
              <a:rPr lang="vi-VN" dirty="0" smtClean="0"/>
              <a:t>.</a:t>
            </a:r>
          </a:p>
          <a:p>
            <a:r>
              <a:rPr lang="vi-VN" dirty="0" smtClean="0"/>
              <a:t>Đây là một biến thể của GAN nhằm cải thiện độ ổn định của quá trình huấn luyện.</a:t>
            </a:r>
          </a:p>
          <a:p>
            <a:r>
              <a:rPr lang="vi-VN" dirty="0" smtClean="0"/>
              <a:t>WGAN sử dụng </a:t>
            </a:r>
            <a:r>
              <a:rPr lang="vi-VN" b="1" dirty="0" smtClean="0"/>
              <a:t>Wasserstein distance</a:t>
            </a:r>
            <a:r>
              <a:rPr lang="vi-VN" dirty="0" smtClean="0"/>
              <a:t> để đo khoảng cách giữa phân phối dữ liệu thật và dữ liệu sinh ra. Sau đó, WGAN-GP bổ sung </a:t>
            </a:r>
            <a:r>
              <a:rPr lang="vi-VN" b="1" dirty="0" smtClean="0"/>
              <a:t>Gradient Penalty</a:t>
            </a:r>
            <a:r>
              <a:rPr lang="vi-VN" dirty="0" smtClean="0"/>
              <a:t> để giúp việc huấn luyện ổn định hơn.</a:t>
            </a:r>
          </a:p>
          <a:p>
            <a:r>
              <a:rPr lang="vi-VN" dirty="0" smtClean="0"/>
              <a:t>Thành phần đánh giá trong WGAN-GP thường được gọi là </a:t>
            </a:r>
            <a:r>
              <a:rPr lang="vi-VN" b="1" dirty="0" smtClean="0"/>
              <a:t>Critic</a:t>
            </a:r>
            <a:r>
              <a:rPr lang="vi-VN" dirty="0" smtClean="0"/>
              <a:t> thay vì Discriminator.</a:t>
            </a:r>
          </a:p>
          <a:p>
            <a:r>
              <a:rPr lang="vi-VN" dirty="0" smtClean="0"/>
              <a:t>Cuối cùng là </a:t>
            </a:r>
            <a:r>
              <a:rPr lang="vi-VN" b="1" dirty="0" smtClean="0"/>
              <a:t>Diffusion</a:t>
            </a:r>
            <a:r>
              <a:rPr lang="vi-VN" dirty="0" smtClean="0"/>
              <a:t>.</a:t>
            </a:r>
          </a:p>
          <a:p>
            <a:r>
              <a:rPr lang="vi-VN" dirty="0" smtClean="0"/>
              <a:t>Diffusion có cách tiếp cận khác với GAN.</a:t>
            </a:r>
          </a:p>
          <a:p>
            <a:r>
              <a:rPr lang="vi-VN" dirty="0" smtClean="0"/>
              <a:t>Mô hình bắt đầu bằng việc thêm nhiễu vào dữ liệu theo nhiều bước, sau đó học quá trình ngược để loại bỏ nhiễu.</a:t>
            </a:r>
          </a:p>
          <a:p>
            <a:r>
              <a:rPr lang="vi-VN" dirty="0" smtClean="0"/>
              <a:t>Có thể hình dung:</a:t>
            </a:r>
          </a:p>
          <a:p>
            <a:r>
              <a:rPr lang="vi-VN" b="1" dirty="0" smtClean="0"/>
              <a:t>Dữ liệu → thêm nhiễu → dữ liệu rất nhiễu</a:t>
            </a:r>
            <a:endParaRPr lang="vi-VN" dirty="0" smtClean="0"/>
          </a:p>
          <a:p>
            <a:r>
              <a:rPr lang="vi-VN" dirty="0" smtClean="0"/>
              <a:t>và sau đó:</a:t>
            </a:r>
          </a:p>
          <a:p>
            <a:r>
              <a:rPr lang="vi-VN" b="1" dirty="0" smtClean="0"/>
              <a:t>Dữ liệu nhiễu → khử nhiễu → dữ liệu tổng hợp.</a:t>
            </a:r>
            <a:endParaRPr lang="vi-VN" dirty="0" smtClean="0"/>
          </a:p>
          <a:p>
            <a:r>
              <a:rPr lang="vi-VN" dirty="0" smtClean="0"/>
              <a:t>Trong nghiên cứu, Diffusion sử dụng kiến trúc </a:t>
            </a:r>
            <a:r>
              <a:rPr lang="vi-VN" b="1" dirty="0" smtClean="0"/>
              <a:t>U-Net</a:t>
            </a:r>
            <a:r>
              <a:rPr lang="vi-VN" dirty="0" smtClean="0"/>
              <a:t> được điều chỉnh để phù hợp với dữ liệu embedding 1 chiều.”</a:t>
            </a:r>
          </a:p>
          <a:p>
            <a:r>
              <a:rPr lang="en-US" b="1" dirty="0" smtClean="0"/>
              <a:t>Câu chuyển:</a:t>
            </a:r>
            <a:endParaRPr lang="en-US" dirty="0" smtClean="0"/>
          </a:p>
          <a:p>
            <a:r>
              <a:rPr lang="en-US" dirty="0" smtClean="0"/>
              <a:t>“Do dữ liệu của bài toán là embedding một chiều, nhóm tác giả cũng phải điều chỉnh kiến trúc của các mô hình.”</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6</a:t>
            </a:fld>
            <a:endParaRPr lang="en-US"/>
          </a:p>
        </p:txBody>
      </p:sp>
    </p:spTree>
    <p:extLst>
      <p:ext uri="{BB962C8B-B14F-4D97-AF65-F5344CB8AC3E}">
        <p14:creationId xmlns:p14="http://schemas.microsoft.com/office/powerpoint/2010/main" val="3564934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“Các mô hình Generative AI ban đầu có thể được thiết kế cho những dạng dữ liệu khác nhau.</a:t>
            </a:r>
          </a:p>
          <a:p>
            <a:r>
              <a:rPr lang="vi-VN" dirty="0" smtClean="0"/>
              <a:t>Trong nghiên cứu này, dữ liệu đầu vào là </a:t>
            </a:r>
            <a:r>
              <a:rPr lang="vi-VN" b="1" dirty="0" smtClean="0"/>
              <a:t>malware embedding 1 chiều</a:t>
            </a:r>
            <a:r>
              <a:rPr lang="vi-VN" dirty="0" smtClean="0"/>
              <a:t>, vì vậy nhóm tác giả phải điều chỉnh kiến trúc để phù hợp.</a:t>
            </a:r>
          </a:p>
          <a:p>
            <a:r>
              <a:rPr lang="vi-VN" dirty="0" smtClean="0"/>
              <a:t>Thứ nhất là </a:t>
            </a:r>
            <a:r>
              <a:rPr lang="vi-VN" b="1" dirty="0" smtClean="0"/>
              <a:t>Conv1D</a:t>
            </a:r>
            <a:r>
              <a:rPr lang="vi-VN" dirty="0" smtClean="0"/>
              <a:t>.</a:t>
            </a:r>
          </a:p>
          <a:p>
            <a:r>
              <a:rPr lang="vi-VN" dirty="0" smtClean="0"/>
              <a:t>Thay vì sử dụng Conv2D như trong các bài toán ảnh hai chiều, nghiên cứu sử dụng </a:t>
            </a:r>
            <a:r>
              <a:rPr lang="vi-VN" b="1" dirty="0" smtClean="0"/>
              <a:t>Conv1D</a:t>
            </a:r>
            <a:r>
              <a:rPr lang="vi-VN" dirty="0" smtClean="0"/>
              <a:t> để xử lý dữ liệu embedding dạng chuỗi một chiều.</a:t>
            </a:r>
          </a:p>
          <a:p>
            <a:r>
              <a:rPr lang="vi-VN" dirty="0" smtClean="0"/>
              <a:t>Thứ hai là </a:t>
            </a:r>
            <a:r>
              <a:rPr lang="vi-VN" b="1" dirty="0" smtClean="0"/>
              <a:t>chuẩn hóa dữ liệu</a:t>
            </a:r>
            <a:r>
              <a:rPr lang="vi-VN" dirty="0" smtClean="0"/>
              <a:t>.</a:t>
            </a:r>
          </a:p>
          <a:p>
            <a:r>
              <a:rPr lang="vi-VN" dirty="0" smtClean="0"/>
              <a:t>Dữ liệu được scale về khoảng </a:t>
            </a:r>
            <a:r>
              <a:rPr lang="vi-VN" b="1" dirty="0" smtClean="0"/>
              <a:t>[-1, 1]</a:t>
            </a:r>
            <a:r>
              <a:rPr lang="vi-VN" dirty="0" smtClean="0"/>
              <a:t> để phù hợp với hàm kích hoạt </a:t>
            </a:r>
            <a:r>
              <a:rPr lang="vi-VN" b="1" dirty="0" smtClean="0"/>
              <a:t>Tanh</a:t>
            </a:r>
            <a:r>
              <a:rPr lang="vi-VN" dirty="0" smtClean="0"/>
              <a:t> được sử dụng trong mô hình.</a:t>
            </a:r>
          </a:p>
          <a:p>
            <a:r>
              <a:rPr lang="vi-VN" dirty="0" smtClean="0"/>
              <a:t>Việc này giúp đầu ra của Generator nằm trong khoảng phù hợp với dữ liệu đầu vào.</a:t>
            </a:r>
          </a:p>
          <a:p>
            <a:r>
              <a:rPr lang="vi-VN" dirty="0" smtClean="0"/>
              <a:t>Đối với Diffusion, nhóm tác giả cũng điều chỉnh số bước thêm nhiễu.</a:t>
            </a:r>
          </a:p>
          <a:p>
            <a:r>
              <a:rPr lang="vi-VN" dirty="0" smtClean="0"/>
              <a:t>Thay vì tiếp tục thêm nhiễu đến toàn bộ chu kỳ T, nghiên cứu chỉ thực hiện đến </a:t>
            </a:r>
            <a:r>
              <a:rPr lang="vi-VN" b="1" dirty="0" smtClean="0"/>
              <a:t>T/2</a:t>
            </a:r>
            <a:r>
              <a:rPr lang="vi-VN" dirty="0" smtClean="0"/>
              <a:t>.</a:t>
            </a:r>
          </a:p>
          <a:p>
            <a:r>
              <a:rPr lang="vi-VN" dirty="0" smtClean="0"/>
              <a:t>Theo kết quả được trình bày trong bài báo, cách điều chỉnh này giúp giữ khoảng </a:t>
            </a:r>
            <a:r>
              <a:rPr lang="vi-VN" b="1" dirty="0" smtClean="0"/>
              <a:t>96% Gaussian distribution</a:t>
            </a:r>
            <a:r>
              <a:rPr lang="vi-VN" dirty="0" smtClean="0"/>
              <a:t> và hỗ trợ mô hình tái tạo dữ liệu chính xác hơn.”</a:t>
            </a:r>
          </a:p>
          <a:p>
            <a:r>
              <a:rPr lang="en-US" b="1" dirty="0" smtClean="0"/>
              <a:t>Câu chuyển:</a:t>
            </a:r>
            <a:endParaRPr lang="en-US" dirty="0" smtClean="0"/>
          </a:p>
          <a:p>
            <a:r>
              <a:rPr lang="en-US" dirty="0" smtClean="0"/>
              <a:t>“Sau khi sinh dữ liệu, vấn đề tiếp theo là làm thế nào để biết dữ liệu sinh ra có thực sự tốt hay không.”</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7</a:t>
            </a:fld>
            <a:endParaRPr lang="en-US"/>
          </a:p>
        </p:txBody>
      </p:sp>
    </p:spTree>
    <p:extLst>
      <p:ext uri="{BB962C8B-B14F-4D97-AF65-F5344CB8AC3E}">
        <p14:creationId xmlns:p14="http://schemas.microsoft.com/office/powerpoint/2010/main" val="660774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“Nhóm tác giả không chỉ sử dụng một tiêu chí duy nhất để đánh giá dữ liệu tổng hợp mà sử dụng nhiều phương pháp.</a:t>
            </a:r>
          </a:p>
          <a:p>
            <a:r>
              <a:rPr lang="vi-VN" dirty="0" smtClean="0"/>
              <a:t>Đầu tiên là </a:t>
            </a:r>
            <a:r>
              <a:rPr lang="vi-VN" b="1" dirty="0" smtClean="0"/>
              <a:t>Binary Classification</a:t>
            </a:r>
            <a:r>
              <a:rPr lang="vi-VN" dirty="0" smtClean="0"/>
              <a:t>.</a:t>
            </a:r>
          </a:p>
          <a:p>
            <a:r>
              <a:rPr lang="vi-VN" dirty="0" smtClean="0"/>
              <a:t>Ở đây, mô hình được sử dụng để kiểm tra khả năng phân biệt giữa dữ liệu thật và dữ liệu tổng hợp.</a:t>
            </a:r>
          </a:p>
          <a:p>
            <a:r>
              <a:rPr lang="vi-VN" dirty="0" smtClean="0"/>
              <a:t>Nếu dữ liệu tổng hợp quá khác dữ liệu thật thì mô hình sẽ dễ dàng phân biệt.</a:t>
            </a:r>
          </a:p>
          <a:p>
            <a:r>
              <a:rPr lang="vi-VN" dirty="0" smtClean="0"/>
              <a:t>Tiếp theo là </a:t>
            </a:r>
            <a:r>
              <a:rPr lang="vi-VN" b="1" dirty="0" smtClean="0"/>
              <a:t>t-SNE Visualization</a:t>
            </a:r>
            <a:r>
              <a:rPr lang="vi-VN" dirty="0" smtClean="0"/>
              <a:t>.</a:t>
            </a:r>
          </a:p>
          <a:p>
            <a:r>
              <a:rPr lang="vi-VN" dirty="0" smtClean="0"/>
              <a:t>t-SNE là một kỹ thuật giảm chiều dữ liệu để có thể trực quan hóa những dữ liệu nhiều chiều trên không gian 2 chiều.</a:t>
            </a:r>
          </a:p>
          <a:p>
            <a:r>
              <a:rPr lang="vi-VN" dirty="0" smtClean="0"/>
              <a:t>Trong trường hợp này, nó giúp quan sát xem các mẫu tổng hợp có tạo thành những cụm phân bố tương tự dữ liệu malware thật hay không.</a:t>
            </a:r>
          </a:p>
          <a:p>
            <a:r>
              <a:rPr lang="vi-VN" dirty="0" smtClean="0"/>
              <a:t>Phương pháp thứ ba là </a:t>
            </a:r>
            <a:r>
              <a:rPr lang="vi-VN" b="1" dirty="0" smtClean="0"/>
              <a:t>Fidelity và Cosine Similarity</a:t>
            </a:r>
            <a:r>
              <a:rPr lang="vi-VN" dirty="0" smtClean="0"/>
              <a:t>.</a:t>
            </a:r>
          </a:p>
          <a:p>
            <a:r>
              <a:rPr lang="vi-VN" dirty="0" smtClean="0"/>
              <a:t>Fidelity có thể hiểu là mức độ trung thực của dữ liệu tổng hợp so với dữ liệu thật.</a:t>
            </a:r>
          </a:p>
          <a:p>
            <a:r>
              <a:rPr lang="vi-VN" dirty="0" smtClean="0"/>
              <a:t>Còn Cosine Similarity đo mức độ tương đồng giữa các vector.</a:t>
            </a:r>
          </a:p>
          <a:p>
            <a:r>
              <a:rPr lang="vi-VN" dirty="0" smtClean="0"/>
              <a:t>Cuối cùng là </a:t>
            </a:r>
            <a:r>
              <a:rPr lang="vi-VN" b="1" dirty="0" smtClean="0"/>
              <a:t>Threshold Augmentation</a:t>
            </a:r>
            <a:r>
              <a:rPr lang="vi-VN" dirty="0" smtClean="0"/>
              <a:t>.</a:t>
            </a:r>
          </a:p>
          <a:p>
            <a:r>
              <a:rPr lang="vi-VN" dirty="0" smtClean="0"/>
              <a:t>Không phải tất cả dữ liệu tổng hợp đều được đưa vào tập huấn luyện.</a:t>
            </a:r>
          </a:p>
          <a:p>
            <a:r>
              <a:rPr lang="vi-VN" dirty="0" smtClean="0"/>
              <a:t>Nhóm tác giả sử dụng một ngưỡng để lựa chọn những mẫu phù hợp rồi mới bổ sung vào dữ liệu huấn luyện.</a:t>
            </a:r>
          </a:p>
          <a:p>
            <a:r>
              <a:rPr lang="vi-VN" dirty="0" smtClean="0"/>
              <a:t>Mục đích là tránh đưa quá nhiều dữ liệu tổng hợp có chất lượng thấp vào mô hình.”</a:t>
            </a:r>
          </a:p>
          <a:p>
            <a:r>
              <a:rPr lang="vi-VN" b="1" dirty="0" smtClean="0"/>
              <a:t>Điểm rất đáng nhớ:</a:t>
            </a:r>
          </a:p>
          <a:p>
            <a:r>
              <a:rPr lang="vi-VN" dirty="0" smtClean="0"/>
              <a:t>“Như vậy, bài báo đánh giá dữ liệu tổng hợp ở cả hai góc độ:</a:t>
            </a:r>
          </a:p>
          <a:p>
            <a:r>
              <a:rPr lang="vi-VN" b="1" dirty="0" smtClean="0"/>
              <a:t>Một là dữ liệu sinh ra có giống dữ liệu thật không.</a:t>
            </a:r>
            <a:endParaRPr lang="vi-VN" dirty="0" smtClean="0"/>
          </a:p>
          <a:p>
            <a:r>
              <a:rPr lang="vi-VN" b="1" dirty="0" smtClean="0"/>
              <a:t>Hai là khi sử dụng dữ liệu đó để huấn luyện thì hiệu quả phân loại malware có được cải thiện không.</a:t>
            </a:r>
            <a:r>
              <a:rPr lang="vi-VN" dirty="0" smtClean="0"/>
              <a:t>”</a:t>
            </a:r>
          </a:p>
          <a:p>
            <a:r>
              <a:rPr lang="vi-VN" b="1" dirty="0" smtClean="0"/>
              <a:t>Câu chuyển:</a:t>
            </a:r>
            <a:endParaRPr lang="vi-VN" dirty="0" smtClean="0"/>
          </a:p>
          <a:p>
            <a:r>
              <a:rPr lang="vi-VN" dirty="0" smtClean="0"/>
              <a:t>“Sau khi thực hiện các phép đánh giá trên, bài báo thu được một số kết quả đáng chú ý.”</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8</a:t>
            </a:fld>
            <a:endParaRPr lang="en-US"/>
          </a:p>
        </p:txBody>
      </p:sp>
    </p:spTree>
    <p:extLst>
      <p:ext uri="{BB962C8B-B14F-4D97-AF65-F5344CB8AC3E}">
        <p14:creationId xmlns:p14="http://schemas.microsoft.com/office/powerpoint/2010/main" val="1046019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“Đây là kết quả quan trọng nhất của nghiên cứu.</a:t>
            </a:r>
          </a:p>
          <a:p>
            <a:r>
              <a:rPr lang="vi-VN" dirty="0" smtClean="0"/>
              <a:t>Khi sử dụng dữ liệu tổng hợp được lựa chọn để augmentation, </a:t>
            </a:r>
            <a:r>
              <a:rPr lang="vi-VN" b="1" dirty="0" smtClean="0"/>
              <a:t>F1-score của bài toán phân loại malware được cải thiện từ khoảng 87% lên 95%</a:t>
            </a:r>
            <a:r>
              <a:rPr lang="vi-VN" dirty="0" smtClean="0"/>
              <a:t>.</a:t>
            </a:r>
          </a:p>
          <a:p>
            <a:r>
              <a:rPr lang="vi-VN" dirty="0" smtClean="0"/>
              <a:t>Điều này cho thấy dữ liệu tổng hợp có thể hỗ trợ mô hình Machine Learning, đặc biệt trong trường hợp dữ liệu ban đầu bị thiếu hoặc mất cân bằng.</a:t>
            </a:r>
          </a:p>
          <a:p>
            <a:r>
              <a:rPr lang="vi-VN" dirty="0" smtClean="0"/>
              <a:t>Trong ba phương pháp được so sánh, </a:t>
            </a:r>
            <a:r>
              <a:rPr lang="vi-VN" b="1" dirty="0" smtClean="0"/>
              <a:t>Diffusion cho kết quả nổi bật nhất trong nhiều phép đánh giá</a:t>
            </a:r>
            <a:r>
              <a:rPr lang="vi-VN" dirty="0" smtClean="0"/>
              <a:t>.</a:t>
            </a:r>
          </a:p>
          <a:p>
            <a:r>
              <a:rPr lang="vi-VN" dirty="0" smtClean="0"/>
              <a:t>Qua t-SNE, dữ liệu được sinh bởi Diffusion tạo ra các cụm có phân bố gần với malware thực tế hơn.</a:t>
            </a:r>
          </a:p>
          <a:p>
            <a:r>
              <a:rPr lang="vi-VN" dirty="0" smtClean="0"/>
              <a:t>Ngoài ra, khi đánh giá bằng Fidelity với Random Forest, Diffusion đạt khoảng </a:t>
            </a:r>
            <a:r>
              <a:rPr lang="vi-VN" b="1" dirty="0" smtClean="0"/>
              <a:t>92%</a:t>
            </a:r>
            <a:r>
              <a:rPr lang="vi-VN" dirty="0" smtClean="0"/>
              <a:t>.</a:t>
            </a:r>
          </a:p>
          <a:p>
            <a:r>
              <a:rPr lang="vi-VN" dirty="0" smtClean="0"/>
              <a:t>WGAN-GP cũng cho kết quả khá tốt, trong khi GAN thấp hơn.</a:t>
            </a:r>
          </a:p>
          <a:p>
            <a:r>
              <a:rPr lang="vi-VN" dirty="0" smtClean="0"/>
              <a:t>Một kết quả quan trọng khác là phương pháp này giúp hỗ trợ bài toán </a:t>
            </a:r>
            <a:r>
              <a:rPr lang="vi-VN" b="1" dirty="0" smtClean="0"/>
              <a:t>mất cân bằng dữ liệu</a:t>
            </a:r>
            <a:r>
              <a:rPr lang="vi-VN" dirty="0" smtClean="0"/>
              <a:t>.</a:t>
            </a:r>
          </a:p>
          <a:p>
            <a:r>
              <a:rPr lang="vi-VN" dirty="0" smtClean="0"/>
              <a:t>Đặc biệt, những họ malware có ít mẫu có thể được bổ sung thêm dữ liệu tổng hợp, giúp mô hình có thêm thông tin để học.</a:t>
            </a:r>
          </a:p>
          <a:p>
            <a:r>
              <a:rPr lang="vi-VN" dirty="0" smtClean="0"/>
              <a:t>Vì vậy, kết quả chính mà em rút ra từ bài báo là:</a:t>
            </a:r>
          </a:p>
          <a:p>
            <a:r>
              <a:rPr lang="vi-VN" b="1" dirty="0" smtClean="0"/>
              <a:t>Generative AI, đặc biệt là Diffusion, có khả năng tạo ra dữ liệu embedding đủ tương đồng với dữ liệu malware thực để hỗ trợ quá trình phân loại.</a:t>
            </a:r>
            <a:r>
              <a:rPr lang="vi-VN" dirty="0" smtClean="0"/>
              <a:t>”</a:t>
            </a:r>
          </a:p>
          <a:p>
            <a:r>
              <a:rPr lang="vi-VN" b="1" dirty="0" smtClean="0"/>
              <a:t>Nếu giáo viên hỏi “95% có nghĩa là mô hình phát hiện malware chính xác 95% không?”</a:t>
            </a:r>
          </a:p>
          <a:p>
            <a:r>
              <a:rPr lang="vi-VN" dirty="0" smtClean="0"/>
              <a:t>“Không nên hiểu đơn giản là hệ thống phát hiện malware chính xác 95%.</a:t>
            </a:r>
          </a:p>
          <a:p>
            <a:r>
              <a:rPr lang="vi-VN" dirty="0" smtClean="0"/>
              <a:t>Đây là </a:t>
            </a:r>
            <a:r>
              <a:rPr lang="vi-VN" b="1" dirty="0" smtClean="0"/>
              <a:t>F1-score</a:t>
            </a:r>
            <a:r>
              <a:rPr lang="vi-VN" dirty="0" smtClean="0"/>
              <a:t> của bài toán phân loại trong thiết lập thực nghiệm của bài báo.</a:t>
            </a:r>
          </a:p>
          <a:p>
            <a:r>
              <a:rPr lang="vi-VN" dirty="0" smtClean="0"/>
              <a:t>F1-score là chỉ số kết hợp giữa Precision và Recall, nên nó phù hợp khi đánh giá bài toán phân loại, đặc biệt trong bối cảnh dữ liệu có mất cân bằng.”</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9</a:t>
            </a:fld>
            <a:endParaRPr lang="en-US"/>
          </a:p>
        </p:txBody>
      </p:sp>
    </p:spTree>
    <p:extLst>
      <p:ext uri="{BB962C8B-B14F-4D97-AF65-F5344CB8AC3E}">
        <p14:creationId xmlns:p14="http://schemas.microsoft.com/office/powerpoint/2010/main" val="2210988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“Qua nghiên cứu bài báo, em có thể rút ra ba kết luận chính.</a:t>
            </a:r>
          </a:p>
          <a:p>
            <a:r>
              <a:rPr lang="vi-VN" dirty="0" smtClean="0"/>
              <a:t>Thứ nhất, </a:t>
            </a:r>
            <a:r>
              <a:rPr lang="vi-VN" b="1" dirty="0" smtClean="0"/>
              <a:t>Generative AI có thể được sử dụng để sinh dữ liệu malware tổng hợp dưới dạng embedding</a:t>
            </a:r>
            <a:r>
              <a:rPr lang="vi-VN" dirty="0" smtClean="0"/>
              <a:t>.</a:t>
            </a:r>
          </a:p>
          <a:p>
            <a:r>
              <a:rPr lang="vi-VN" dirty="0" smtClean="0"/>
              <a:t>Những dữ liệu này có thể được sử dụng để tăng cường tập dữ liệu và hỗ trợ các mô hình Machine Learning trong bài toán phân loại malware.</a:t>
            </a:r>
          </a:p>
          <a:p>
            <a:r>
              <a:rPr lang="vi-VN" dirty="0" smtClean="0"/>
              <a:t>Thứ hai, trong ba phương pháp được nghiên cứu là GAN, WGAN-GP và Diffusion, </a:t>
            </a:r>
            <a:r>
              <a:rPr lang="vi-VN" b="1" dirty="0" smtClean="0"/>
              <a:t>Diffusion cho kết quả nổi bật nhất trong nhiều phép đánh giá</a:t>
            </a:r>
            <a:r>
              <a:rPr lang="vi-VN" dirty="0" smtClean="0"/>
              <a:t> và giúp F1-score tăng từ khoảng 87% lên 95% khi sử dụng dữ liệu tổng hợp phù hợp để augmentation.</a:t>
            </a:r>
          </a:p>
          <a:p>
            <a:r>
              <a:rPr lang="vi-VN" dirty="0" smtClean="0"/>
              <a:t>Thứ ba, phương pháp này có tiềm năng giải quyết vấn đề thiếu dữ liệu và mất cân bằng dữ liệu trong nghiên cứu malware.</a:t>
            </a:r>
          </a:p>
          <a:p>
            <a:r>
              <a:rPr lang="vi-VN" dirty="0" smtClean="0"/>
              <a:t>Tuy nhiên, nghiên cứu vẫn có một số hạn chế.</a:t>
            </a:r>
          </a:p>
          <a:p>
            <a:r>
              <a:rPr lang="vi-VN" b="1" dirty="0" smtClean="0"/>
              <a:t>Hạn chế thứ nhất</a:t>
            </a:r>
            <a:r>
              <a:rPr lang="vi-VN" dirty="0" smtClean="0"/>
              <a:t>, dữ liệu được sinh ra chủ yếu là </a:t>
            </a:r>
            <a:r>
              <a:rPr lang="vi-VN" b="1" dirty="0" smtClean="0"/>
              <a:t>embedding</a:t>
            </a:r>
            <a:r>
              <a:rPr lang="vi-VN" dirty="0" smtClean="0"/>
              <a:t>, chứ không phải một file malware thực thi hoàn chỉnh.</a:t>
            </a:r>
          </a:p>
          <a:p>
            <a:r>
              <a:rPr lang="vi-VN" b="1" dirty="0" smtClean="0"/>
              <a:t>Hạn chế thứ hai</a:t>
            </a:r>
            <a:r>
              <a:rPr lang="vi-VN" dirty="0" smtClean="0"/>
              <a:t>, việc chỉ sử dụng opcode khiến một số thông tin khác của malware, chẳng hạn như thông tin về luồng dữ liệu, không được biểu diễn đầy đủ.</a:t>
            </a:r>
          </a:p>
          <a:p>
            <a:r>
              <a:rPr lang="vi-VN" b="1" dirty="0" smtClean="0"/>
              <a:t>Hạn chế thứ ba</a:t>
            </a:r>
            <a:r>
              <a:rPr lang="vi-VN" dirty="0" smtClean="0"/>
              <a:t>, mô hình học dựa trên phân bố của malware đã có trong dữ liệu huấn luyện. Vì vậy, nó không đảm bảo có thể tạo ra một kiểu </a:t>
            </a:r>
            <a:r>
              <a:rPr lang="vi-VN" b="1" dirty="0" smtClean="0"/>
              <a:t>zero-day attack hoàn toàn mới</a:t>
            </a:r>
            <a:r>
              <a:rPr lang="vi-VN" dirty="0" smtClean="0"/>
              <a:t>.</a:t>
            </a:r>
          </a:p>
          <a:p>
            <a:r>
              <a:rPr lang="vi-VN" dirty="0" smtClean="0"/>
              <a:t>Do đó, hướng nghiên cứu trong tương lai có thể tập trung vào việc sử dụng những biểu diễn malware phong phú hơn, cải thiện chất lượng mẫu tổng hợp và nghiên cứu các phương pháp sinh dữ liệu phù hợp hơn với đặc điểm rời rạc của mã lệnh.</a:t>
            </a:r>
          </a:p>
          <a:p>
            <a:r>
              <a:rPr lang="vi-VN" dirty="0" smtClean="0"/>
              <a:t>Trên đây là phần trình bày của em về bài báo </a:t>
            </a:r>
            <a:r>
              <a:rPr lang="vi-VN" b="1" dirty="0" smtClean="0"/>
              <a:t>Generating Synthetic Malware Samples Using Generative AI</a:t>
            </a:r>
            <a:r>
              <a:rPr lang="vi-VN" dirty="0" smtClean="0"/>
              <a:t>.</a:t>
            </a:r>
          </a:p>
          <a:p>
            <a:r>
              <a:rPr lang="vi-VN" dirty="0" smtClean="0"/>
              <a:t>Em xin cảm ơn thầy/cô đã lắng nghe. Em sẵn sàng trả lời các câu hỏi.”</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10</a:t>
            </a:fld>
            <a:endParaRPr lang="en-US"/>
          </a:p>
        </p:txBody>
      </p:sp>
    </p:spTree>
    <p:extLst>
      <p:ext uri="{BB962C8B-B14F-4D97-AF65-F5344CB8AC3E}">
        <p14:creationId xmlns:p14="http://schemas.microsoft.com/office/powerpoint/2010/main" val="3137173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93C"/>
        </a:solidFill>
        <a:effectLst/>
      </p:bgPr>
    </p:bg>
    <p:spTree>
      <p:nvGrpSpPr>
        <p:cNvPr id="1" name=""/>
        <p:cNvGrpSpPr/>
        <p:nvPr/>
      </p:nvGrpSpPr>
      <p:grpSpPr>
        <a:xfrm>
          <a:off x="0" y="0"/>
          <a:ext cx="0" cy="0"/>
          <a:chOff x="0" y="0"/>
          <a:chExt cx="0" cy="0"/>
        </a:xfrm>
      </p:grpSpPr>
      <p:sp>
        <p:nvSpPr>
          <p:cNvPr id="2" name="Rectangle 1"/>
          <p:cNvSpPr/>
          <p:nvPr/>
        </p:nvSpPr>
        <p:spPr>
          <a:xfrm>
            <a:off x="609600" y="4816673"/>
            <a:ext cx="7620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8724900" y="609600"/>
            <a:ext cx="2857500" cy="5638800"/>
          </a:xfrm>
          <a:prstGeom prst="rect">
            <a:avLst/>
          </a:prstGeom>
        </p:spPr>
      </p:pic>
      <p:pic>
        <p:nvPicPr>
          <p:cNvPr id="4" name="Picture 3" descr="image.png"/>
          <p:cNvPicPr>
            <a:picLocks noChangeAspect="1"/>
          </p:cNvPicPr>
          <p:nvPr/>
        </p:nvPicPr>
        <p:blipFill>
          <a:blip r:embed="rId4"/>
          <a:stretch>
            <a:fillRect/>
          </a:stretch>
        </p:blipFill>
        <p:spPr>
          <a:xfrm>
            <a:off x="9582150" y="2857500"/>
            <a:ext cx="1143000" cy="1143000"/>
          </a:xfrm>
          <a:prstGeom prst="rect">
            <a:avLst/>
          </a:prstGeom>
        </p:spPr>
      </p:pic>
      <p:pic>
        <p:nvPicPr>
          <p:cNvPr id="5" name="Picture 4" descr="image.png"/>
          <p:cNvPicPr>
            <a:picLocks noChangeAspect="1"/>
          </p:cNvPicPr>
          <p:nvPr/>
        </p:nvPicPr>
        <p:blipFill>
          <a:blip r:embed="rId5"/>
          <a:stretch>
            <a:fillRect/>
          </a:stretch>
        </p:blipFill>
        <p:spPr>
          <a:xfrm>
            <a:off x="609600" y="1555551"/>
            <a:ext cx="381000" cy="381000"/>
          </a:xfrm>
          <a:prstGeom prst="rect">
            <a:avLst/>
          </a:prstGeom>
        </p:spPr>
      </p:pic>
      <p:sp>
        <p:nvSpPr>
          <p:cNvPr id="6" name="TextBox 5"/>
          <p:cNvSpPr txBox="1"/>
          <p:nvPr/>
        </p:nvSpPr>
        <p:spPr>
          <a:xfrm>
            <a:off x="609600" y="2241351"/>
            <a:ext cx="8141017" cy="1279921"/>
          </a:xfrm>
          <a:prstGeom prst="rect">
            <a:avLst/>
          </a:prstGeom>
          <a:noFill/>
        </p:spPr>
        <p:txBody>
          <a:bodyPr wrap="square" lIns="0" tIns="0" rIns="0" bIns="0" anchor="t">
            <a:spAutoFit/>
          </a:bodyPr>
          <a:lstStyle/>
          <a:p>
            <a:pPr algn="l">
              <a:lnSpc>
                <a:spcPts val="5040"/>
              </a:lnSpc>
            </a:pPr>
            <a:r>
              <a:rPr sz="4200" b="1" i="0" u="none">
                <a:solidFill>
                  <a:srgbClr val="FFFFFF"/>
                </a:solidFill>
                <a:latin typeface="Montserrat"/>
              </a:rPr>
              <a:t>Sinh Dữ Liệu Malware Tổng Hợp Bằng Generative AI</a:t>
            </a:r>
          </a:p>
        </p:txBody>
      </p:sp>
      <p:sp>
        <p:nvSpPr>
          <p:cNvPr id="7" name="TextBox 6"/>
          <p:cNvSpPr txBox="1"/>
          <p:nvPr/>
        </p:nvSpPr>
        <p:spPr>
          <a:xfrm>
            <a:off x="609600" y="3749873"/>
            <a:ext cx="5810250" cy="685800"/>
          </a:xfrm>
          <a:prstGeom prst="rect">
            <a:avLst/>
          </a:prstGeom>
          <a:noFill/>
        </p:spPr>
        <p:txBody>
          <a:bodyPr wrap="square" lIns="0" tIns="0" rIns="0" bIns="0" anchor="t">
            <a:spAutoFit/>
          </a:bodyPr>
          <a:lstStyle/>
          <a:p>
            <a:pPr algn="l">
              <a:lnSpc>
                <a:spcPts val="2700"/>
              </a:lnSpc>
            </a:pPr>
            <a:r>
              <a:rPr sz="1800" b="0" i="0" u="none">
                <a:solidFill>
                  <a:srgbClr val="94A3B8"/>
                </a:solidFill>
                <a:latin typeface="Roboto"/>
              </a:rPr>
              <a:t>Đánh giá phương pháp ứng dụng Diffusion, GAN và WGAN-GP trong gia tăng chất lượng phân loại mã độc.</a:t>
            </a:r>
          </a:p>
        </p:txBody>
      </p:sp>
      <p:sp>
        <p:nvSpPr>
          <p:cNvPr id="8" name="TextBox 7"/>
          <p:cNvSpPr txBox="1"/>
          <p:nvPr/>
        </p:nvSpPr>
        <p:spPr>
          <a:xfrm>
            <a:off x="609600" y="5102423"/>
            <a:ext cx="9572625" cy="200025"/>
          </a:xfrm>
          <a:prstGeom prst="rect">
            <a:avLst/>
          </a:prstGeom>
          <a:noFill/>
        </p:spPr>
        <p:txBody>
          <a:bodyPr wrap="none" lIns="0" tIns="0" rIns="0" bIns="0" anchor="t">
            <a:spAutoFit/>
          </a:bodyPr>
          <a:lstStyle/>
          <a:p>
            <a:pPr algn="l"/>
            <a:r>
              <a:rPr sz="1350" b="0" i="0" u="none">
                <a:solidFill>
                  <a:srgbClr val="CBD5E1"/>
                </a:solidFill>
                <a:latin typeface="Roboto"/>
              </a:rPr>
              <a:t>Nguồn: IEEE Access, Vol 13, 2025</a:t>
            </a:r>
          </a:p>
        </p:txBody>
      </p:sp>
      <p:sp>
        <p:nvSpPr>
          <p:cNvPr id="9" name="TextBox 8"/>
          <p:cNvSpPr txBox="1"/>
          <p:nvPr/>
        </p:nvSpPr>
        <p:spPr>
          <a:xfrm>
            <a:off x="1143000" y="1631751"/>
            <a:ext cx="4607718" cy="228600"/>
          </a:xfrm>
          <a:prstGeom prst="rect">
            <a:avLst/>
          </a:prstGeom>
          <a:noFill/>
        </p:spPr>
        <p:txBody>
          <a:bodyPr wrap="none" lIns="0" tIns="0" rIns="0" bIns="0" anchor="t">
            <a:spAutoFit/>
          </a:bodyPr>
          <a:lstStyle/>
          <a:p>
            <a:pPr algn="l"/>
            <a:r>
              <a:rPr sz="1500" b="1" i="0" u="none">
                <a:solidFill>
                  <a:srgbClr val="F8FAFC"/>
                </a:solidFill>
                <a:latin typeface="Montserrat"/>
              </a:rPr>
              <a:t>PHÂN TÍCH BÀI BÁO KHOA HỌC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8811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8400" y="18811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0528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48400" y="40528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9600" y="1881187"/>
            <a:ext cx="5334000" cy="5715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8400" y="1881187"/>
            <a:ext cx="53340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600" y="4052887"/>
            <a:ext cx="5334000" cy="5715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400" y="4052887"/>
            <a:ext cx="53340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11430000" y="338137"/>
            <a:ext cx="304800" cy="304800"/>
          </a:xfrm>
          <a:prstGeom prst="rect">
            <a:avLst/>
          </a:prstGeom>
        </p:spPr>
      </p:pic>
      <p:sp>
        <p:nvSpPr>
          <p:cNvPr id="13" name="TextBox 12"/>
          <p:cNvSpPr txBox="1"/>
          <p:nvPr/>
        </p:nvSpPr>
        <p:spPr>
          <a:xfrm>
            <a:off x="457200" y="304800"/>
            <a:ext cx="4088010" cy="371475"/>
          </a:xfrm>
          <a:prstGeom prst="rect">
            <a:avLst/>
          </a:prstGeom>
          <a:noFill/>
        </p:spPr>
        <p:txBody>
          <a:bodyPr wrap="none" lIns="0" tIns="0" rIns="0" bIns="0" anchor="t">
            <a:spAutoFit/>
          </a:bodyPr>
          <a:lstStyle/>
          <a:p>
            <a:pPr algn="l"/>
            <a:r>
              <a:rPr sz="2400" b="1" i="0" u="none">
                <a:solidFill>
                  <a:srgbClr val="1A293C"/>
                </a:solidFill>
                <a:latin typeface="Montserrat"/>
              </a:rPr>
              <a:t>Nội Dung Trình Bày</a:t>
            </a:r>
          </a:p>
        </p:txBody>
      </p:sp>
      <p:sp>
        <p:nvSpPr>
          <p:cNvPr id="14" name="TextBox 13"/>
          <p:cNvSpPr txBox="1"/>
          <p:nvPr/>
        </p:nvSpPr>
        <p:spPr>
          <a:xfrm>
            <a:off x="990600" y="2319337"/>
            <a:ext cx="6000750" cy="323850"/>
          </a:xfrm>
          <a:prstGeom prst="rect">
            <a:avLst/>
          </a:prstGeom>
          <a:noFill/>
        </p:spPr>
        <p:txBody>
          <a:bodyPr wrap="none" lIns="0" tIns="0" rIns="0" bIns="0" anchor="t">
            <a:spAutoFit/>
          </a:bodyPr>
          <a:lstStyle/>
          <a:p>
            <a:pPr algn="l"/>
            <a:r>
              <a:rPr sz="2100" b="1" i="0" u="none">
                <a:solidFill>
                  <a:srgbClr val="1A293C"/>
                </a:solidFill>
                <a:latin typeface="Montserrat"/>
              </a:rPr>
              <a:t>01. Đặt Vấn Đề</a:t>
            </a:r>
          </a:p>
        </p:txBody>
      </p:sp>
      <p:sp>
        <p:nvSpPr>
          <p:cNvPr id="15" name="TextBox 14"/>
          <p:cNvSpPr txBox="1"/>
          <p:nvPr/>
        </p:nvSpPr>
        <p:spPr>
          <a:xfrm>
            <a:off x="990600" y="27955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Khó khăn trong phân loại malware và sự thiếu hụt dữ liệu huấn luyện.</a:t>
            </a:r>
          </a:p>
        </p:txBody>
      </p:sp>
      <p:sp>
        <p:nvSpPr>
          <p:cNvPr id="16" name="TextBox 15"/>
          <p:cNvSpPr txBox="1"/>
          <p:nvPr/>
        </p:nvSpPr>
        <p:spPr>
          <a:xfrm>
            <a:off x="6629400" y="2319337"/>
            <a:ext cx="5562600" cy="323850"/>
          </a:xfrm>
          <a:prstGeom prst="rect">
            <a:avLst/>
          </a:prstGeom>
          <a:noFill/>
        </p:spPr>
        <p:txBody>
          <a:bodyPr wrap="none" lIns="0" tIns="0" rIns="0" bIns="0" anchor="t">
            <a:spAutoFit/>
          </a:bodyPr>
          <a:lstStyle/>
          <a:p>
            <a:pPr algn="l"/>
            <a:r>
              <a:rPr sz="2100" b="1" i="0" u="none">
                <a:solidFill>
                  <a:srgbClr val="1A293C"/>
                </a:solidFill>
                <a:latin typeface="Montserrat"/>
              </a:rPr>
              <a:t>02. Phương Pháp</a:t>
            </a:r>
          </a:p>
        </p:txBody>
      </p:sp>
      <p:sp>
        <p:nvSpPr>
          <p:cNvPr id="17" name="TextBox 16"/>
          <p:cNvSpPr txBox="1"/>
          <p:nvPr/>
        </p:nvSpPr>
        <p:spPr>
          <a:xfrm>
            <a:off x="6629400" y="27955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Biểu diễn Opcode và ứng dụng các mô hình học sinh (GenAI).</a:t>
            </a:r>
          </a:p>
        </p:txBody>
      </p:sp>
      <p:sp>
        <p:nvSpPr>
          <p:cNvPr id="18" name="TextBox 17"/>
          <p:cNvSpPr txBox="1"/>
          <p:nvPr/>
        </p:nvSpPr>
        <p:spPr>
          <a:xfrm>
            <a:off x="990600" y="4491037"/>
            <a:ext cx="6000750" cy="323850"/>
          </a:xfrm>
          <a:prstGeom prst="rect">
            <a:avLst/>
          </a:prstGeom>
          <a:noFill/>
        </p:spPr>
        <p:txBody>
          <a:bodyPr wrap="none" lIns="0" tIns="0" rIns="0" bIns="0" anchor="t">
            <a:spAutoFit/>
          </a:bodyPr>
          <a:lstStyle/>
          <a:p>
            <a:pPr algn="l"/>
            <a:r>
              <a:rPr sz="2100" b="1" i="0" u="none">
                <a:solidFill>
                  <a:srgbClr val="1A293C"/>
                </a:solidFill>
                <a:latin typeface="Montserrat"/>
              </a:rPr>
              <a:t>03. Đánh Giá</a:t>
            </a:r>
          </a:p>
        </p:txBody>
      </p:sp>
      <p:sp>
        <p:nvSpPr>
          <p:cNvPr id="19" name="TextBox 18"/>
          <p:cNvSpPr txBox="1"/>
          <p:nvPr/>
        </p:nvSpPr>
        <p:spPr>
          <a:xfrm>
            <a:off x="990600" y="49672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Kiểm định độ tương đồng và chất lượng của dữ liệu sinh ra.</a:t>
            </a:r>
          </a:p>
        </p:txBody>
      </p:sp>
      <p:sp>
        <p:nvSpPr>
          <p:cNvPr id="20" name="TextBox 19"/>
          <p:cNvSpPr txBox="1"/>
          <p:nvPr/>
        </p:nvSpPr>
        <p:spPr>
          <a:xfrm>
            <a:off x="6629400" y="4491037"/>
            <a:ext cx="5562600" cy="323850"/>
          </a:xfrm>
          <a:prstGeom prst="rect">
            <a:avLst/>
          </a:prstGeom>
          <a:noFill/>
        </p:spPr>
        <p:txBody>
          <a:bodyPr wrap="none" lIns="0" tIns="0" rIns="0" bIns="0" anchor="t">
            <a:spAutoFit/>
          </a:bodyPr>
          <a:lstStyle/>
          <a:p>
            <a:pPr algn="l"/>
            <a:r>
              <a:rPr sz="2100" b="1" i="0" u="none">
                <a:solidFill>
                  <a:srgbClr val="1A293C"/>
                </a:solidFill>
                <a:latin typeface="Montserrat"/>
              </a:rPr>
              <a:t>04. Kết Luận</a:t>
            </a:r>
          </a:p>
        </p:txBody>
      </p:sp>
      <p:sp>
        <p:nvSpPr>
          <p:cNvPr id="21" name="TextBox 20"/>
          <p:cNvSpPr txBox="1"/>
          <p:nvPr/>
        </p:nvSpPr>
        <p:spPr>
          <a:xfrm>
            <a:off x="6629400" y="49672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Hiệu quả tăng cường dữ liệu và các hạn chế của nghiên cứu.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296150" y="2434828"/>
            <a:ext cx="4286250" cy="2931318"/>
          </a:xfrm>
          <a:prstGeom prst="roundRect">
            <a:avLst>
              <a:gd name="adj" fmla="val 7798"/>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53350" y="3320653"/>
            <a:ext cx="33718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1430000" y="338137"/>
            <a:ext cx="304800" cy="304800"/>
          </a:xfrm>
          <a:prstGeom prst="rect">
            <a:avLst/>
          </a:prstGeom>
        </p:spPr>
      </p:pic>
      <p:pic>
        <p:nvPicPr>
          <p:cNvPr id="7" name="Picture 6" descr="image.png"/>
          <p:cNvPicPr>
            <a:picLocks noChangeAspect="1"/>
          </p:cNvPicPr>
          <p:nvPr/>
        </p:nvPicPr>
        <p:blipFill>
          <a:blip r:embed="rId4"/>
          <a:stretch>
            <a:fillRect/>
          </a:stretch>
        </p:blipFill>
        <p:spPr>
          <a:xfrm>
            <a:off x="609600" y="3533775"/>
            <a:ext cx="228600" cy="247650"/>
          </a:xfrm>
          <a:prstGeom prst="rect">
            <a:avLst/>
          </a:prstGeom>
        </p:spPr>
      </p:pic>
      <p:pic>
        <p:nvPicPr>
          <p:cNvPr id="8" name="Picture 7" descr="image.png"/>
          <p:cNvPicPr>
            <a:picLocks noChangeAspect="1"/>
          </p:cNvPicPr>
          <p:nvPr/>
        </p:nvPicPr>
        <p:blipFill>
          <a:blip r:embed="rId4"/>
          <a:stretch>
            <a:fillRect/>
          </a:stretch>
        </p:blipFill>
        <p:spPr>
          <a:xfrm>
            <a:off x="609600" y="4029075"/>
            <a:ext cx="228600" cy="247650"/>
          </a:xfrm>
          <a:prstGeom prst="rect">
            <a:avLst/>
          </a:prstGeom>
        </p:spPr>
      </p:pic>
      <p:pic>
        <p:nvPicPr>
          <p:cNvPr id="9" name="Picture 8" descr="image.png"/>
          <p:cNvPicPr>
            <a:picLocks noChangeAspect="1"/>
          </p:cNvPicPr>
          <p:nvPr/>
        </p:nvPicPr>
        <p:blipFill>
          <a:blip r:embed="rId4"/>
          <a:stretch>
            <a:fillRect/>
          </a:stretch>
        </p:blipFill>
        <p:spPr>
          <a:xfrm>
            <a:off x="609600" y="4524375"/>
            <a:ext cx="228600" cy="247650"/>
          </a:xfrm>
          <a:prstGeom prst="rect">
            <a:avLst/>
          </a:prstGeom>
        </p:spPr>
      </p:pic>
      <p:sp>
        <p:nvSpPr>
          <p:cNvPr id="10" name="TextBox 9"/>
          <p:cNvSpPr txBox="1"/>
          <p:nvPr/>
        </p:nvSpPr>
        <p:spPr>
          <a:xfrm>
            <a:off x="457200" y="304800"/>
            <a:ext cx="6500812" cy="371475"/>
          </a:xfrm>
          <a:prstGeom prst="rect">
            <a:avLst/>
          </a:prstGeom>
          <a:noFill/>
        </p:spPr>
        <p:txBody>
          <a:bodyPr wrap="none" lIns="0" tIns="0" rIns="0" bIns="0" anchor="t">
            <a:spAutoFit/>
          </a:bodyPr>
          <a:lstStyle/>
          <a:p>
            <a:pPr algn="l"/>
            <a:r>
              <a:rPr sz="2400" b="1" i="0" u="none">
                <a:solidFill>
                  <a:srgbClr val="1A293C"/>
                </a:solidFill>
                <a:latin typeface="Montserrat"/>
              </a:rPr>
              <a:t>Bối Cảnh &amp; Vấn Đề Nghiên Cứu</a:t>
            </a:r>
          </a:p>
        </p:txBody>
      </p:sp>
      <p:sp>
        <p:nvSpPr>
          <p:cNvPr id="11" name="TextBox 10"/>
          <p:cNvSpPr txBox="1"/>
          <p:nvPr/>
        </p:nvSpPr>
        <p:spPr>
          <a:xfrm>
            <a:off x="609600" y="2809875"/>
            <a:ext cx="8176021" cy="466725"/>
          </a:xfrm>
          <a:prstGeom prst="rect">
            <a:avLst/>
          </a:prstGeom>
          <a:noFill/>
        </p:spPr>
        <p:txBody>
          <a:bodyPr wrap="none" lIns="0" tIns="0" rIns="0" bIns="0" anchor="t">
            <a:spAutoFit/>
          </a:bodyPr>
          <a:lstStyle/>
          <a:p>
            <a:pPr algn="l"/>
            <a:r>
              <a:rPr sz="3000" b="1" i="0" u="none">
                <a:solidFill>
                  <a:srgbClr val="D32F2F"/>
                </a:solidFill>
                <a:latin typeface="Montserrat"/>
              </a:rPr>
              <a:t>Sự mất cân bằng dữ liệu</a:t>
            </a:r>
          </a:p>
        </p:txBody>
      </p:sp>
      <p:sp>
        <p:nvSpPr>
          <p:cNvPr id="12" name="TextBox 11"/>
          <p:cNvSpPr txBox="1"/>
          <p:nvPr/>
        </p:nvSpPr>
        <p:spPr>
          <a:xfrm>
            <a:off x="7753350" y="2892028"/>
            <a:ext cx="3640455" cy="295275"/>
          </a:xfrm>
          <a:prstGeom prst="rect">
            <a:avLst/>
          </a:prstGeom>
          <a:noFill/>
        </p:spPr>
        <p:txBody>
          <a:bodyPr wrap="square" lIns="0" tIns="0" rIns="0" bIns="0" anchor="t">
            <a:spAutoFit/>
          </a:bodyPr>
          <a:lstStyle/>
          <a:p>
            <a:pPr algn="l"/>
            <a:r>
              <a:rPr sz="1800" b="1" i="0" u="none">
                <a:solidFill>
                  <a:srgbClr val="FFFFFF"/>
                </a:solidFill>
                <a:latin typeface="Montserrat"/>
              </a:rPr>
              <a:t>Giải Pháp Đề Xuất</a:t>
            </a:r>
          </a:p>
        </p:txBody>
      </p:sp>
      <p:sp>
        <p:nvSpPr>
          <p:cNvPr id="13" name="TextBox 12"/>
          <p:cNvSpPr txBox="1"/>
          <p:nvPr/>
        </p:nvSpPr>
        <p:spPr>
          <a:xfrm>
            <a:off x="7753350" y="3568303"/>
            <a:ext cx="346710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Roboto"/>
              </a:rPr>
              <a:t>Ứng dụng Generative AI để học phân bố của malware hiện tại và sinh ra các mẫu tổng hợp (synthetic samples) chất lượng cao.</a:t>
            </a:r>
          </a:p>
        </p:txBody>
      </p:sp>
      <p:sp>
        <p:nvSpPr>
          <p:cNvPr id="14" name="TextBox 13"/>
          <p:cNvSpPr txBox="1"/>
          <p:nvPr/>
        </p:nvSpPr>
        <p:spPr>
          <a:xfrm>
            <a:off x="990600" y="3505200"/>
            <a:ext cx="6500812" cy="266700"/>
          </a:xfrm>
          <a:prstGeom prst="rect">
            <a:avLst/>
          </a:prstGeom>
          <a:noFill/>
        </p:spPr>
        <p:txBody>
          <a:bodyPr wrap="none" lIns="0" tIns="0" rIns="0" bIns="0" anchor="t">
            <a:spAutoFit/>
          </a:bodyPr>
          <a:lstStyle/>
          <a:p>
            <a:pPr algn="l"/>
            <a:r>
              <a:rPr sz="1800" b="0" i="0" u="none">
                <a:solidFill>
                  <a:srgbClr val="334155"/>
                </a:solidFill>
                <a:latin typeface="Roboto"/>
              </a:rPr>
              <a:t>Thiếu hụt mẫu huấn luyện cho các họ malware nhỏ.</a:t>
            </a:r>
          </a:p>
        </p:txBody>
      </p:sp>
      <p:sp>
        <p:nvSpPr>
          <p:cNvPr id="15" name="TextBox 14"/>
          <p:cNvSpPr txBox="1"/>
          <p:nvPr/>
        </p:nvSpPr>
        <p:spPr>
          <a:xfrm>
            <a:off x="990600" y="4000500"/>
            <a:ext cx="6846093" cy="266700"/>
          </a:xfrm>
          <a:prstGeom prst="rect">
            <a:avLst/>
          </a:prstGeom>
          <a:noFill/>
        </p:spPr>
        <p:txBody>
          <a:bodyPr wrap="none" lIns="0" tIns="0" rIns="0" bIns="0" anchor="t">
            <a:spAutoFit/>
          </a:bodyPr>
          <a:lstStyle/>
          <a:p>
            <a:pPr algn="l"/>
            <a:r>
              <a:rPr sz="1800" b="0" i="0" u="none">
                <a:solidFill>
                  <a:srgbClr val="334155"/>
                </a:solidFill>
                <a:latin typeface="Roboto"/>
              </a:rPr>
              <a:t>Kỹ thuật làm rối mã (Obfuscation) qua mặt lớp bảo vệ.</a:t>
            </a:r>
          </a:p>
        </p:txBody>
      </p:sp>
      <p:sp>
        <p:nvSpPr>
          <p:cNvPr id="16" name="TextBox 15"/>
          <p:cNvSpPr txBox="1"/>
          <p:nvPr/>
        </p:nvSpPr>
        <p:spPr>
          <a:xfrm>
            <a:off x="990600" y="4495800"/>
            <a:ext cx="4976812" cy="266700"/>
          </a:xfrm>
          <a:prstGeom prst="rect">
            <a:avLst/>
          </a:prstGeom>
          <a:noFill/>
        </p:spPr>
        <p:txBody>
          <a:bodyPr wrap="none" lIns="0" tIns="0" rIns="0" bIns="0" anchor="t">
            <a:spAutoFit/>
          </a:bodyPr>
          <a:lstStyle/>
          <a:p>
            <a:pPr algn="l"/>
            <a:r>
              <a:rPr sz="1800" b="0" i="0" u="none">
                <a:solidFill>
                  <a:srgbClr val="334155"/>
                </a:solidFill>
                <a:latin typeface="Roboto"/>
              </a:rPr>
              <a:t>Thu thập dữ liệu thực tế tốn nhiều năm.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3043237"/>
            <a:ext cx="1714500" cy="1714500"/>
          </a:xfrm>
          <a:prstGeom prst="roundRect">
            <a:avLst>
              <a:gd name="adj" fmla="val 6666"/>
            </a:avLst>
          </a:prstGeom>
          <a:solidFill>
            <a:srgbClr val="F8FAFC"/>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924175" y="3043237"/>
            <a:ext cx="1714500" cy="1714500"/>
          </a:xfrm>
          <a:prstGeom prst="roundRect">
            <a:avLst>
              <a:gd name="adj" fmla="val 6666"/>
            </a:avLst>
          </a:prstGeom>
          <a:solidFill>
            <a:srgbClr val="F8FAFC"/>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238750" y="3043237"/>
            <a:ext cx="1714500" cy="1714500"/>
          </a:xfrm>
          <a:prstGeom prst="roundRect">
            <a:avLst>
              <a:gd name="adj" fmla="val 6666"/>
            </a:avLst>
          </a:prstGeom>
          <a:solidFill>
            <a:srgbClr val="F8FAFC"/>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553325" y="3043237"/>
            <a:ext cx="1714500" cy="1714500"/>
          </a:xfrm>
          <a:prstGeom prst="roundRect">
            <a:avLst>
              <a:gd name="adj" fmla="val 6666"/>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867900" y="3043237"/>
            <a:ext cx="1714500" cy="1714500"/>
          </a:xfrm>
          <a:prstGeom prst="roundRect">
            <a:avLst>
              <a:gd name="adj" fmla="val 6666"/>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11391900" y="338137"/>
            <a:ext cx="342900" cy="304800"/>
          </a:xfrm>
          <a:prstGeom prst="rect">
            <a:avLst/>
          </a:prstGeom>
        </p:spPr>
      </p:pic>
      <p:pic>
        <p:nvPicPr>
          <p:cNvPr id="10" name="Picture 9" descr="image.png"/>
          <p:cNvPicPr>
            <a:picLocks noChangeAspect="1"/>
          </p:cNvPicPr>
          <p:nvPr/>
        </p:nvPicPr>
        <p:blipFill>
          <a:blip r:embed="rId4"/>
          <a:stretch>
            <a:fillRect/>
          </a:stretch>
        </p:blipFill>
        <p:spPr>
          <a:xfrm>
            <a:off x="2524125" y="3786187"/>
            <a:ext cx="200025" cy="228600"/>
          </a:xfrm>
          <a:prstGeom prst="rect">
            <a:avLst/>
          </a:prstGeom>
        </p:spPr>
      </p:pic>
      <p:pic>
        <p:nvPicPr>
          <p:cNvPr id="11" name="Picture 10" descr="image.png"/>
          <p:cNvPicPr>
            <a:picLocks noChangeAspect="1"/>
          </p:cNvPicPr>
          <p:nvPr/>
        </p:nvPicPr>
        <p:blipFill>
          <a:blip r:embed="rId4"/>
          <a:stretch>
            <a:fillRect/>
          </a:stretch>
        </p:blipFill>
        <p:spPr>
          <a:xfrm>
            <a:off x="4838700" y="3786187"/>
            <a:ext cx="200025" cy="228600"/>
          </a:xfrm>
          <a:prstGeom prst="rect">
            <a:avLst/>
          </a:prstGeom>
        </p:spPr>
      </p:pic>
      <p:pic>
        <p:nvPicPr>
          <p:cNvPr id="12" name="Picture 11" descr="image.png"/>
          <p:cNvPicPr>
            <a:picLocks noChangeAspect="1"/>
          </p:cNvPicPr>
          <p:nvPr/>
        </p:nvPicPr>
        <p:blipFill>
          <a:blip r:embed="rId4"/>
          <a:stretch>
            <a:fillRect/>
          </a:stretch>
        </p:blipFill>
        <p:spPr>
          <a:xfrm>
            <a:off x="7153275" y="3786187"/>
            <a:ext cx="200025" cy="228600"/>
          </a:xfrm>
          <a:prstGeom prst="rect">
            <a:avLst/>
          </a:prstGeom>
        </p:spPr>
      </p:pic>
      <p:pic>
        <p:nvPicPr>
          <p:cNvPr id="13" name="Picture 12" descr="image.png"/>
          <p:cNvPicPr>
            <a:picLocks noChangeAspect="1"/>
          </p:cNvPicPr>
          <p:nvPr/>
        </p:nvPicPr>
        <p:blipFill>
          <a:blip r:embed="rId4"/>
          <a:stretch>
            <a:fillRect/>
          </a:stretch>
        </p:blipFill>
        <p:spPr>
          <a:xfrm>
            <a:off x="9467850" y="3786187"/>
            <a:ext cx="200025" cy="228600"/>
          </a:xfrm>
          <a:prstGeom prst="rect">
            <a:avLst/>
          </a:prstGeom>
        </p:spPr>
      </p:pic>
      <p:pic>
        <p:nvPicPr>
          <p:cNvPr id="14" name="Picture 13" descr="image.png"/>
          <p:cNvPicPr>
            <a:picLocks noChangeAspect="1"/>
          </p:cNvPicPr>
          <p:nvPr/>
        </p:nvPicPr>
        <p:blipFill>
          <a:blip r:embed="rId5"/>
          <a:stretch>
            <a:fillRect/>
          </a:stretch>
        </p:blipFill>
        <p:spPr>
          <a:xfrm>
            <a:off x="1323975" y="3424237"/>
            <a:ext cx="285750" cy="381000"/>
          </a:xfrm>
          <a:prstGeom prst="rect">
            <a:avLst/>
          </a:prstGeom>
        </p:spPr>
      </p:pic>
      <p:pic>
        <p:nvPicPr>
          <p:cNvPr id="15" name="Picture 14" descr="image.png"/>
          <p:cNvPicPr>
            <a:picLocks noChangeAspect="1"/>
          </p:cNvPicPr>
          <p:nvPr/>
        </p:nvPicPr>
        <p:blipFill>
          <a:blip r:embed="rId6"/>
          <a:stretch>
            <a:fillRect/>
          </a:stretch>
        </p:blipFill>
        <p:spPr>
          <a:xfrm>
            <a:off x="3543300" y="3424237"/>
            <a:ext cx="476250" cy="381000"/>
          </a:xfrm>
          <a:prstGeom prst="rect">
            <a:avLst/>
          </a:prstGeom>
        </p:spPr>
      </p:pic>
      <p:pic>
        <p:nvPicPr>
          <p:cNvPr id="16" name="Picture 15" descr="image.png"/>
          <p:cNvPicPr>
            <a:picLocks noChangeAspect="1"/>
          </p:cNvPicPr>
          <p:nvPr/>
        </p:nvPicPr>
        <p:blipFill>
          <a:blip r:embed="rId7"/>
          <a:stretch>
            <a:fillRect/>
          </a:stretch>
        </p:blipFill>
        <p:spPr>
          <a:xfrm>
            <a:off x="5857875" y="3424237"/>
            <a:ext cx="476250" cy="381000"/>
          </a:xfrm>
          <a:prstGeom prst="rect">
            <a:avLst/>
          </a:prstGeom>
        </p:spPr>
      </p:pic>
      <p:pic>
        <p:nvPicPr>
          <p:cNvPr id="17" name="Picture 16" descr="image.png"/>
          <p:cNvPicPr>
            <a:picLocks noChangeAspect="1"/>
          </p:cNvPicPr>
          <p:nvPr/>
        </p:nvPicPr>
        <p:blipFill>
          <a:blip r:embed="rId8"/>
          <a:stretch>
            <a:fillRect/>
          </a:stretch>
        </p:blipFill>
        <p:spPr>
          <a:xfrm>
            <a:off x="8172450" y="3424237"/>
            <a:ext cx="476250" cy="381000"/>
          </a:xfrm>
          <a:prstGeom prst="rect">
            <a:avLst/>
          </a:prstGeom>
        </p:spPr>
      </p:pic>
      <p:pic>
        <p:nvPicPr>
          <p:cNvPr id="18" name="Picture 17" descr="image.png"/>
          <p:cNvPicPr>
            <a:picLocks noChangeAspect="1"/>
          </p:cNvPicPr>
          <p:nvPr/>
        </p:nvPicPr>
        <p:blipFill>
          <a:blip r:embed="rId9"/>
          <a:stretch>
            <a:fillRect/>
          </a:stretch>
        </p:blipFill>
        <p:spPr>
          <a:xfrm>
            <a:off x="10534650" y="3424237"/>
            <a:ext cx="381000" cy="381000"/>
          </a:xfrm>
          <a:prstGeom prst="rect">
            <a:avLst/>
          </a:prstGeom>
        </p:spPr>
      </p:pic>
      <p:sp>
        <p:nvSpPr>
          <p:cNvPr id="19" name="TextBox 18"/>
          <p:cNvSpPr txBox="1"/>
          <p:nvPr/>
        </p:nvSpPr>
        <p:spPr>
          <a:xfrm>
            <a:off x="457200" y="304800"/>
            <a:ext cx="5388173" cy="371475"/>
          </a:xfrm>
          <a:prstGeom prst="rect">
            <a:avLst/>
          </a:prstGeom>
          <a:noFill/>
        </p:spPr>
        <p:txBody>
          <a:bodyPr wrap="none" lIns="0" tIns="0" rIns="0" bIns="0" anchor="t">
            <a:spAutoFit/>
          </a:bodyPr>
          <a:lstStyle/>
          <a:p>
            <a:pPr algn="l"/>
            <a:r>
              <a:rPr sz="2400" b="1" i="0" u="none">
                <a:solidFill>
                  <a:srgbClr val="1A293C"/>
                </a:solidFill>
                <a:latin typeface="Montserrat"/>
              </a:rPr>
              <a:t>Quy Trình Xử Lý Tổng Thể</a:t>
            </a:r>
          </a:p>
        </p:txBody>
      </p:sp>
      <p:sp>
        <p:nvSpPr>
          <p:cNvPr id="20" name="TextBox 19"/>
          <p:cNvSpPr txBox="1"/>
          <p:nvPr/>
        </p:nvSpPr>
        <p:spPr>
          <a:xfrm>
            <a:off x="666750" y="3957637"/>
            <a:ext cx="1600200" cy="419100"/>
          </a:xfrm>
          <a:prstGeom prst="rect">
            <a:avLst/>
          </a:prstGeom>
          <a:noFill/>
        </p:spPr>
        <p:txBody>
          <a:bodyPr wrap="square" lIns="0" tIns="0" rIns="0" bIns="0" anchor="t">
            <a:spAutoFit/>
          </a:bodyPr>
          <a:lstStyle/>
          <a:p>
            <a:pPr algn="ctr"/>
            <a:r>
              <a:rPr sz="1350" b="1" i="0" u="none">
                <a:solidFill>
                  <a:srgbClr val="1A293C"/>
                </a:solidFill>
                <a:latin typeface="Montserrat"/>
              </a:rPr>
              <a:t>Malware Binary</a:t>
            </a:r>
          </a:p>
        </p:txBody>
      </p:sp>
      <p:sp>
        <p:nvSpPr>
          <p:cNvPr id="21" name="TextBox 20"/>
          <p:cNvSpPr txBox="1"/>
          <p:nvPr/>
        </p:nvSpPr>
        <p:spPr>
          <a:xfrm>
            <a:off x="2981325" y="3957637"/>
            <a:ext cx="1600200" cy="419100"/>
          </a:xfrm>
          <a:prstGeom prst="rect">
            <a:avLst/>
          </a:prstGeom>
          <a:noFill/>
        </p:spPr>
        <p:txBody>
          <a:bodyPr wrap="square" lIns="0" tIns="0" rIns="0" bIns="0" anchor="t">
            <a:spAutoFit/>
          </a:bodyPr>
          <a:lstStyle/>
          <a:p>
            <a:pPr algn="ctr"/>
            <a:r>
              <a:rPr sz="1350" b="1" i="0" u="none">
                <a:solidFill>
                  <a:srgbClr val="1A293C"/>
                </a:solidFill>
                <a:latin typeface="Montserrat"/>
              </a:rPr>
              <a:t>Trích xuất Opcode</a:t>
            </a:r>
          </a:p>
        </p:txBody>
      </p:sp>
      <p:sp>
        <p:nvSpPr>
          <p:cNvPr id="22" name="TextBox 21"/>
          <p:cNvSpPr txBox="1"/>
          <p:nvPr/>
        </p:nvSpPr>
        <p:spPr>
          <a:xfrm>
            <a:off x="5295900" y="3957637"/>
            <a:ext cx="1600200" cy="419100"/>
          </a:xfrm>
          <a:prstGeom prst="rect">
            <a:avLst/>
          </a:prstGeom>
          <a:noFill/>
        </p:spPr>
        <p:txBody>
          <a:bodyPr wrap="square" lIns="0" tIns="0" rIns="0" bIns="0" anchor="t">
            <a:spAutoFit/>
          </a:bodyPr>
          <a:lstStyle/>
          <a:p>
            <a:pPr algn="ctr"/>
            <a:r>
              <a:rPr sz="1350" b="1" i="0" u="none">
                <a:solidFill>
                  <a:srgbClr val="1A293C"/>
                </a:solidFill>
                <a:latin typeface="Montserrat"/>
              </a:rPr>
              <a:t>Word2Vec (104D)</a:t>
            </a:r>
          </a:p>
        </p:txBody>
      </p:sp>
      <p:sp>
        <p:nvSpPr>
          <p:cNvPr id="23" name="TextBox 22"/>
          <p:cNvSpPr txBox="1"/>
          <p:nvPr/>
        </p:nvSpPr>
        <p:spPr>
          <a:xfrm>
            <a:off x="7585471" y="3957637"/>
            <a:ext cx="1650206" cy="419100"/>
          </a:xfrm>
          <a:prstGeom prst="rect">
            <a:avLst/>
          </a:prstGeom>
          <a:noFill/>
        </p:spPr>
        <p:txBody>
          <a:bodyPr wrap="square" lIns="0" tIns="0" rIns="0" bIns="0" anchor="t">
            <a:spAutoFit/>
          </a:bodyPr>
          <a:lstStyle/>
          <a:p>
            <a:pPr algn="ctr"/>
            <a:r>
              <a:rPr sz="1350" b="1" i="0" u="none">
                <a:solidFill>
                  <a:srgbClr val="FFFFFF"/>
                </a:solidFill>
                <a:latin typeface="Montserrat"/>
              </a:rPr>
              <a:t>Generative Models</a:t>
            </a:r>
          </a:p>
        </p:txBody>
      </p:sp>
      <p:sp>
        <p:nvSpPr>
          <p:cNvPr id="24" name="TextBox 23"/>
          <p:cNvSpPr txBox="1"/>
          <p:nvPr/>
        </p:nvSpPr>
        <p:spPr>
          <a:xfrm>
            <a:off x="9900046" y="3957637"/>
            <a:ext cx="1650206" cy="419100"/>
          </a:xfrm>
          <a:prstGeom prst="rect">
            <a:avLst/>
          </a:prstGeom>
          <a:noFill/>
        </p:spPr>
        <p:txBody>
          <a:bodyPr wrap="square" lIns="0" tIns="0" rIns="0" bIns="0" anchor="t">
            <a:spAutoFit/>
          </a:bodyPr>
          <a:lstStyle/>
          <a:p>
            <a:pPr algn="ctr"/>
            <a:r>
              <a:rPr sz="1350" b="1" i="0" u="none">
                <a:solidFill>
                  <a:srgbClr val="FFFFFF"/>
                </a:solidFill>
                <a:latin typeface="Montserrat"/>
              </a:rPr>
              <a:t>Phân loại cải thiện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323975"/>
            <a:ext cx="5257800" cy="5153025"/>
          </a:xfrm>
          <a:prstGeom prst="roundRect">
            <a:avLst>
              <a:gd name="adj" fmla="val 295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324600" y="1323975"/>
            <a:ext cx="5257800" cy="5153025"/>
          </a:xfrm>
          <a:prstGeom prst="roundRect">
            <a:avLst>
              <a:gd name="adj" fmla="val 2957"/>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1430000" y="338137"/>
            <a:ext cx="304800" cy="304800"/>
          </a:xfrm>
          <a:prstGeom prst="rect">
            <a:avLst/>
          </a:prstGeom>
        </p:spPr>
      </p:pic>
      <p:pic>
        <p:nvPicPr>
          <p:cNvPr id="7" name="Picture 6" descr="image.png"/>
          <p:cNvPicPr>
            <a:picLocks noChangeAspect="1"/>
          </p:cNvPicPr>
          <p:nvPr/>
        </p:nvPicPr>
        <p:blipFill>
          <a:blip r:embed="rId4"/>
          <a:stretch>
            <a:fillRect/>
          </a:stretch>
        </p:blipFill>
        <p:spPr>
          <a:xfrm>
            <a:off x="990600" y="2814637"/>
            <a:ext cx="4495800" cy="457200"/>
          </a:xfrm>
          <a:prstGeom prst="rect">
            <a:avLst/>
          </a:prstGeom>
        </p:spPr>
      </p:pic>
      <p:pic>
        <p:nvPicPr>
          <p:cNvPr id="8" name="Picture 7" descr="image.png"/>
          <p:cNvPicPr>
            <a:picLocks noChangeAspect="1"/>
          </p:cNvPicPr>
          <p:nvPr/>
        </p:nvPicPr>
        <p:blipFill>
          <a:blip r:embed="rId5"/>
          <a:stretch>
            <a:fillRect/>
          </a:stretch>
        </p:blipFill>
        <p:spPr>
          <a:xfrm>
            <a:off x="6705600" y="2814637"/>
            <a:ext cx="4495800" cy="457200"/>
          </a:xfrm>
          <a:prstGeom prst="rect">
            <a:avLst/>
          </a:prstGeom>
        </p:spPr>
      </p:pic>
      <p:sp>
        <p:nvSpPr>
          <p:cNvPr id="9" name="TextBox 8"/>
          <p:cNvSpPr txBox="1"/>
          <p:nvPr/>
        </p:nvSpPr>
        <p:spPr>
          <a:xfrm>
            <a:off x="457200" y="304800"/>
            <a:ext cx="6963370" cy="371475"/>
          </a:xfrm>
          <a:prstGeom prst="rect">
            <a:avLst/>
          </a:prstGeom>
          <a:noFill/>
        </p:spPr>
        <p:txBody>
          <a:bodyPr wrap="none" lIns="0" tIns="0" rIns="0" bIns="0" anchor="t">
            <a:spAutoFit/>
          </a:bodyPr>
          <a:lstStyle/>
          <a:p>
            <a:pPr algn="l"/>
            <a:r>
              <a:rPr sz="2400" b="1" i="0" u="none">
                <a:solidFill>
                  <a:srgbClr val="1A293C"/>
                </a:solidFill>
                <a:latin typeface="Montserrat"/>
              </a:rPr>
              <a:t>Biểu Diễn Dữ Liệu: Opcode &amp; NLP</a:t>
            </a:r>
          </a:p>
        </p:txBody>
      </p:sp>
      <p:sp>
        <p:nvSpPr>
          <p:cNvPr id="10" name="TextBox 9"/>
          <p:cNvSpPr txBox="1"/>
          <p:nvPr/>
        </p:nvSpPr>
        <p:spPr>
          <a:xfrm>
            <a:off x="990600" y="3500437"/>
            <a:ext cx="5900737" cy="323850"/>
          </a:xfrm>
          <a:prstGeom prst="rect">
            <a:avLst/>
          </a:prstGeom>
          <a:noFill/>
        </p:spPr>
        <p:txBody>
          <a:bodyPr wrap="none" lIns="0" tIns="0" rIns="0" bIns="0" anchor="t">
            <a:spAutoFit/>
          </a:bodyPr>
          <a:lstStyle/>
          <a:p>
            <a:pPr algn="l"/>
            <a:r>
              <a:rPr sz="2100" b="1" i="0" u="none">
                <a:solidFill>
                  <a:srgbClr val="1A293C"/>
                </a:solidFill>
                <a:latin typeface="Montserrat"/>
              </a:rPr>
              <a:t>Sử dụng Opcode</a:t>
            </a:r>
          </a:p>
        </p:txBody>
      </p:sp>
      <p:sp>
        <p:nvSpPr>
          <p:cNvPr id="11" name="TextBox 10"/>
          <p:cNvSpPr txBox="1"/>
          <p:nvPr/>
        </p:nvSpPr>
        <p:spPr>
          <a:xfrm>
            <a:off x="990600" y="3976687"/>
            <a:ext cx="4591050" cy="628650"/>
          </a:xfrm>
          <a:prstGeom prst="rect">
            <a:avLst/>
          </a:prstGeom>
          <a:noFill/>
        </p:spPr>
        <p:txBody>
          <a:bodyPr wrap="square" lIns="0" tIns="0" rIns="0" bIns="0" anchor="t">
            <a:spAutoFit/>
          </a:bodyPr>
          <a:lstStyle/>
          <a:p>
            <a:pPr algn="l">
              <a:lnSpc>
                <a:spcPts val="2475"/>
              </a:lnSpc>
            </a:pPr>
            <a:r>
              <a:rPr sz="1650" b="0" i="0" u="none">
                <a:solidFill>
                  <a:srgbClr val="64748B"/>
                </a:solidFill>
                <a:latin typeface="Roboto"/>
              </a:rPr>
              <a:t>Chỉ giữ lại mã lệnh (mov, push, call). Loại bỏ thanh ghi và địa chỉ.</a:t>
            </a:r>
          </a:p>
        </p:txBody>
      </p:sp>
      <p:sp>
        <p:nvSpPr>
          <p:cNvPr id="12" name="TextBox 11"/>
          <p:cNvSpPr txBox="1"/>
          <p:nvPr/>
        </p:nvSpPr>
        <p:spPr>
          <a:xfrm>
            <a:off x="990600" y="4757737"/>
            <a:ext cx="5619750" cy="228600"/>
          </a:xfrm>
          <a:prstGeom prst="rect">
            <a:avLst/>
          </a:prstGeom>
          <a:noFill/>
        </p:spPr>
        <p:txBody>
          <a:bodyPr wrap="none" lIns="0" tIns="0" rIns="0" bIns="0" anchor="t">
            <a:spAutoFit/>
          </a:bodyPr>
          <a:lstStyle/>
          <a:p>
            <a:pPr algn="l"/>
            <a:r>
              <a:rPr sz="1500" b="1" i="0" u="none">
                <a:solidFill>
                  <a:srgbClr val="1A293C"/>
                </a:solidFill>
                <a:latin typeface="Roboto"/>
              </a:rPr>
              <a:t>Giảm đột phá tài nguyên tính toán.</a:t>
            </a:r>
          </a:p>
        </p:txBody>
      </p:sp>
      <p:sp>
        <p:nvSpPr>
          <p:cNvPr id="13" name="TextBox 12"/>
          <p:cNvSpPr txBox="1"/>
          <p:nvPr/>
        </p:nvSpPr>
        <p:spPr>
          <a:xfrm>
            <a:off x="6705600" y="3500437"/>
            <a:ext cx="5486400" cy="323850"/>
          </a:xfrm>
          <a:prstGeom prst="rect">
            <a:avLst/>
          </a:prstGeom>
          <a:noFill/>
        </p:spPr>
        <p:txBody>
          <a:bodyPr wrap="none" lIns="0" tIns="0" rIns="0" bIns="0" anchor="t">
            <a:spAutoFit/>
          </a:bodyPr>
          <a:lstStyle/>
          <a:p>
            <a:pPr algn="l"/>
            <a:r>
              <a:rPr sz="2100" b="1" i="0" u="none">
                <a:solidFill>
                  <a:srgbClr val="FFFFFF"/>
                </a:solidFill>
                <a:latin typeface="Montserrat"/>
              </a:rPr>
              <a:t>Word2Vec Embedding</a:t>
            </a:r>
          </a:p>
        </p:txBody>
      </p:sp>
      <p:sp>
        <p:nvSpPr>
          <p:cNvPr id="14" name="TextBox 13"/>
          <p:cNvSpPr txBox="1"/>
          <p:nvPr/>
        </p:nvSpPr>
        <p:spPr>
          <a:xfrm>
            <a:off x="6705600" y="3976687"/>
            <a:ext cx="4591050" cy="628650"/>
          </a:xfrm>
          <a:prstGeom prst="rect">
            <a:avLst/>
          </a:prstGeom>
          <a:noFill/>
        </p:spPr>
        <p:txBody>
          <a:bodyPr wrap="square" lIns="0" tIns="0" rIns="0" bIns="0" anchor="t">
            <a:spAutoFit/>
          </a:bodyPr>
          <a:lstStyle/>
          <a:p>
            <a:pPr algn="l">
              <a:lnSpc>
                <a:spcPts val="2475"/>
              </a:lnSpc>
            </a:pPr>
            <a:r>
              <a:rPr sz="1650" b="0" i="0" u="none">
                <a:solidFill>
                  <a:srgbClr val="CBD5E1"/>
                </a:solidFill>
                <a:latin typeface="Roboto"/>
              </a:rPr>
              <a:t>Chuyển chuỗi Opcode thành vector số dựa trên ngữ cảnh.</a:t>
            </a:r>
          </a:p>
        </p:txBody>
      </p:sp>
      <p:sp>
        <p:nvSpPr>
          <p:cNvPr id="15" name="TextBox 14"/>
          <p:cNvSpPr txBox="1"/>
          <p:nvPr/>
        </p:nvSpPr>
        <p:spPr>
          <a:xfrm>
            <a:off x="6705600" y="4757737"/>
            <a:ext cx="5486400" cy="228600"/>
          </a:xfrm>
          <a:prstGeom prst="rect">
            <a:avLst/>
          </a:prstGeom>
          <a:noFill/>
        </p:spPr>
        <p:txBody>
          <a:bodyPr wrap="none" lIns="0" tIns="0" rIns="0" bIns="0" anchor="t">
            <a:spAutoFit/>
          </a:bodyPr>
          <a:lstStyle/>
          <a:p>
            <a:pPr algn="l"/>
            <a:r>
              <a:rPr sz="1500" b="1" i="0" u="none">
                <a:solidFill>
                  <a:srgbClr val="F8FAFC"/>
                </a:solidFill>
                <a:latin typeface="Roboto"/>
              </a:rPr>
              <a:t>Đại diện mỗi malware bằng vector 104 chiều.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905125"/>
            <a:ext cx="3454449" cy="1990725"/>
          </a:xfrm>
          <a:prstGeom prst="roundRect">
            <a:avLst>
              <a:gd name="adj" fmla="val 76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368849" y="2905125"/>
            <a:ext cx="3454449" cy="1990725"/>
          </a:xfrm>
          <a:prstGeom prst="roundRect">
            <a:avLst>
              <a:gd name="adj" fmla="val 76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128099" y="2905125"/>
            <a:ext cx="3454449" cy="1990725"/>
          </a:xfrm>
          <a:prstGeom prst="roundRect">
            <a:avLst>
              <a:gd name="adj" fmla="val 76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4838700"/>
            <a:ext cx="3454449" cy="571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68849" y="4838700"/>
            <a:ext cx="3454449" cy="5715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28099" y="4838700"/>
            <a:ext cx="3454449"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3"/>
          <a:stretch>
            <a:fillRect/>
          </a:stretch>
        </p:blipFill>
        <p:spPr>
          <a:xfrm>
            <a:off x="11353800" y="338137"/>
            <a:ext cx="381000" cy="304800"/>
          </a:xfrm>
          <a:prstGeom prst="rect">
            <a:avLst/>
          </a:prstGeom>
        </p:spPr>
      </p:pic>
      <p:sp>
        <p:nvSpPr>
          <p:cNvPr id="11" name="TextBox 10"/>
          <p:cNvSpPr txBox="1"/>
          <p:nvPr/>
        </p:nvSpPr>
        <p:spPr>
          <a:xfrm>
            <a:off x="457200" y="304800"/>
            <a:ext cx="5613201" cy="371475"/>
          </a:xfrm>
          <a:prstGeom prst="rect">
            <a:avLst/>
          </a:prstGeom>
          <a:noFill/>
        </p:spPr>
        <p:txBody>
          <a:bodyPr wrap="none" lIns="0" tIns="0" rIns="0" bIns="0" anchor="t">
            <a:spAutoFit/>
          </a:bodyPr>
          <a:lstStyle/>
          <a:p>
            <a:pPr algn="l"/>
            <a:r>
              <a:rPr sz="2400" b="1" i="0" u="none">
                <a:solidFill>
                  <a:srgbClr val="1A293C"/>
                </a:solidFill>
                <a:latin typeface="Montserrat"/>
              </a:rPr>
              <a:t>Các Mô Hình Generative AI</a:t>
            </a:r>
          </a:p>
        </p:txBody>
      </p:sp>
      <p:sp>
        <p:nvSpPr>
          <p:cNvPr id="12" name="TextBox 11"/>
          <p:cNvSpPr txBox="1"/>
          <p:nvPr/>
        </p:nvSpPr>
        <p:spPr>
          <a:xfrm>
            <a:off x="1806684" y="3286125"/>
            <a:ext cx="1060132" cy="371475"/>
          </a:xfrm>
          <a:prstGeom prst="rect">
            <a:avLst/>
          </a:prstGeom>
          <a:noFill/>
        </p:spPr>
        <p:txBody>
          <a:bodyPr wrap="none" lIns="0" tIns="0" rIns="0" bIns="0" anchor="t">
            <a:spAutoFit/>
          </a:bodyPr>
          <a:lstStyle/>
          <a:p>
            <a:pPr algn="ctr"/>
            <a:r>
              <a:rPr sz="2400" b="1" i="0" u="none">
                <a:solidFill>
                  <a:srgbClr val="1A293C"/>
                </a:solidFill>
                <a:latin typeface="Montserrat"/>
              </a:rPr>
              <a:t>GAN</a:t>
            </a:r>
          </a:p>
        </p:txBody>
      </p:sp>
      <p:sp>
        <p:nvSpPr>
          <p:cNvPr id="13" name="TextBox 12"/>
          <p:cNvSpPr txBox="1"/>
          <p:nvPr/>
        </p:nvSpPr>
        <p:spPr>
          <a:xfrm>
            <a:off x="558793" y="3886200"/>
            <a:ext cx="3556062" cy="571500"/>
          </a:xfrm>
          <a:prstGeom prst="rect">
            <a:avLst/>
          </a:prstGeom>
          <a:noFill/>
        </p:spPr>
        <p:txBody>
          <a:bodyPr wrap="square" lIns="0" tIns="0" rIns="0" bIns="0" anchor="t">
            <a:spAutoFit/>
          </a:bodyPr>
          <a:lstStyle/>
          <a:p>
            <a:pPr algn="ctr">
              <a:lnSpc>
                <a:spcPts val="2250"/>
              </a:lnSpc>
            </a:pPr>
            <a:r>
              <a:rPr sz="1500" b="0" i="0" u="none">
                <a:solidFill>
                  <a:srgbClr val="64748B"/>
                </a:solidFill>
                <a:latin typeface="Roboto"/>
              </a:rPr>
              <a:t>Cơ chế đối đầu trực tiếp giữa Generator và Discriminator.</a:t>
            </a:r>
          </a:p>
        </p:txBody>
      </p:sp>
      <p:sp>
        <p:nvSpPr>
          <p:cNvPr id="14" name="TextBox 13"/>
          <p:cNvSpPr txBox="1"/>
          <p:nvPr/>
        </p:nvSpPr>
        <p:spPr>
          <a:xfrm>
            <a:off x="5020865" y="3286125"/>
            <a:ext cx="2150268" cy="371475"/>
          </a:xfrm>
          <a:prstGeom prst="rect">
            <a:avLst/>
          </a:prstGeom>
          <a:noFill/>
        </p:spPr>
        <p:txBody>
          <a:bodyPr wrap="none" lIns="0" tIns="0" rIns="0" bIns="0" anchor="t">
            <a:spAutoFit/>
          </a:bodyPr>
          <a:lstStyle/>
          <a:p>
            <a:pPr algn="ctr"/>
            <a:r>
              <a:rPr sz="2400" b="1" i="0" u="none">
                <a:solidFill>
                  <a:srgbClr val="1A293C"/>
                </a:solidFill>
                <a:latin typeface="Montserrat"/>
              </a:rPr>
              <a:t>WGAN-GP</a:t>
            </a:r>
          </a:p>
        </p:txBody>
      </p:sp>
      <p:sp>
        <p:nvSpPr>
          <p:cNvPr id="15" name="TextBox 14"/>
          <p:cNvSpPr txBox="1"/>
          <p:nvPr/>
        </p:nvSpPr>
        <p:spPr>
          <a:xfrm>
            <a:off x="4318043" y="3886200"/>
            <a:ext cx="3556062" cy="571500"/>
          </a:xfrm>
          <a:prstGeom prst="rect">
            <a:avLst/>
          </a:prstGeom>
          <a:noFill/>
        </p:spPr>
        <p:txBody>
          <a:bodyPr wrap="square" lIns="0" tIns="0" rIns="0" bIns="0" anchor="t">
            <a:spAutoFit/>
          </a:bodyPr>
          <a:lstStyle/>
          <a:p>
            <a:pPr algn="ctr">
              <a:lnSpc>
                <a:spcPts val="2250"/>
              </a:lnSpc>
            </a:pPr>
            <a:r>
              <a:rPr sz="1500" b="0" i="0" u="none">
                <a:solidFill>
                  <a:srgbClr val="64748B"/>
                </a:solidFill>
                <a:latin typeface="Roboto"/>
              </a:rPr>
              <a:t>Sử dụng Gradient Penalty ổn định quá trình huấn luyện.</a:t>
            </a:r>
          </a:p>
        </p:txBody>
      </p:sp>
      <p:sp>
        <p:nvSpPr>
          <p:cNvPr id="16" name="TextBox 15"/>
          <p:cNvSpPr txBox="1"/>
          <p:nvPr/>
        </p:nvSpPr>
        <p:spPr>
          <a:xfrm>
            <a:off x="8905130" y="3286125"/>
            <a:ext cx="1900237" cy="371475"/>
          </a:xfrm>
          <a:prstGeom prst="rect">
            <a:avLst/>
          </a:prstGeom>
          <a:noFill/>
        </p:spPr>
        <p:txBody>
          <a:bodyPr wrap="none" lIns="0" tIns="0" rIns="0" bIns="0" anchor="t">
            <a:spAutoFit/>
          </a:bodyPr>
          <a:lstStyle/>
          <a:p>
            <a:pPr algn="ctr"/>
            <a:r>
              <a:rPr sz="2400" b="1" i="0" u="none">
                <a:solidFill>
                  <a:srgbClr val="D32F2F"/>
                </a:solidFill>
                <a:latin typeface="Montserrat"/>
              </a:rPr>
              <a:t>Diffusion</a:t>
            </a:r>
          </a:p>
        </p:txBody>
      </p:sp>
      <p:sp>
        <p:nvSpPr>
          <p:cNvPr id="17" name="TextBox 16"/>
          <p:cNvSpPr txBox="1"/>
          <p:nvPr/>
        </p:nvSpPr>
        <p:spPr>
          <a:xfrm>
            <a:off x="8077293" y="3886200"/>
            <a:ext cx="3556062" cy="571500"/>
          </a:xfrm>
          <a:prstGeom prst="rect">
            <a:avLst/>
          </a:prstGeom>
          <a:noFill/>
        </p:spPr>
        <p:txBody>
          <a:bodyPr wrap="square" lIns="0" tIns="0" rIns="0" bIns="0" anchor="t">
            <a:spAutoFit/>
          </a:bodyPr>
          <a:lstStyle/>
          <a:p>
            <a:pPr algn="ctr">
              <a:lnSpc>
                <a:spcPts val="2250"/>
              </a:lnSpc>
            </a:pPr>
            <a:r>
              <a:rPr sz="1500" b="0" i="0" u="none">
                <a:solidFill>
                  <a:srgbClr val="64748B"/>
                </a:solidFill>
                <a:latin typeface="Roboto"/>
              </a:rPr>
              <a:t>Quá trình khuếch tán và khử nhiễu lặp lại qua mạng U-Net.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1430000" y="338137"/>
            <a:ext cx="304800" cy="304800"/>
          </a:xfrm>
          <a:prstGeom prst="rect">
            <a:avLst/>
          </a:prstGeom>
        </p:spPr>
      </p:pic>
      <p:pic>
        <p:nvPicPr>
          <p:cNvPr id="5" name="Picture 4" descr="image.png"/>
          <p:cNvPicPr>
            <a:picLocks noChangeAspect="1"/>
          </p:cNvPicPr>
          <p:nvPr/>
        </p:nvPicPr>
        <p:blipFill>
          <a:blip r:embed="rId4"/>
          <a:stretch>
            <a:fillRect/>
          </a:stretch>
        </p:blipFill>
        <p:spPr>
          <a:xfrm>
            <a:off x="609600" y="2947987"/>
            <a:ext cx="3333750" cy="1905000"/>
          </a:xfrm>
          <a:prstGeom prst="rect">
            <a:avLst/>
          </a:prstGeom>
        </p:spPr>
      </p:pic>
      <p:sp>
        <p:nvSpPr>
          <p:cNvPr id="6" name="TextBox 5"/>
          <p:cNvSpPr txBox="1"/>
          <p:nvPr/>
        </p:nvSpPr>
        <p:spPr>
          <a:xfrm>
            <a:off x="457200" y="304800"/>
            <a:ext cx="7688460" cy="371475"/>
          </a:xfrm>
          <a:prstGeom prst="rect">
            <a:avLst/>
          </a:prstGeom>
          <a:noFill/>
        </p:spPr>
        <p:txBody>
          <a:bodyPr wrap="none" lIns="0" tIns="0" rIns="0" bIns="0" anchor="t">
            <a:spAutoFit/>
          </a:bodyPr>
          <a:lstStyle/>
          <a:p>
            <a:pPr algn="l"/>
            <a:r>
              <a:rPr sz="2400" b="1" i="0" u="none">
                <a:solidFill>
                  <a:srgbClr val="1A293C"/>
                </a:solidFill>
                <a:latin typeface="Montserrat"/>
              </a:rPr>
              <a:t>Điều Chỉnh Kiến Trúc Cho Dữ Liệu 1D</a:t>
            </a:r>
          </a:p>
        </p:txBody>
      </p:sp>
      <p:sp>
        <p:nvSpPr>
          <p:cNvPr id="7" name="TextBox 6"/>
          <p:cNvSpPr txBox="1"/>
          <p:nvPr/>
        </p:nvSpPr>
        <p:spPr>
          <a:xfrm>
            <a:off x="4400550" y="2590800"/>
            <a:ext cx="7791450" cy="276225"/>
          </a:xfrm>
          <a:prstGeom prst="rect">
            <a:avLst/>
          </a:prstGeom>
          <a:noFill/>
        </p:spPr>
        <p:txBody>
          <a:bodyPr wrap="none" lIns="0" tIns="0" rIns="0" bIns="0" anchor="t">
            <a:spAutoFit/>
          </a:bodyPr>
          <a:lstStyle/>
          <a:p>
            <a:pPr algn="l"/>
            <a:r>
              <a:rPr sz="1800" b="1" i="0" u="none">
                <a:solidFill>
                  <a:srgbClr val="D32F2F"/>
                </a:solidFill>
                <a:latin typeface="Montserrat"/>
              </a:rPr>
              <a:t>Tương thích chiều dữ liệu</a:t>
            </a:r>
          </a:p>
        </p:txBody>
      </p:sp>
      <p:sp>
        <p:nvSpPr>
          <p:cNvPr id="8" name="TextBox 7"/>
          <p:cNvSpPr txBox="1"/>
          <p:nvPr/>
        </p:nvSpPr>
        <p:spPr>
          <a:xfrm>
            <a:off x="4400550" y="2943225"/>
            <a:ext cx="7791450" cy="238125"/>
          </a:xfrm>
          <a:prstGeom prst="rect">
            <a:avLst/>
          </a:prstGeom>
          <a:noFill/>
        </p:spPr>
        <p:txBody>
          <a:bodyPr wrap="none" lIns="0" tIns="0" rIns="0" bIns="0" anchor="t">
            <a:spAutoFit/>
          </a:bodyPr>
          <a:lstStyle/>
          <a:p>
            <a:pPr algn="l"/>
            <a:r>
              <a:rPr sz="1650" b="0" i="0" u="none">
                <a:solidFill>
                  <a:srgbClr val="64748B"/>
                </a:solidFill>
                <a:latin typeface="Roboto"/>
              </a:rPr>
              <a:t>Thay thế Conv2D bằng Conv1D cho chuỗi embedding.</a:t>
            </a:r>
          </a:p>
        </p:txBody>
      </p:sp>
      <p:sp>
        <p:nvSpPr>
          <p:cNvPr id="9" name="TextBox 8"/>
          <p:cNvSpPr txBox="1"/>
          <p:nvPr/>
        </p:nvSpPr>
        <p:spPr>
          <a:xfrm>
            <a:off x="4400550" y="3486150"/>
            <a:ext cx="7791450" cy="276225"/>
          </a:xfrm>
          <a:prstGeom prst="rect">
            <a:avLst/>
          </a:prstGeom>
          <a:noFill/>
        </p:spPr>
        <p:txBody>
          <a:bodyPr wrap="none" lIns="0" tIns="0" rIns="0" bIns="0" anchor="t">
            <a:spAutoFit/>
          </a:bodyPr>
          <a:lstStyle/>
          <a:p>
            <a:pPr algn="l"/>
            <a:r>
              <a:rPr sz="1800" b="1" i="0" u="none">
                <a:solidFill>
                  <a:srgbClr val="D32F2F"/>
                </a:solidFill>
                <a:latin typeface="Montserrat"/>
              </a:rPr>
              <a:t>Chuẩn hóa đối xứng</a:t>
            </a:r>
          </a:p>
        </p:txBody>
      </p:sp>
      <p:sp>
        <p:nvSpPr>
          <p:cNvPr id="10" name="TextBox 9"/>
          <p:cNvSpPr txBox="1"/>
          <p:nvPr/>
        </p:nvSpPr>
        <p:spPr>
          <a:xfrm>
            <a:off x="4400550" y="3838575"/>
            <a:ext cx="7791450" cy="238125"/>
          </a:xfrm>
          <a:prstGeom prst="rect">
            <a:avLst/>
          </a:prstGeom>
          <a:noFill/>
        </p:spPr>
        <p:txBody>
          <a:bodyPr wrap="none" lIns="0" tIns="0" rIns="0" bIns="0" anchor="t">
            <a:spAutoFit/>
          </a:bodyPr>
          <a:lstStyle/>
          <a:p>
            <a:pPr algn="l"/>
            <a:r>
              <a:rPr sz="1650" b="0" i="0" u="none">
                <a:solidFill>
                  <a:srgbClr val="64748B"/>
                </a:solidFill>
                <a:latin typeface="Roboto"/>
              </a:rPr>
              <a:t>Scale dữ liệu về khoảng [-1, 1] phù hợp hàm kích hoạt Tanh.</a:t>
            </a:r>
          </a:p>
        </p:txBody>
      </p:sp>
      <p:sp>
        <p:nvSpPr>
          <p:cNvPr id="11" name="TextBox 10"/>
          <p:cNvSpPr txBox="1"/>
          <p:nvPr/>
        </p:nvSpPr>
        <p:spPr>
          <a:xfrm>
            <a:off x="4400550" y="4381500"/>
            <a:ext cx="7791450" cy="276225"/>
          </a:xfrm>
          <a:prstGeom prst="rect">
            <a:avLst/>
          </a:prstGeom>
          <a:noFill/>
        </p:spPr>
        <p:txBody>
          <a:bodyPr wrap="none" lIns="0" tIns="0" rIns="0" bIns="0" anchor="t">
            <a:spAutoFit/>
          </a:bodyPr>
          <a:lstStyle/>
          <a:p>
            <a:pPr algn="l"/>
            <a:r>
              <a:rPr sz="1800" b="1" i="0" u="none">
                <a:solidFill>
                  <a:srgbClr val="D32F2F"/>
                </a:solidFill>
                <a:latin typeface="Montserrat"/>
              </a:rPr>
              <a:t>Tinh chỉnh chu kỳ Diffusion</a:t>
            </a:r>
          </a:p>
        </p:txBody>
      </p:sp>
      <p:sp>
        <p:nvSpPr>
          <p:cNvPr id="12" name="TextBox 11"/>
          <p:cNvSpPr txBox="1"/>
          <p:nvPr/>
        </p:nvSpPr>
        <p:spPr>
          <a:xfrm>
            <a:off x="4400550" y="4733925"/>
            <a:ext cx="7277100" cy="476250"/>
          </a:xfrm>
          <a:prstGeom prst="rect">
            <a:avLst/>
          </a:prstGeom>
          <a:noFill/>
        </p:spPr>
        <p:txBody>
          <a:bodyPr wrap="square" lIns="0" tIns="0" rIns="0" bIns="0" anchor="t">
            <a:spAutoFit/>
          </a:bodyPr>
          <a:lstStyle/>
          <a:p>
            <a:pPr algn="l"/>
            <a:r>
              <a:rPr sz="1650" b="0" i="0" u="none">
                <a:solidFill>
                  <a:srgbClr val="64748B"/>
                </a:solidFill>
                <a:latin typeface="Roboto"/>
              </a:rPr>
              <a:t>Chỉ thêm nhiễu đến T/2 (giữ 96% Gaussian distribution). Giúp mô hình tái tạo chính xác hơn.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595562"/>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8400" y="2595562"/>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052887"/>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48400" y="4052887"/>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11430000" y="338137"/>
            <a:ext cx="304800" cy="304800"/>
          </a:xfrm>
          <a:prstGeom prst="rect">
            <a:avLst/>
          </a:prstGeom>
        </p:spPr>
      </p:pic>
      <p:pic>
        <p:nvPicPr>
          <p:cNvPr id="9" name="Picture 8" descr="image.png"/>
          <p:cNvPicPr>
            <a:picLocks noChangeAspect="1"/>
          </p:cNvPicPr>
          <p:nvPr/>
        </p:nvPicPr>
        <p:blipFill>
          <a:blip r:embed="rId4"/>
          <a:stretch>
            <a:fillRect/>
          </a:stretch>
        </p:blipFill>
        <p:spPr>
          <a:xfrm>
            <a:off x="914400" y="2900362"/>
            <a:ext cx="533400" cy="542925"/>
          </a:xfrm>
          <a:prstGeom prst="rect">
            <a:avLst/>
          </a:prstGeom>
        </p:spPr>
      </p:pic>
      <p:pic>
        <p:nvPicPr>
          <p:cNvPr id="10" name="Picture 9" descr="image.png"/>
          <p:cNvPicPr>
            <a:picLocks noChangeAspect="1"/>
          </p:cNvPicPr>
          <p:nvPr/>
        </p:nvPicPr>
        <p:blipFill>
          <a:blip r:embed="rId5"/>
          <a:stretch>
            <a:fillRect/>
          </a:stretch>
        </p:blipFill>
        <p:spPr>
          <a:xfrm>
            <a:off x="6553200" y="2900362"/>
            <a:ext cx="561975" cy="542925"/>
          </a:xfrm>
          <a:prstGeom prst="rect">
            <a:avLst/>
          </a:prstGeom>
        </p:spPr>
      </p:pic>
      <p:pic>
        <p:nvPicPr>
          <p:cNvPr id="11" name="Picture 10" descr="image.png"/>
          <p:cNvPicPr>
            <a:picLocks noChangeAspect="1"/>
          </p:cNvPicPr>
          <p:nvPr/>
        </p:nvPicPr>
        <p:blipFill>
          <a:blip r:embed="rId6"/>
          <a:stretch>
            <a:fillRect/>
          </a:stretch>
        </p:blipFill>
        <p:spPr>
          <a:xfrm>
            <a:off x="914400" y="4357687"/>
            <a:ext cx="561975" cy="542925"/>
          </a:xfrm>
          <a:prstGeom prst="rect">
            <a:avLst/>
          </a:prstGeom>
        </p:spPr>
      </p:pic>
      <p:pic>
        <p:nvPicPr>
          <p:cNvPr id="12" name="Picture 11" descr="image.png"/>
          <p:cNvPicPr>
            <a:picLocks noChangeAspect="1"/>
          </p:cNvPicPr>
          <p:nvPr/>
        </p:nvPicPr>
        <p:blipFill>
          <a:blip r:embed="rId7"/>
          <a:stretch>
            <a:fillRect/>
          </a:stretch>
        </p:blipFill>
        <p:spPr>
          <a:xfrm>
            <a:off x="6553200" y="4357687"/>
            <a:ext cx="561975" cy="542925"/>
          </a:xfrm>
          <a:prstGeom prst="rect">
            <a:avLst/>
          </a:prstGeom>
        </p:spPr>
      </p:pic>
      <p:pic>
        <p:nvPicPr>
          <p:cNvPr id="13" name="Picture 12" descr="image.png"/>
          <p:cNvPicPr>
            <a:picLocks noChangeAspect="1"/>
          </p:cNvPicPr>
          <p:nvPr/>
        </p:nvPicPr>
        <p:blipFill>
          <a:blip r:embed="rId8"/>
          <a:stretch>
            <a:fillRect/>
          </a:stretch>
        </p:blipFill>
        <p:spPr>
          <a:xfrm>
            <a:off x="1066800" y="3052762"/>
            <a:ext cx="228600" cy="228600"/>
          </a:xfrm>
          <a:prstGeom prst="rect">
            <a:avLst/>
          </a:prstGeom>
        </p:spPr>
      </p:pic>
      <p:pic>
        <p:nvPicPr>
          <p:cNvPr id="14" name="Picture 13" descr="image.png"/>
          <p:cNvPicPr>
            <a:picLocks noChangeAspect="1"/>
          </p:cNvPicPr>
          <p:nvPr/>
        </p:nvPicPr>
        <p:blipFill>
          <a:blip r:embed="rId9"/>
          <a:stretch>
            <a:fillRect/>
          </a:stretch>
        </p:blipFill>
        <p:spPr>
          <a:xfrm>
            <a:off x="6705600" y="3052762"/>
            <a:ext cx="257175" cy="228600"/>
          </a:xfrm>
          <a:prstGeom prst="rect">
            <a:avLst/>
          </a:prstGeom>
        </p:spPr>
      </p:pic>
      <p:pic>
        <p:nvPicPr>
          <p:cNvPr id="15" name="Picture 14" descr="image.png"/>
          <p:cNvPicPr>
            <a:picLocks noChangeAspect="1"/>
          </p:cNvPicPr>
          <p:nvPr/>
        </p:nvPicPr>
        <p:blipFill>
          <a:blip r:embed="rId10"/>
          <a:stretch>
            <a:fillRect/>
          </a:stretch>
        </p:blipFill>
        <p:spPr>
          <a:xfrm>
            <a:off x="1066800" y="4510087"/>
            <a:ext cx="257175" cy="228600"/>
          </a:xfrm>
          <a:prstGeom prst="rect">
            <a:avLst/>
          </a:prstGeom>
        </p:spPr>
      </p:pic>
      <p:pic>
        <p:nvPicPr>
          <p:cNvPr id="16" name="Picture 15" descr="image.png"/>
          <p:cNvPicPr>
            <a:picLocks noChangeAspect="1"/>
          </p:cNvPicPr>
          <p:nvPr/>
        </p:nvPicPr>
        <p:blipFill>
          <a:blip r:embed="rId11"/>
          <a:stretch>
            <a:fillRect/>
          </a:stretch>
        </p:blipFill>
        <p:spPr>
          <a:xfrm>
            <a:off x="6705600" y="4510087"/>
            <a:ext cx="257175" cy="228600"/>
          </a:xfrm>
          <a:prstGeom prst="rect">
            <a:avLst/>
          </a:prstGeom>
        </p:spPr>
      </p:pic>
      <p:sp>
        <p:nvSpPr>
          <p:cNvPr id="17" name="TextBox 16"/>
          <p:cNvSpPr txBox="1"/>
          <p:nvPr/>
        </p:nvSpPr>
        <p:spPr>
          <a:xfrm>
            <a:off x="457200" y="304800"/>
            <a:ext cx="6888360" cy="371475"/>
          </a:xfrm>
          <a:prstGeom prst="rect">
            <a:avLst/>
          </a:prstGeom>
          <a:noFill/>
        </p:spPr>
        <p:txBody>
          <a:bodyPr wrap="none" lIns="0" tIns="0" rIns="0" bIns="0" anchor="t">
            <a:spAutoFit/>
          </a:bodyPr>
          <a:lstStyle/>
          <a:p>
            <a:pPr algn="l"/>
            <a:r>
              <a:rPr sz="2400" b="1" i="0" u="none">
                <a:solidFill>
                  <a:srgbClr val="1A293C"/>
                </a:solidFill>
                <a:latin typeface="Montserrat"/>
              </a:rPr>
              <a:t>Phương Pháp Đánh Giá Đa Chiều</a:t>
            </a:r>
          </a:p>
        </p:txBody>
      </p:sp>
      <p:sp>
        <p:nvSpPr>
          <p:cNvPr id="18" name="TextBox 17"/>
          <p:cNvSpPr txBox="1"/>
          <p:nvPr/>
        </p:nvSpPr>
        <p:spPr>
          <a:xfrm>
            <a:off x="1676400" y="2919412"/>
            <a:ext cx="4463057" cy="228600"/>
          </a:xfrm>
          <a:prstGeom prst="rect">
            <a:avLst/>
          </a:prstGeom>
          <a:noFill/>
        </p:spPr>
        <p:txBody>
          <a:bodyPr wrap="none" lIns="0" tIns="0" rIns="0" bIns="0" anchor="t">
            <a:spAutoFit/>
          </a:bodyPr>
          <a:lstStyle/>
          <a:p>
            <a:pPr algn="l"/>
            <a:r>
              <a:rPr sz="1500" b="1" i="0" u="none">
                <a:solidFill>
                  <a:srgbClr val="1A293C"/>
                </a:solidFill>
                <a:latin typeface="Montserrat"/>
              </a:rPr>
              <a:t>Binary Classification</a:t>
            </a:r>
          </a:p>
        </p:txBody>
      </p:sp>
      <p:sp>
        <p:nvSpPr>
          <p:cNvPr id="19" name="TextBox 18"/>
          <p:cNvSpPr txBox="1"/>
          <p:nvPr/>
        </p:nvSpPr>
        <p:spPr>
          <a:xfrm>
            <a:off x="1676400" y="3224212"/>
            <a:ext cx="4250531" cy="200025"/>
          </a:xfrm>
          <a:prstGeom prst="rect">
            <a:avLst/>
          </a:prstGeom>
          <a:noFill/>
        </p:spPr>
        <p:txBody>
          <a:bodyPr wrap="none" lIns="0" tIns="0" rIns="0" bIns="0" anchor="t">
            <a:spAutoFit/>
          </a:bodyPr>
          <a:lstStyle/>
          <a:p>
            <a:pPr algn="l"/>
            <a:r>
              <a:rPr sz="1350" b="0" i="0" u="none">
                <a:solidFill>
                  <a:srgbClr val="64748B"/>
                </a:solidFill>
                <a:latin typeface="Roboto"/>
              </a:rPr>
              <a:t>Kiểm tra khả năng phân biệt dữ liệu thật - giả.</a:t>
            </a:r>
          </a:p>
        </p:txBody>
      </p:sp>
      <p:sp>
        <p:nvSpPr>
          <p:cNvPr id="20" name="TextBox 19"/>
          <p:cNvSpPr txBox="1"/>
          <p:nvPr/>
        </p:nvSpPr>
        <p:spPr>
          <a:xfrm>
            <a:off x="7343775" y="2919412"/>
            <a:ext cx="4675584" cy="228600"/>
          </a:xfrm>
          <a:prstGeom prst="rect">
            <a:avLst/>
          </a:prstGeom>
          <a:noFill/>
        </p:spPr>
        <p:txBody>
          <a:bodyPr wrap="none" lIns="0" tIns="0" rIns="0" bIns="0" anchor="t">
            <a:spAutoFit/>
          </a:bodyPr>
          <a:lstStyle/>
          <a:p>
            <a:pPr algn="l"/>
            <a:r>
              <a:rPr sz="1500" b="1" i="0" u="none">
                <a:solidFill>
                  <a:srgbClr val="1A293C"/>
                </a:solidFill>
                <a:latin typeface="Montserrat"/>
              </a:rPr>
              <a:t>t-SNE Visualization</a:t>
            </a:r>
          </a:p>
        </p:txBody>
      </p:sp>
      <p:sp>
        <p:nvSpPr>
          <p:cNvPr id="21" name="TextBox 20"/>
          <p:cNvSpPr txBox="1"/>
          <p:nvPr/>
        </p:nvSpPr>
        <p:spPr>
          <a:xfrm>
            <a:off x="7343775" y="3224212"/>
            <a:ext cx="4452937" cy="200025"/>
          </a:xfrm>
          <a:prstGeom prst="rect">
            <a:avLst/>
          </a:prstGeom>
          <a:noFill/>
        </p:spPr>
        <p:txBody>
          <a:bodyPr wrap="none" lIns="0" tIns="0" rIns="0" bIns="0" anchor="t">
            <a:spAutoFit/>
          </a:bodyPr>
          <a:lstStyle/>
          <a:p>
            <a:pPr algn="l"/>
            <a:r>
              <a:rPr sz="1350" b="0" i="0" u="none">
                <a:solidFill>
                  <a:srgbClr val="64748B"/>
                </a:solidFill>
                <a:latin typeface="Roboto"/>
              </a:rPr>
              <a:t>Trực quan hóa phân bố không gian cụm dữ liệu.</a:t>
            </a:r>
          </a:p>
        </p:txBody>
      </p:sp>
      <p:sp>
        <p:nvSpPr>
          <p:cNvPr id="22" name="TextBox 21"/>
          <p:cNvSpPr txBox="1"/>
          <p:nvPr/>
        </p:nvSpPr>
        <p:spPr>
          <a:xfrm>
            <a:off x="1704975" y="4376737"/>
            <a:ext cx="4488060" cy="228600"/>
          </a:xfrm>
          <a:prstGeom prst="rect">
            <a:avLst/>
          </a:prstGeom>
          <a:noFill/>
        </p:spPr>
        <p:txBody>
          <a:bodyPr wrap="none" lIns="0" tIns="0" rIns="0" bIns="0" anchor="t">
            <a:spAutoFit/>
          </a:bodyPr>
          <a:lstStyle/>
          <a:p>
            <a:pPr algn="l"/>
            <a:r>
              <a:rPr sz="1500" b="1" i="0" u="none">
                <a:solidFill>
                  <a:srgbClr val="1A293C"/>
                </a:solidFill>
                <a:latin typeface="Montserrat"/>
              </a:rPr>
              <a:t>Fidelity &amp; Cosine</a:t>
            </a:r>
          </a:p>
        </p:txBody>
      </p:sp>
      <p:sp>
        <p:nvSpPr>
          <p:cNvPr id="23" name="TextBox 22"/>
          <p:cNvSpPr txBox="1"/>
          <p:nvPr/>
        </p:nvSpPr>
        <p:spPr>
          <a:xfrm>
            <a:off x="1704975" y="4681537"/>
            <a:ext cx="4274343" cy="200025"/>
          </a:xfrm>
          <a:prstGeom prst="rect">
            <a:avLst/>
          </a:prstGeom>
          <a:noFill/>
        </p:spPr>
        <p:txBody>
          <a:bodyPr wrap="none" lIns="0" tIns="0" rIns="0" bIns="0" anchor="t">
            <a:spAutoFit/>
          </a:bodyPr>
          <a:lstStyle/>
          <a:p>
            <a:pPr algn="l"/>
            <a:r>
              <a:rPr sz="1350" b="0" i="0" u="none">
                <a:solidFill>
                  <a:srgbClr val="64748B"/>
                </a:solidFill>
                <a:latin typeface="Roboto"/>
              </a:rPr>
              <a:t>Đo lường độ trung thực và tương đồng vector.</a:t>
            </a:r>
          </a:p>
        </p:txBody>
      </p:sp>
      <p:sp>
        <p:nvSpPr>
          <p:cNvPr id="24" name="TextBox 23"/>
          <p:cNvSpPr txBox="1"/>
          <p:nvPr/>
        </p:nvSpPr>
        <p:spPr>
          <a:xfrm>
            <a:off x="7343775" y="4376737"/>
            <a:ext cx="4550568" cy="228600"/>
          </a:xfrm>
          <a:prstGeom prst="rect">
            <a:avLst/>
          </a:prstGeom>
          <a:noFill/>
        </p:spPr>
        <p:txBody>
          <a:bodyPr wrap="none" lIns="0" tIns="0" rIns="0" bIns="0" anchor="t">
            <a:spAutoFit/>
          </a:bodyPr>
          <a:lstStyle/>
          <a:p>
            <a:pPr algn="l"/>
            <a:r>
              <a:rPr sz="1500" b="1" i="0" u="none">
                <a:solidFill>
                  <a:srgbClr val="1A293C"/>
                </a:solidFill>
                <a:latin typeface="Montserrat"/>
              </a:rPr>
              <a:t>Threshold Augmentation</a:t>
            </a:r>
          </a:p>
        </p:txBody>
      </p:sp>
      <p:sp>
        <p:nvSpPr>
          <p:cNvPr id="25" name="TextBox 24"/>
          <p:cNvSpPr txBox="1"/>
          <p:nvPr/>
        </p:nvSpPr>
        <p:spPr>
          <a:xfrm>
            <a:off x="7343775" y="4681537"/>
            <a:ext cx="4333875" cy="200025"/>
          </a:xfrm>
          <a:prstGeom prst="rect">
            <a:avLst/>
          </a:prstGeom>
          <a:noFill/>
        </p:spPr>
        <p:txBody>
          <a:bodyPr wrap="none" lIns="0" tIns="0" rIns="0" bIns="0" anchor="t">
            <a:spAutoFit/>
          </a:bodyPr>
          <a:lstStyle/>
          <a:p>
            <a:pPr algn="l"/>
            <a:r>
              <a:rPr sz="1350" b="0" i="0" u="none">
                <a:solidFill>
                  <a:srgbClr val="64748B"/>
                </a:solidFill>
                <a:latin typeface="Roboto"/>
              </a:rPr>
              <a:t>Đánh giá hiệu quả bổ sung dữ liệu có chọn lọc.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23164" y="2285822"/>
            <a:ext cx="3609975" cy="2847975"/>
          </a:xfrm>
          <a:prstGeom prst="roundRect">
            <a:avLst>
              <a:gd name="adj" fmla="val 71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63778" y="2233435"/>
            <a:ext cx="5343525" cy="838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63778" y="3300235"/>
            <a:ext cx="5343525" cy="838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63778" y="4367035"/>
            <a:ext cx="5343525" cy="838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63778" y="2233435"/>
            <a:ext cx="57150" cy="83820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63778" y="3300235"/>
            <a:ext cx="57150" cy="8382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63778" y="4367035"/>
            <a:ext cx="57150" cy="83820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3"/>
          <a:stretch>
            <a:fillRect/>
          </a:stretch>
        </p:blipFill>
        <p:spPr>
          <a:xfrm>
            <a:off x="11391900" y="338137"/>
            <a:ext cx="342900" cy="304800"/>
          </a:xfrm>
          <a:prstGeom prst="rect">
            <a:avLst/>
          </a:prstGeom>
        </p:spPr>
      </p:pic>
      <p:sp>
        <p:nvSpPr>
          <p:cNvPr id="12" name="TextBox 11"/>
          <p:cNvSpPr txBox="1"/>
          <p:nvPr/>
        </p:nvSpPr>
        <p:spPr>
          <a:xfrm>
            <a:off x="457200" y="304800"/>
            <a:ext cx="3332644" cy="369332"/>
          </a:xfrm>
          <a:prstGeom prst="rect">
            <a:avLst/>
          </a:prstGeom>
          <a:noFill/>
        </p:spPr>
        <p:txBody>
          <a:bodyPr wrap="none" lIns="0" tIns="0" rIns="0" bIns="0" anchor="t">
            <a:spAutoFit/>
          </a:bodyPr>
          <a:lstStyle/>
          <a:p>
            <a:pPr algn="l"/>
            <a:r>
              <a:rPr sz="2400" b="1" i="0" u="none" dirty="0">
                <a:solidFill>
                  <a:srgbClr val="1A293C"/>
                </a:solidFill>
                <a:latin typeface="Montserrat"/>
              </a:rPr>
              <a:t>Kết Quả Thực </a:t>
            </a:r>
            <a:r>
              <a:rPr sz="2400" b="1" i="0" u="none" dirty="0" smtClean="0">
                <a:solidFill>
                  <a:srgbClr val="1A293C"/>
                </a:solidFill>
                <a:latin typeface="Montserrat"/>
              </a:rPr>
              <a:t>Nghiệm</a:t>
            </a:r>
            <a:endParaRPr sz="2400" b="1" i="0" u="none" dirty="0">
              <a:solidFill>
                <a:srgbClr val="1A293C"/>
              </a:solidFill>
              <a:latin typeface="Montserrat"/>
            </a:endParaRPr>
          </a:p>
        </p:txBody>
      </p:sp>
      <p:sp>
        <p:nvSpPr>
          <p:cNvPr id="13" name="TextBox 12"/>
          <p:cNvSpPr txBox="1"/>
          <p:nvPr/>
        </p:nvSpPr>
        <p:spPr>
          <a:xfrm>
            <a:off x="960123" y="2895422"/>
            <a:ext cx="3096792" cy="276999"/>
          </a:xfrm>
          <a:prstGeom prst="rect">
            <a:avLst/>
          </a:prstGeom>
          <a:noFill/>
        </p:spPr>
        <p:txBody>
          <a:bodyPr wrap="square" lIns="0" tIns="0" rIns="0" bIns="0" anchor="t">
            <a:spAutoFit/>
          </a:bodyPr>
          <a:lstStyle/>
          <a:p>
            <a:pPr algn="ctr"/>
            <a:r>
              <a:rPr sz="1800" b="1" i="0" u="none">
                <a:solidFill>
                  <a:srgbClr val="64748B"/>
                </a:solidFill>
                <a:latin typeface="Roboto"/>
              </a:rPr>
              <a:t>F1 SCORE CẢI THIỆN LÊN</a:t>
            </a:r>
          </a:p>
        </p:txBody>
      </p:sp>
      <p:sp>
        <p:nvSpPr>
          <p:cNvPr id="14" name="TextBox 13"/>
          <p:cNvSpPr txBox="1"/>
          <p:nvPr/>
        </p:nvSpPr>
        <p:spPr>
          <a:xfrm>
            <a:off x="1072473" y="3314522"/>
            <a:ext cx="2853472" cy="1154162"/>
          </a:xfrm>
          <a:prstGeom prst="rect">
            <a:avLst/>
          </a:prstGeom>
          <a:noFill/>
        </p:spPr>
        <p:txBody>
          <a:bodyPr wrap="square" lIns="0" tIns="0" rIns="0" bIns="0" anchor="t">
            <a:spAutoFit/>
          </a:bodyPr>
          <a:lstStyle/>
          <a:p>
            <a:pPr algn="ctr">
              <a:lnSpc>
                <a:spcPts val="9000"/>
              </a:lnSpc>
            </a:pPr>
            <a:r>
              <a:rPr sz="9000" b="1" i="0" u="none" dirty="0">
                <a:solidFill>
                  <a:srgbClr val="D32F2F"/>
                </a:solidFill>
                <a:latin typeface="Montserrat"/>
              </a:rPr>
              <a:t>95%</a:t>
            </a:r>
          </a:p>
        </p:txBody>
      </p:sp>
      <p:sp>
        <p:nvSpPr>
          <p:cNvPr id="15" name="TextBox 14"/>
          <p:cNvSpPr txBox="1"/>
          <p:nvPr/>
        </p:nvSpPr>
        <p:spPr>
          <a:xfrm>
            <a:off x="1373777" y="4609922"/>
            <a:ext cx="2200934" cy="276999"/>
          </a:xfrm>
          <a:prstGeom prst="rect">
            <a:avLst/>
          </a:prstGeom>
          <a:noFill/>
        </p:spPr>
        <p:txBody>
          <a:bodyPr wrap="square" lIns="0" tIns="0" rIns="0" bIns="0" anchor="t">
            <a:spAutoFit/>
          </a:bodyPr>
          <a:lstStyle/>
          <a:p>
            <a:pPr algn="ctr"/>
            <a:r>
              <a:rPr sz="1800" b="0" i="0" u="none">
                <a:solidFill>
                  <a:srgbClr val="1A293C"/>
                </a:solidFill>
                <a:latin typeface="Roboto"/>
              </a:rPr>
              <a:t>Từ mức cơ sở 87%</a:t>
            </a:r>
          </a:p>
        </p:txBody>
      </p:sp>
      <p:sp>
        <p:nvSpPr>
          <p:cNvPr id="16" name="TextBox 15"/>
          <p:cNvSpPr txBox="1"/>
          <p:nvPr/>
        </p:nvSpPr>
        <p:spPr>
          <a:xfrm>
            <a:off x="5749528" y="2385835"/>
            <a:ext cx="6338292" cy="257175"/>
          </a:xfrm>
          <a:prstGeom prst="rect">
            <a:avLst/>
          </a:prstGeom>
          <a:noFill/>
        </p:spPr>
        <p:txBody>
          <a:bodyPr wrap="none" lIns="0" tIns="0" rIns="0" bIns="0" anchor="t">
            <a:spAutoFit/>
          </a:bodyPr>
          <a:lstStyle/>
          <a:p>
            <a:pPr algn="l"/>
            <a:r>
              <a:rPr sz="1650" b="1" i="0" u="none">
                <a:solidFill>
                  <a:srgbClr val="1A293C"/>
                </a:solidFill>
                <a:latin typeface="Montserrat"/>
              </a:rPr>
              <a:t>Diffusion vượt trội</a:t>
            </a:r>
          </a:p>
        </p:txBody>
      </p:sp>
      <p:sp>
        <p:nvSpPr>
          <p:cNvPr id="17" name="TextBox 16"/>
          <p:cNvSpPr txBox="1"/>
          <p:nvPr/>
        </p:nvSpPr>
        <p:spPr>
          <a:xfrm>
            <a:off x="5749528" y="2719210"/>
            <a:ext cx="6036468" cy="200025"/>
          </a:xfrm>
          <a:prstGeom prst="rect">
            <a:avLst/>
          </a:prstGeom>
          <a:noFill/>
        </p:spPr>
        <p:txBody>
          <a:bodyPr wrap="none" lIns="0" tIns="0" rIns="0" bIns="0" anchor="t">
            <a:spAutoFit/>
          </a:bodyPr>
          <a:lstStyle/>
          <a:p>
            <a:pPr algn="l"/>
            <a:r>
              <a:rPr sz="1350" b="0" i="0" u="none">
                <a:solidFill>
                  <a:srgbClr val="64748B"/>
                </a:solidFill>
                <a:latin typeface="Roboto"/>
              </a:rPr>
              <a:t>Tạo ra cụm dữ liệu phân bố gần nhất với malware thực tế.</a:t>
            </a:r>
          </a:p>
        </p:txBody>
      </p:sp>
      <p:sp>
        <p:nvSpPr>
          <p:cNvPr id="18" name="TextBox 17"/>
          <p:cNvSpPr txBox="1"/>
          <p:nvPr/>
        </p:nvSpPr>
        <p:spPr>
          <a:xfrm>
            <a:off x="5749528" y="3452635"/>
            <a:ext cx="6338292" cy="257175"/>
          </a:xfrm>
          <a:prstGeom prst="rect">
            <a:avLst/>
          </a:prstGeom>
          <a:noFill/>
        </p:spPr>
        <p:txBody>
          <a:bodyPr wrap="none" lIns="0" tIns="0" rIns="0" bIns="0" anchor="t">
            <a:spAutoFit/>
          </a:bodyPr>
          <a:lstStyle/>
          <a:p>
            <a:pPr algn="l"/>
            <a:r>
              <a:rPr sz="1650" b="1" i="0" u="none">
                <a:solidFill>
                  <a:srgbClr val="1A293C"/>
                </a:solidFill>
                <a:latin typeface="Montserrat"/>
              </a:rPr>
              <a:t>Độ trung thực cao</a:t>
            </a:r>
          </a:p>
        </p:txBody>
      </p:sp>
      <p:sp>
        <p:nvSpPr>
          <p:cNvPr id="19" name="TextBox 18"/>
          <p:cNvSpPr txBox="1"/>
          <p:nvPr/>
        </p:nvSpPr>
        <p:spPr>
          <a:xfrm>
            <a:off x="5749528" y="3786010"/>
            <a:ext cx="6036468" cy="200025"/>
          </a:xfrm>
          <a:prstGeom prst="rect">
            <a:avLst/>
          </a:prstGeom>
          <a:noFill/>
        </p:spPr>
        <p:txBody>
          <a:bodyPr wrap="none" lIns="0" tIns="0" rIns="0" bIns="0" anchor="t">
            <a:spAutoFit/>
          </a:bodyPr>
          <a:lstStyle/>
          <a:p>
            <a:pPr algn="l"/>
            <a:r>
              <a:rPr sz="1350" b="0" i="0" u="none">
                <a:solidFill>
                  <a:srgbClr val="64748B"/>
                </a:solidFill>
                <a:latin typeface="Roboto"/>
              </a:rPr>
              <a:t>Fidelity score đạt 92% khi kiểm thử với Random Forest.</a:t>
            </a:r>
          </a:p>
        </p:txBody>
      </p:sp>
      <p:sp>
        <p:nvSpPr>
          <p:cNvPr id="20" name="TextBox 19"/>
          <p:cNvSpPr txBox="1"/>
          <p:nvPr/>
        </p:nvSpPr>
        <p:spPr>
          <a:xfrm>
            <a:off x="5749528" y="4519435"/>
            <a:ext cx="6338292" cy="0"/>
          </a:xfrm>
          <a:prstGeom prst="rect">
            <a:avLst/>
          </a:prstGeom>
          <a:noFill/>
        </p:spPr>
        <p:txBody>
          <a:bodyPr wrap="none" lIns="0" tIns="0" rIns="0" bIns="0" anchor="t">
            <a:spAutoFit/>
          </a:bodyPr>
          <a:lstStyle/>
          <a:p>
            <a:pPr algn="l"/>
            <a:r>
              <a:rPr sz="1650" b="1" i="0" u="none">
                <a:solidFill>
                  <a:srgbClr val="1A293C"/>
                </a:solidFill>
                <a:latin typeface="Montserrat"/>
              </a:rPr>
              <a:t>Giải quyết mất cân bằng</a:t>
            </a:r>
          </a:p>
        </p:txBody>
      </p:sp>
      <p:sp>
        <p:nvSpPr>
          <p:cNvPr id="21" name="TextBox 20"/>
          <p:cNvSpPr txBox="1"/>
          <p:nvPr/>
        </p:nvSpPr>
        <p:spPr>
          <a:xfrm>
            <a:off x="5749528" y="4852810"/>
            <a:ext cx="6036468" cy="0"/>
          </a:xfrm>
          <a:prstGeom prst="rect">
            <a:avLst/>
          </a:prstGeom>
          <a:noFill/>
        </p:spPr>
        <p:txBody>
          <a:bodyPr wrap="none" lIns="0" tIns="0" rIns="0" bIns="0" anchor="t">
            <a:spAutoFit/>
          </a:bodyPr>
          <a:lstStyle/>
          <a:p>
            <a:pPr algn="l"/>
            <a:r>
              <a:rPr sz="1350" b="0" i="0" u="none">
                <a:solidFill>
                  <a:srgbClr val="64748B"/>
                </a:solidFill>
                <a:latin typeface="Roboto"/>
              </a:rPr>
              <a:t>Cải thiện mạnh mẽ khả năng phát hiện các họ malware thiểu số.</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93C"/>
        </a:solidFill>
        <a:effectLst/>
      </p:bgPr>
    </p:bg>
    <p:spTree>
      <p:nvGrpSpPr>
        <p:cNvPr id="1" name=""/>
        <p:cNvGrpSpPr/>
        <p:nvPr/>
      </p:nvGrpSpPr>
      <p:grpSpPr>
        <a:xfrm>
          <a:off x="0" y="0"/>
          <a:ext cx="0" cy="0"/>
          <a:chOff x="0" y="0"/>
          <a:chExt cx="0" cy="0"/>
        </a:xfrm>
      </p:grpSpPr>
      <p:sp>
        <p:nvSpPr>
          <p:cNvPr id="2" name="Rectangle 1"/>
          <p:cNvSpPr/>
          <p:nvPr/>
        </p:nvSpPr>
        <p:spPr>
          <a:xfrm>
            <a:off x="609600" y="1076325"/>
            <a:ext cx="6096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571625"/>
            <a:ext cx="5257800" cy="2619375"/>
          </a:xfrm>
          <a:prstGeom prst="roundRect">
            <a:avLst>
              <a:gd name="adj" fmla="val 581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324600" y="1571625"/>
            <a:ext cx="5257800" cy="2619375"/>
          </a:xfrm>
          <a:prstGeom prst="roundRect">
            <a:avLst>
              <a:gd name="adj" fmla="val 581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324600" y="1571625"/>
            <a:ext cx="52578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990600" y="1952625"/>
            <a:ext cx="304800" cy="304800"/>
          </a:xfrm>
          <a:prstGeom prst="rect">
            <a:avLst/>
          </a:prstGeom>
        </p:spPr>
      </p:pic>
      <p:pic>
        <p:nvPicPr>
          <p:cNvPr id="7" name="Picture 6" descr="image.png"/>
          <p:cNvPicPr>
            <a:picLocks noChangeAspect="1"/>
          </p:cNvPicPr>
          <p:nvPr/>
        </p:nvPicPr>
        <p:blipFill>
          <a:blip r:embed="rId4"/>
          <a:stretch>
            <a:fillRect/>
          </a:stretch>
        </p:blipFill>
        <p:spPr>
          <a:xfrm>
            <a:off x="6705600" y="2009775"/>
            <a:ext cx="304800" cy="304800"/>
          </a:xfrm>
          <a:prstGeom prst="rect">
            <a:avLst/>
          </a:prstGeom>
        </p:spPr>
      </p:pic>
      <p:sp>
        <p:nvSpPr>
          <p:cNvPr id="8" name="TextBox 7"/>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FFFFFF"/>
                </a:solidFill>
                <a:latin typeface="Montserrat"/>
              </a:rPr>
              <a:t>Kết Luận &amp; Hạn Chế</a:t>
            </a:r>
          </a:p>
        </p:txBody>
      </p:sp>
      <p:sp>
        <p:nvSpPr>
          <p:cNvPr id="9" name="TextBox 8"/>
          <p:cNvSpPr txBox="1"/>
          <p:nvPr/>
        </p:nvSpPr>
        <p:spPr>
          <a:xfrm>
            <a:off x="3781425" y="4800600"/>
            <a:ext cx="6075759" cy="371475"/>
          </a:xfrm>
          <a:prstGeom prst="rect">
            <a:avLst/>
          </a:prstGeom>
          <a:noFill/>
        </p:spPr>
        <p:txBody>
          <a:bodyPr wrap="none" lIns="0" tIns="0" rIns="0" bIns="0" anchor="t">
            <a:spAutoFit/>
          </a:bodyPr>
          <a:lstStyle/>
          <a:p>
            <a:pPr algn="l"/>
            <a:r>
              <a:rPr sz="2400" b="1" i="0" u="none">
                <a:solidFill>
                  <a:srgbClr val="F8FAFC"/>
                </a:solidFill>
                <a:latin typeface="Montserrat"/>
              </a:rPr>
              <a:t>XIN TRÂN TRỌNG CẢM ƠN</a:t>
            </a:r>
          </a:p>
        </p:txBody>
      </p:sp>
      <p:sp>
        <p:nvSpPr>
          <p:cNvPr id="10" name="TextBox 9"/>
          <p:cNvSpPr txBox="1"/>
          <p:nvPr/>
        </p:nvSpPr>
        <p:spPr>
          <a:xfrm>
            <a:off x="990600" y="2409825"/>
            <a:ext cx="5900737" cy="276225"/>
          </a:xfrm>
          <a:prstGeom prst="rect">
            <a:avLst/>
          </a:prstGeom>
          <a:noFill/>
        </p:spPr>
        <p:txBody>
          <a:bodyPr wrap="none" lIns="0" tIns="0" rIns="0" bIns="0" anchor="t">
            <a:spAutoFit/>
          </a:bodyPr>
          <a:lstStyle/>
          <a:p>
            <a:pPr algn="l"/>
            <a:r>
              <a:rPr sz="1800" b="1" i="0" u="none">
                <a:solidFill>
                  <a:srgbClr val="1A293C"/>
                </a:solidFill>
                <a:latin typeface="Montserrat"/>
              </a:rPr>
              <a:t>Thành Tựu Cốt Lõi</a:t>
            </a:r>
          </a:p>
        </p:txBody>
      </p:sp>
      <p:sp>
        <p:nvSpPr>
          <p:cNvPr id="11" name="TextBox 10"/>
          <p:cNvSpPr txBox="1"/>
          <p:nvPr/>
        </p:nvSpPr>
        <p:spPr>
          <a:xfrm>
            <a:off x="990600" y="2838450"/>
            <a:ext cx="4591050" cy="914400"/>
          </a:xfrm>
          <a:prstGeom prst="rect">
            <a:avLst/>
          </a:prstGeom>
          <a:noFill/>
        </p:spPr>
        <p:txBody>
          <a:bodyPr wrap="square" lIns="0" tIns="0" rIns="0" bIns="0" anchor="t">
            <a:spAutoFit/>
          </a:bodyPr>
          <a:lstStyle/>
          <a:p>
            <a:pPr algn="l">
              <a:lnSpc>
                <a:spcPts val="2400"/>
              </a:lnSpc>
            </a:pPr>
            <a:r>
              <a:rPr sz="1500" b="0" i="0" u="none">
                <a:solidFill>
                  <a:srgbClr val="64748B"/>
                </a:solidFill>
                <a:latin typeface="Roboto"/>
              </a:rPr>
              <a:t>Sinh dữ liệu embedding bằng GenAI giải quyết triệt để vấn đề tập dữ liệu nhỏ và mất cân bằng. Hoàn toàn khả thi cho Machine Learning.</a:t>
            </a:r>
          </a:p>
        </p:txBody>
      </p:sp>
      <p:sp>
        <p:nvSpPr>
          <p:cNvPr id="12" name="TextBox 11"/>
          <p:cNvSpPr txBox="1"/>
          <p:nvPr/>
        </p:nvSpPr>
        <p:spPr>
          <a:xfrm>
            <a:off x="6705600" y="2466975"/>
            <a:ext cx="5486400" cy="276225"/>
          </a:xfrm>
          <a:prstGeom prst="rect">
            <a:avLst/>
          </a:prstGeom>
          <a:noFill/>
        </p:spPr>
        <p:txBody>
          <a:bodyPr wrap="none" lIns="0" tIns="0" rIns="0" bIns="0" anchor="t">
            <a:spAutoFit/>
          </a:bodyPr>
          <a:lstStyle/>
          <a:p>
            <a:pPr algn="l"/>
            <a:r>
              <a:rPr sz="1800" b="1" i="0" u="none">
                <a:solidFill>
                  <a:srgbClr val="D32F2F"/>
                </a:solidFill>
                <a:latin typeface="Montserrat"/>
              </a:rPr>
              <a:t>Hạn Chế Hiện Tại</a:t>
            </a:r>
          </a:p>
        </p:txBody>
      </p:sp>
      <p:sp>
        <p:nvSpPr>
          <p:cNvPr id="13" name="TextBox 12"/>
          <p:cNvSpPr txBox="1"/>
          <p:nvPr/>
        </p:nvSpPr>
        <p:spPr>
          <a:xfrm>
            <a:off x="6705600" y="2895600"/>
            <a:ext cx="4591050" cy="914400"/>
          </a:xfrm>
          <a:prstGeom prst="rect">
            <a:avLst/>
          </a:prstGeom>
          <a:noFill/>
        </p:spPr>
        <p:txBody>
          <a:bodyPr wrap="square" lIns="0" tIns="0" rIns="0" bIns="0" anchor="t">
            <a:spAutoFit/>
          </a:bodyPr>
          <a:lstStyle/>
          <a:p>
            <a:pPr algn="l">
              <a:lnSpc>
                <a:spcPts val="2400"/>
              </a:lnSpc>
            </a:pPr>
            <a:r>
              <a:rPr sz="1500" b="0" i="0" u="none">
                <a:solidFill>
                  <a:srgbClr val="64748B"/>
                </a:solidFill>
                <a:latin typeface="Roboto"/>
              </a:rPr>
              <a:t>Không tạo file malware thực thi. Đánh mất thông tin luồng dữ liệu. Không giả lập được Zero-day attack hoàn toàn mới.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3261</Words>
  <Application>Microsoft Office PowerPoint</Application>
  <PresentationFormat>Widescreen</PresentationFormat>
  <Paragraphs>218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Arial</vt:lpstr>
      <vt:lpstr>Montserrat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Van Beo</cp:lastModifiedBy>
  <cp:revision>6</cp:revision>
  <dcterms:created xsi:type="dcterms:W3CDTF">2013-01-27T09:14:16Z</dcterms:created>
  <dcterms:modified xsi:type="dcterms:W3CDTF">2026-10-04T05:42:31Z</dcterms:modified>
  <cp:category/>
</cp:coreProperties>
</file>