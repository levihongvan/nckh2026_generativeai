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6" r:id="rId7"/>
    <p:sldId id="267" r:id="rId8"/>
    <p:sldId id="261" r:id="rId9"/>
    <p:sldId id="268" r:id="rId10"/>
    <p:sldId id="269" r:id="rId11"/>
    <p:sldId id="270" r:id="rId12"/>
    <p:sldId id="262" r:id="rId13"/>
    <p:sldId id="263" r:id="rId14"/>
    <p:sldId id="264" r:id="rId15"/>
    <p:sldId id="265" r:id="rId16"/>
  </p:sldIdLst>
  <p:sldSz cx="12192000" cy="6858000"/>
  <p:notesSz cx="6858000" cy="9144000"/>
  <p:embeddedFontLst>
    <p:embeddedFont>
      <p:font typeface="Montserrat" panose="020B0604020202020204" charset="0"/>
      <p:regular r:id="rId18"/>
      <p:bold r:id="rId19"/>
    </p:embeddedFont>
    <p:embeddedFont>
      <p:font typeface="Roboto" panose="020B0604020202020204" charset="0"/>
      <p:regular r:id="rId20"/>
      <p:bold r:id="rId21"/>
      <p:italic r:id="rId22"/>
      <p:boldItalic r:id="rId23"/>
    </p:embeddedFont>
    <p:embeddedFont>
      <p:font typeface="Calibri" panose="020F0502020204030204" pitchFamily="34" charset="0"/>
      <p:regular r:id="rId24"/>
      <p:bold r:id="rId25"/>
      <p:italic r:id="rId26"/>
      <p:boldItalic r:id="rId2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537" autoAdjust="0"/>
  </p:normalViewPr>
  <p:slideViewPr>
    <p:cSldViewPr snapToGrid="0" snapToObjects="1">
      <p:cViewPr>
        <p:scale>
          <a:sx n="66" d="100"/>
          <a:sy n="66" d="100"/>
        </p:scale>
        <p:origin x="1301" y="36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834A8E-BC46-4285-A884-3702A9D4F9C0}" type="datetimeFigureOut">
              <a:rPr lang="en-US" smtClean="0"/>
              <a:t>10/4/2026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48FFC3-9481-4211-A1C4-A0413854C135}" type="slidenum">
              <a:rPr lang="en-US" smtClean="0"/>
              <a:t>‹#›</a:t>
            </a:fld>
            <a:endParaRPr lang="en-US"/>
          </a:p>
        </p:txBody>
      </p:sp>
    </p:spTree>
    <p:extLst>
      <p:ext uri="{BB962C8B-B14F-4D97-AF65-F5344CB8AC3E}">
        <p14:creationId xmlns:p14="http://schemas.microsoft.com/office/powerpoint/2010/main" val="3073206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“Em xin chào thầ</a:t>
            </a:r>
            <a:r>
              <a:rPr lang="en-US" dirty="0"/>
              <a:t>y</a:t>
            </a:r>
            <a:r>
              <a:rPr lang="vi-VN" dirty="0"/>
              <a:t>.</a:t>
            </a:r>
          </a:p>
          <a:p>
            <a:r>
              <a:rPr lang="vi-VN" dirty="0"/>
              <a:t>Hôm nay em xin trình bày kết quả nghiên cứu của</a:t>
            </a:r>
            <a:r>
              <a:rPr lang="en-US" baseline="0" dirty="0"/>
              <a:t> chúng</a:t>
            </a:r>
            <a:r>
              <a:rPr lang="vi-VN" dirty="0"/>
              <a:t> em về bài báo </a:t>
            </a:r>
            <a:r>
              <a:rPr lang="vi-VN" b="1" dirty="0"/>
              <a:t>‘Generating Synthetic Malware Samples Using Generative AI’</a:t>
            </a:r>
            <a:r>
              <a:rPr lang="vi-VN" dirty="0"/>
              <a:t>, được công bố trên tạp chí IEEE Access năm 2025.</a:t>
            </a:r>
          </a:p>
          <a:p>
            <a:r>
              <a:rPr lang="vi-VN" dirty="0"/>
              <a:t>Chủ đề chính của bài báo là sử dụng các mô hình </a:t>
            </a:r>
            <a:r>
              <a:rPr lang="vi-VN" b="1" dirty="0"/>
              <a:t>Generative AI</a:t>
            </a:r>
            <a:r>
              <a:rPr lang="vi-VN" dirty="0"/>
              <a:t>, cụ thể là </a:t>
            </a:r>
            <a:r>
              <a:rPr lang="vi-VN" b="1" dirty="0"/>
              <a:t>GAN, WGAN-GP và Diffusion</a:t>
            </a:r>
            <a:r>
              <a:rPr lang="vi-VN" dirty="0"/>
              <a:t>, để sinh ra các dữ liệu malware tổng hợp.</a:t>
            </a:r>
          </a:p>
          <a:p>
            <a:r>
              <a:rPr lang="vi-VN" dirty="0"/>
              <a:t>Mục tiêu của nghiên cứu không phải là tạo ra một file malware .exe hoàn chỉnh để thực thi, mà là tạo ra </a:t>
            </a:r>
            <a:r>
              <a:rPr lang="vi-VN" b="1" dirty="0"/>
              <a:t>các malware embedding tổng hợp</a:t>
            </a:r>
            <a:r>
              <a:rPr lang="vi-VN" dirty="0"/>
              <a:t>, sau đó sử dụng những dữ liệu này để </a:t>
            </a:r>
            <a:r>
              <a:rPr lang="vi-VN" b="1" dirty="0"/>
              <a:t>bổ sung cho tập dữ liệu huấn luyện</a:t>
            </a:r>
            <a:r>
              <a:rPr lang="vi-VN" dirty="0"/>
              <a:t>, từ đó cải thiện khả năng phân loại malware của các mô hình Machine Learning.</a:t>
            </a:r>
          </a:p>
          <a:p>
            <a:r>
              <a:rPr lang="vi-VN" dirty="0"/>
              <a:t>Trong phần trình bày, em sẽ lần lượt nói về vấn đề mà bài báo giải quyết, cách biểu diễn malware, ba mô hình Generative AI, phương pháp đánh giá và cuối cùng là kết quả cũng như hạn chế của nghiên cứu.”</a:t>
            </a:r>
          </a:p>
          <a:p>
            <a:r>
              <a:rPr lang="vi-VN" b="1" dirty="0"/>
              <a:t>Câu chuyển:</a:t>
            </a:r>
            <a:endParaRPr lang="vi-VN" dirty="0"/>
          </a:p>
          <a:p>
            <a:r>
              <a:rPr lang="vi-VN" dirty="0"/>
              <a:t>“Đầu tiên, em xin trình bày vấn đề mà nhóm tác giả đặt ra.”</a:t>
            </a:r>
          </a:p>
          <a:p>
            <a:endParaRPr lang="en-US" dirty="0"/>
          </a:p>
        </p:txBody>
      </p:sp>
      <p:sp>
        <p:nvSpPr>
          <p:cNvPr id="4" name="Slide Number Placeholder 3"/>
          <p:cNvSpPr>
            <a:spLocks noGrp="1"/>
          </p:cNvSpPr>
          <p:nvPr>
            <p:ph type="sldNum" sz="quarter" idx="10"/>
          </p:nvPr>
        </p:nvSpPr>
        <p:spPr/>
        <p:txBody>
          <a:bodyPr/>
          <a:lstStyle/>
          <a:p>
            <a:fld id="{F948FFC3-9481-4211-A1C4-A0413854C135}" type="slidenum">
              <a:rPr lang="en-US" smtClean="0"/>
              <a:t>1</a:t>
            </a:fld>
            <a:endParaRPr lang="en-US"/>
          </a:p>
        </p:txBody>
      </p:sp>
    </p:spTree>
    <p:extLst>
      <p:ext uri="{BB962C8B-B14F-4D97-AF65-F5344CB8AC3E}">
        <p14:creationId xmlns:p14="http://schemas.microsoft.com/office/powerpoint/2010/main" val="19164663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“Bài trình bày của em gồm 4 phần chính.</a:t>
            </a:r>
          </a:p>
          <a:p>
            <a:r>
              <a:rPr lang="vi-VN" b="1" dirty="0"/>
              <a:t>Phần thứ nhất là đặt vấn đề.</a:t>
            </a:r>
            <a:r>
              <a:rPr lang="vi-VN" dirty="0"/>
              <a:t/>
            </a:r>
            <a:br>
              <a:rPr lang="vi-VN" dirty="0"/>
            </a:br>
            <a:r>
              <a:rPr lang="vi-VN" dirty="0"/>
              <a:t>Em sẽ giải thích tại sao việc phân loại malware gặp khó khăn và tại sao dữ liệu huấn luyện lại là một vấn đề.</a:t>
            </a:r>
          </a:p>
          <a:p>
            <a:r>
              <a:rPr lang="vi-VN" b="1" dirty="0"/>
              <a:t>Phần thứ hai là phương pháp.</a:t>
            </a:r>
            <a:r>
              <a:rPr lang="vi-VN" dirty="0"/>
              <a:t/>
            </a:r>
            <a:br>
              <a:rPr lang="vi-VN" dirty="0"/>
            </a:br>
            <a:r>
              <a:rPr lang="vi-VN" dirty="0"/>
              <a:t>Phần này tập trung vào cách bài báo chuyển malware từ dạng binary sang biểu diễn bằng </a:t>
            </a:r>
            <a:r>
              <a:rPr lang="vi-VN" b="1" dirty="0"/>
              <a:t>opcode</a:t>
            </a:r>
            <a:r>
              <a:rPr lang="vi-VN" dirty="0"/>
              <a:t>, sau đó sử dụng </a:t>
            </a:r>
            <a:r>
              <a:rPr lang="vi-VN" b="1" dirty="0"/>
              <a:t>Word2Vec</a:t>
            </a:r>
            <a:r>
              <a:rPr lang="vi-VN" dirty="0"/>
              <a:t> để tạo embedding và đưa embedding này vào các mô hình Generative AI.</a:t>
            </a:r>
          </a:p>
          <a:p>
            <a:pPr marL="0" marR="0" lvl="0" indent="0" algn="l" defTabSz="914400" rtl="0" eaLnBrk="1" fontAlgn="auto" latinLnBrk="0" hangingPunct="1">
              <a:lnSpc>
                <a:spcPct val="100000"/>
              </a:lnSpc>
              <a:spcBef>
                <a:spcPts val="0"/>
              </a:spcBef>
              <a:spcAft>
                <a:spcPts val="0"/>
              </a:spcAft>
              <a:buClrTx/>
              <a:buSzTx/>
              <a:buFontTx/>
              <a:buNone/>
              <a:tabLst/>
              <a:defRPr/>
            </a:pPr>
            <a:r>
              <a:rPr lang="vi-VN" b="1" dirty="0"/>
              <a:t>Phần thứ ba là đánh giá.</a:t>
            </a:r>
            <a:r>
              <a:rPr lang="vi-VN" dirty="0"/>
              <a:t/>
            </a:r>
            <a:br>
              <a:rPr lang="vi-VN" dirty="0"/>
            </a:br>
            <a:r>
              <a:rPr lang="en-US" dirty="0" err="1"/>
              <a:t>Một</a:t>
            </a:r>
            <a:r>
              <a:rPr lang="en-US" dirty="0"/>
              <a:t> </a:t>
            </a:r>
            <a:r>
              <a:rPr lang="en-US" dirty="0" err="1"/>
              <a:t>số</a:t>
            </a:r>
            <a:r>
              <a:rPr lang="en-US" dirty="0"/>
              <a:t> </a:t>
            </a:r>
            <a:r>
              <a:rPr lang="vi-VN" dirty="0"/>
              <a:t>phương pháp khác nhau</a:t>
            </a:r>
            <a:r>
              <a:rPr lang="en-US" dirty="0"/>
              <a:t> </a:t>
            </a:r>
            <a:r>
              <a:rPr lang="en-US" dirty="0" err="1"/>
              <a:t>được</a:t>
            </a:r>
            <a:r>
              <a:rPr lang="en-US" dirty="0"/>
              <a:t> </a:t>
            </a:r>
            <a:r>
              <a:rPr lang="en-US" dirty="0" err="1"/>
              <a:t>đưa</a:t>
            </a:r>
            <a:r>
              <a:rPr lang="en-US" dirty="0"/>
              <a:t> </a:t>
            </a:r>
            <a:r>
              <a:rPr lang="en-US" dirty="0" err="1"/>
              <a:t>ra</a:t>
            </a:r>
            <a:r>
              <a:rPr lang="vi-VN" dirty="0"/>
              <a:t> như Binary Classification, t-SNE, Fidelity</a:t>
            </a:r>
            <a:r>
              <a:rPr lang="en-US" dirty="0"/>
              <a:t>(</a:t>
            </a:r>
            <a:r>
              <a:rPr lang="vi-VN" sz="1200" b="0" i="0" u="none" dirty="0">
                <a:solidFill>
                  <a:srgbClr val="64748B"/>
                </a:solidFill>
                <a:latin typeface="Roboto"/>
              </a:rPr>
              <a:t>Đo lường độ trung thực và tương đồng vector</a:t>
            </a:r>
            <a:r>
              <a:rPr lang="en-US" dirty="0"/>
              <a:t>)</a:t>
            </a:r>
            <a:r>
              <a:rPr lang="vi-VN" dirty="0"/>
              <a:t>, Cosine Similarity và Threshold Augmentation</a:t>
            </a:r>
            <a:r>
              <a:rPr lang="en-US" dirty="0"/>
              <a:t>( </a:t>
            </a:r>
            <a:r>
              <a:rPr lang="en-US" dirty="0" err="1"/>
              <a:t>tăng</a:t>
            </a:r>
            <a:r>
              <a:rPr lang="en-US" dirty="0"/>
              <a:t> </a:t>
            </a:r>
            <a:r>
              <a:rPr lang="en-US" dirty="0" err="1"/>
              <a:t>ngưỡng</a:t>
            </a:r>
            <a:r>
              <a:rPr lang="en-US" dirty="0"/>
              <a:t>)</a:t>
            </a:r>
            <a:r>
              <a:rPr lang="vi-VN" dirty="0"/>
              <a:t> để kiểm tra chất lượng dữ liệu được sinh ra.</a:t>
            </a:r>
          </a:p>
          <a:p>
            <a:r>
              <a:rPr lang="vi-VN" b="1" dirty="0"/>
              <a:t>Cuối cùng là kết luận.</a:t>
            </a:r>
            <a:r>
              <a:rPr lang="vi-VN" dirty="0"/>
              <a:t/>
            </a:r>
            <a:br>
              <a:rPr lang="vi-VN" dirty="0"/>
            </a:br>
            <a:r>
              <a:rPr lang="vi-VN" dirty="0"/>
              <a:t>Em sẽ trình bày kết quả chính của bài báo, đặc biệt là việc sử dụng dữ liệu tổng hợp để cải thiện F1-score, đồng thời nêu những hạn chế của phương pháp.”</a:t>
            </a:r>
          </a:p>
          <a:p>
            <a:r>
              <a:rPr lang="vi-VN" b="1" dirty="0"/>
              <a:t>Câu chuyển:</a:t>
            </a:r>
            <a:endParaRPr lang="vi-VN" dirty="0"/>
          </a:p>
          <a:p>
            <a:r>
              <a:rPr lang="vi-VN" dirty="0"/>
              <a:t>“Vậy vấn đề cụ thể mà bài báo muốn giải quyết là gì?”</a:t>
            </a:r>
          </a:p>
          <a:p>
            <a:endParaRPr lang="en-US" dirty="0"/>
          </a:p>
        </p:txBody>
      </p:sp>
      <p:sp>
        <p:nvSpPr>
          <p:cNvPr id="4" name="Slide Number Placeholder 3"/>
          <p:cNvSpPr>
            <a:spLocks noGrp="1"/>
          </p:cNvSpPr>
          <p:nvPr>
            <p:ph type="sldNum" sz="quarter" idx="10"/>
          </p:nvPr>
        </p:nvSpPr>
        <p:spPr/>
        <p:txBody>
          <a:bodyPr/>
          <a:lstStyle/>
          <a:p>
            <a:fld id="{F948FFC3-9481-4211-A1C4-A0413854C135}" type="slidenum">
              <a:rPr lang="en-US" smtClean="0"/>
              <a:t>2</a:t>
            </a:fld>
            <a:endParaRPr lang="en-US"/>
          </a:p>
        </p:txBody>
      </p:sp>
    </p:spTree>
    <p:extLst>
      <p:ext uri="{BB962C8B-B14F-4D97-AF65-F5344CB8AC3E}">
        <p14:creationId xmlns:p14="http://schemas.microsoft.com/office/powerpoint/2010/main" val="3415936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“Trong bài toán phân loại malware, một khó khăn lớn là </a:t>
            </a:r>
            <a:r>
              <a:rPr lang="vi-VN" b="1" dirty="0"/>
              <a:t>dữ liệu huấn luyện không cân bằng</a:t>
            </a:r>
            <a:r>
              <a:rPr lang="vi-VN" dirty="0"/>
              <a:t>.</a:t>
            </a:r>
          </a:p>
          <a:p>
            <a:r>
              <a:rPr lang="vi-VN" dirty="0"/>
              <a:t>Có những họ malware có rất nhiều mẫu, nhưng cũng có những họ chỉ có số lượng mẫu rất nhỏ.</a:t>
            </a:r>
          </a:p>
          <a:p>
            <a:r>
              <a:rPr lang="vi-VN" dirty="0"/>
              <a:t>Ví dụ, nếu một họ malware có hàng nghìn mẫu nhưng một họ khác chỉ có vài chục hoặc vài trăm mẫu thì mô hình Machine Learning sẽ có xu hướng học tốt những họ có nhiều dữ liệu hơn và phân loại kém đối với những họ ít dữ liệu.</a:t>
            </a:r>
          </a:p>
          <a:p>
            <a:r>
              <a:rPr lang="vi-VN" dirty="0"/>
              <a:t>Vấn đề thứ hai là </a:t>
            </a:r>
            <a:r>
              <a:rPr lang="vi-VN" b="1" dirty="0"/>
              <a:t>thiếu dữ liệu huấn luyện</a:t>
            </a:r>
            <a:r>
              <a:rPr lang="vi-VN" dirty="0"/>
              <a:t>.</a:t>
            </a:r>
          </a:p>
          <a:p>
            <a:r>
              <a:rPr lang="vi-VN" dirty="0"/>
              <a:t>Để xây dựng một hệ thống phát hiện malware tốt, chúng ta cần một lượng lớn mẫu malware thực tế. Tuy nhiên, việc thu thập và phân tích các mẫu này có thể mất nhiều thời gian và tài nguyên.</a:t>
            </a:r>
          </a:p>
          <a:p>
            <a:r>
              <a:rPr lang="vi-VN" dirty="0"/>
              <a:t>Một vấn đề khác là </a:t>
            </a:r>
            <a:r>
              <a:rPr lang="vi-VN" b="1" dirty="0"/>
              <a:t>obfuscation</a:t>
            </a:r>
            <a:r>
              <a:rPr lang="vi-VN" dirty="0"/>
              <a:t>, hay còn gọi là kỹ thuật làm rối mã.</a:t>
            </a:r>
          </a:p>
          <a:p>
            <a:r>
              <a:rPr lang="vi-VN" dirty="0"/>
              <a:t>Kẻ tấn công có thể thay đổi cách biểu diễn của malware nhưng vẫn giữ nguyên chức năng của nó. Điều này khiến việc phát hiện và phân loại malware trở nên khó khăn hơn.</a:t>
            </a:r>
          </a:p>
          <a:p>
            <a:r>
              <a:rPr lang="vi-VN" dirty="0"/>
              <a:t>Từ những vấn đề trên, hướng tiếp cận</a:t>
            </a:r>
            <a:r>
              <a:rPr lang="en-US" dirty="0"/>
              <a:t> </a:t>
            </a:r>
            <a:r>
              <a:rPr lang="en-US" dirty="0" err="1"/>
              <a:t>được</a:t>
            </a:r>
            <a:r>
              <a:rPr lang="en-US" dirty="0"/>
              <a:t> </a:t>
            </a:r>
            <a:r>
              <a:rPr lang="en-US" dirty="0" err="1"/>
              <a:t>đưa</a:t>
            </a:r>
            <a:r>
              <a:rPr lang="en-US" dirty="0"/>
              <a:t> </a:t>
            </a:r>
            <a:r>
              <a:rPr lang="en-US" dirty="0" err="1"/>
              <a:t>ra</a:t>
            </a:r>
            <a:r>
              <a:rPr lang="vi-VN" dirty="0"/>
              <a:t> là sử dụng </a:t>
            </a:r>
            <a:r>
              <a:rPr lang="vi-VN" b="1" dirty="0"/>
              <a:t>Generative AI</a:t>
            </a:r>
            <a:r>
              <a:rPr lang="vi-VN" dirty="0"/>
              <a:t>.</a:t>
            </a:r>
          </a:p>
          <a:p>
            <a:r>
              <a:rPr lang="vi-VN" dirty="0"/>
              <a:t>Thay vì chỉ phụ thuộc vào những malware mẫu đã thu thập được, mô hình sẽ học phân bố của dữ liệu malware hiện có, sau đó tạo ra những </a:t>
            </a:r>
            <a:r>
              <a:rPr lang="vi-VN" b="1" dirty="0"/>
              <a:t>synthetic samples</a:t>
            </a:r>
            <a:r>
              <a:rPr lang="vi-VN" dirty="0"/>
              <a:t>, tức là những mẫu dữ liệu tổng hợp.</a:t>
            </a:r>
          </a:p>
          <a:p>
            <a:r>
              <a:rPr lang="vi-VN" dirty="0"/>
              <a:t>Những mẫu này có thể được sử dụng để bổ sung vào tập huấn luyện, đặc biệt là cho những lớp malware có ít dữ liệu.”</a:t>
            </a:r>
          </a:p>
          <a:p>
            <a:r>
              <a:rPr lang="vi-VN" b="1" dirty="0"/>
              <a:t>Câu chuyển:</a:t>
            </a:r>
            <a:endParaRPr lang="vi-VN" dirty="0"/>
          </a:p>
          <a:p>
            <a:r>
              <a:rPr lang="vi-VN" dirty="0"/>
              <a:t>“Để có thể sinh dữ liệu, trước hết malware phải được chuyển sang một dạng dữ liệu mà mô hình Machine Learning có thể xử lý.”</a:t>
            </a:r>
          </a:p>
          <a:p>
            <a:endParaRPr lang="en-US" dirty="0"/>
          </a:p>
        </p:txBody>
      </p:sp>
      <p:sp>
        <p:nvSpPr>
          <p:cNvPr id="4" name="Slide Number Placeholder 3"/>
          <p:cNvSpPr>
            <a:spLocks noGrp="1"/>
          </p:cNvSpPr>
          <p:nvPr>
            <p:ph type="sldNum" sz="quarter" idx="10"/>
          </p:nvPr>
        </p:nvSpPr>
        <p:spPr/>
        <p:txBody>
          <a:bodyPr/>
          <a:lstStyle/>
          <a:p>
            <a:fld id="{F948FFC3-9481-4211-A1C4-A0413854C135}" type="slidenum">
              <a:rPr lang="en-US" smtClean="0"/>
              <a:t>3</a:t>
            </a:fld>
            <a:endParaRPr lang="en-US"/>
          </a:p>
        </p:txBody>
      </p:sp>
    </p:spTree>
    <p:extLst>
      <p:ext uri="{BB962C8B-B14F-4D97-AF65-F5344CB8AC3E}">
        <p14:creationId xmlns:p14="http://schemas.microsoft.com/office/powerpoint/2010/main" val="41977387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“Đây là quy trình tổng thể của phương pháp.</a:t>
            </a:r>
            <a:endParaRPr lang="en-US" dirty="0"/>
          </a:p>
          <a:p>
            <a:r>
              <a:rPr lang="en-US" sz="1200" kern="1200" dirty="0" err="1">
                <a:solidFill>
                  <a:schemeClr val="tx1"/>
                </a:solidFill>
                <a:effectLst/>
                <a:latin typeface="+mn-lt"/>
                <a:ea typeface="+mn-ea"/>
                <a:cs typeface="+mn-cs"/>
              </a:rPr>
              <a:t>luồng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bắt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đầu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việc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hành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bị</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nhiễm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bước</a:t>
            </a:r>
            <a:r>
              <a:rPr lang="en-US" sz="1200" kern="1200" dirty="0">
                <a:solidFill>
                  <a:schemeClr val="tx1"/>
                </a:solidFill>
                <a:effectLst/>
                <a:latin typeface="+mn-lt"/>
                <a:ea typeface="+mn-ea"/>
                <a:cs typeface="+mn-cs"/>
              </a:rPr>
              <a:t> Processing (</a:t>
            </a:r>
            <a:r>
              <a:rPr lang="en-US" sz="1200" kern="1200" dirty="0" err="1">
                <a:solidFill>
                  <a:schemeClr val="tx1"/>
                </a:solidFill>
                <a:effectLst/>
                <a:latin typeface="+mn-lt"/>
                <a:ea typeface="+mn-ea"/>
                <a:cs typeface="+mn-cs"/>
              </a:rPr>
              <a:t>tiền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lí</a:t>
            </a:r>
            <a:r>
              <a:rPr lang="en-US" sz="1200" kern="1200" dirty="0">
                <a:solidFill>
                  <a:schemeClr val="tx1"/>
                </a:solidFill>
                <a:effectLst/>
                <a:latin typeface="+mn-lt"/>
                <a:ea typeface="+mn-ea"/>
                <a:cs typeface="+mn-cs"/>
              </a:rPr>
              <a:t>). Các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lưu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trong</a:t>
            </a:r>
            <a:r>
              <a:rPr lang="en-US" sz="1200" kern="1200" dirty="0">
                <a:solidFill>
                  <a:schemeClr val="tx1"/>
                </a:solidFill>
                <a:effectLst/>
                <a:latin typeface="+mn-lt"/>
                <a:ea typeface="+mn-ea"/>
                <a:cs typeface="+mn-cs"/>
              </a:rPr>
              <a:t> DB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nhúng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đặc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nhận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biết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họ</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làm</a:t>
            </a:r>
            <a:r>
              <a:rPr lang="en-US" sz="1200" kern="1200" dirty="0">
                <a:solidFill>
                  <a:schemeClr val="tx1"/>
                </a:solidFill>
                <a:effectLst/>
                <a:latin typeface="+mn-lt"/>
                <a:ea typeface="+mn-ea"/>
                <a:cs typeface="+mn-cs"/>
              </a:rPr>
              <a:t> input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mô</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gen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GAN,WGAN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Diffusion. Sau </a:t>
            </a:r>
            <a:r>
              <a:rPr lang="en-US" sz="1200" kern="1200" dirty="0" err="1">
                <a:solidFill>
                  <a:schemeClr val="tx1"/>
                </a:solidFill>
                <a:effectLst/>
                <a:latin typeface="+mn-lt"/>
                <a:ea typeface="+mn-ea"/>
                <a:cs typeface="+mn-cs"/>
              </a:rPr>
              <a:t>khi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hoàn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tất</a:t>
            </a:r>
            <a:r>
              <a:rPr lang="en-US" sz="1200" kern="1200" dirty="0">
                <a:solidFill>
                  <a:schemeClr val="tx1"/>
                </a:solidFill>
                <a:effectLst/>
                <a:latin typeface="+mn-lt"/>
                <a:ea typeface="+mn-ea"/>
                <a:cs typeface="+mn-cs"/>
              </a:rPr>
              <a:t> train,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mô</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đầu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tổng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hợp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vector </a:t>
            </a:r>
            <a:r>
              <a:rPr lang="en-US" sz="1200" kern="1200" dirty="0" err="1">
                <a:solidFill>
                  <a:schemeClr val="tx1"/>
                </a:solidFill>
                <a:effectLst/>
                <a:latin typeface="+mn-lt"/>
                <a:ea typeface="+mn-ea"/>
                <a:cs typeface="+mn-cs"/>
              </a:rPr>
              <a:t>nhúng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độc</a:t>
            </a:r>
            <a:endParaRPr lang="vi-VN" dirty="0"/>
          </a:p>
          <a:p>
            <a:endParaRPr lang="en-US" dirty="0"/>
          </a:p>
        </p:txBody>
      </p:sp>
      <p:sp>
        <p:nvSpPr>
          <p:cNvPr id="4" name="Slide Number Placeholder 3"/>
          <p:cNvSpPr>
            <a:spLocks noGrp="1"/>
          </p:cNvSpPr>
          <p:nvPr>
            <p:ph type="sldNum" sz="quarter" idx="10"/>
          </p:nvPr>
        </p:nvSpPr>
        <p:spPr/>
        <p:txBody>
          <a:bodyPr/>
          <a:lstStyle/>
          <a:p>
            <a:fld id="{F948FFC3-9481-4211-A1C4-A0413854C135}" type="slidenum">
              <a:rPr lang="en-US" smtClean="0"/>
              <a:t>4</a:t>
            </a:fld>
            <a:endParaRPr lang="en-US"/>
          </a:p>
        </p:txBody>
      </p:sp>
    </p:spTree>
    <p:extLst>
      <p:ext uri="{BB962C8B-B14F-4D97-AF65-F5344CB8AC3E}">
        <p14:creationId xmlns:p14="http://schemas.microsoft.com/office/powerpoint/2010/main" val="24606504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“Để Generative AI có thể xử lý malware, </a:t>
            </a:r>
            <a:r>
              <a:rPr lang="en-US" dirty="0" err="1"/>
              <a:t>sẽ</a:t>
            </a:r>
            <a:r>
              <a:rPr lang="en-US" dirty="0"/>
              <a:t> </a:t>
            </a:r>
            <a:r>
              <a:rPr lang="vi-VN" dirty="0"/>
              <a:t>không đưa trực tiếp toàn bộ </a:t>
            </a:r>
            <a:r>
              <a:rPr lang="en-US" dirty="0"/>
              <a:t>file </a:t>
            </a:r>
            <a:r>
              <a:rPr lang="en-US" dirty="0" err="1"/>
              <a:t>nhị</a:t>
            </a:r>
            <a:r>
              <a:rPr lang="en-US" dirty="0"/>
              <a:t> </a:t>
            </a:r>
            <a:r>
              <a:rPr lang="en-US" dirty="0" err="1"/>
              <a:t>phân</a:t>
            </a:r>
            <a:r>
              <a:rPr lang="vi-VN" dirty="0"/>
              <a:t> vào mô hình.</a:t>
            </a:r>
            <a:endParaRPr lang="en-US" dirty="0"/>
          </a:p>
          <a:p>
            <a:endParaRPr lang="vi-VN" dirty="0"/>
          </a:p>
          <a:p>
            <a:r>
              <a:rPr lang="en-US" sz="1200" kern="1200" dirty="0" err="1">
                <a:solidFill>
                  <a:schemeClr val="tx1"/>
                </a:solidFill>
                <a:effectLst/>
                <a:latin typeface="+mn-lt"/>
                <a:ea typeface="+mn-ea"/>
                <a:cs typeface="+mn-cs"/>
              </a:rPr>
              <a:t>lấy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chuỗi</a:t>
            </a:r>
            <a:r>
              <a:rPr lang="en-US" sz="1200" kern="1200" dirty="0">
                <a:solidFill>
                  <a:schemeClr val="tx1"/>
                </a:solidFill>
                <a:effectLst/>
                <a:latin typeface="+mn-lt"/>
                <a:ea typeface="+mn-ea"/>
                <a:cs typeface="+mn-cs"/>
              </a:rPr>
              <a:t> opcode assembly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file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a:t>
            </a:r>
            <a:r>
              <a:rPr lang="en-US" sz="1200" kern="1200" dirty="0">
                <a:solidFill>
                  <a:schemeClr val="tx1"/>
                </a:solidFill>
                <a:effectLst/>
                <a:latin typeface="+mn-lt"/>
                <a:ea typeface="+mn-ea"/>
                <a:cs typeface="+mn-cs"/>
              </a:rPr>
              <a:t> </a:t>
            </a:r>
            <a:r>
              <a:rPr lang="vi-VN" dirty="0"/>
              <a:t>Ví dụ một đoạn mã có thể chứa những lệnh như:</a:t>
            </a:r>
          </a:p>
          <a:p>
            <a:r>
              <a:rPr lang="vi-VN" dirty="0"/>
              <a:t>mov, push, call, jmp...loại bỏ một số thông tin như </a:t>
            </a:r>
            <a:r>
              <a:rPr lang="vi-VN" b="1" dirty="0"/>
              <a:t>thanh ghi và địa chỉ</a:t>
            </a:r>
            <a:r>
              <a:rPr lang="vi-VN" dirty="0"/>
              <a:t>.</a:t>
            </a:r>
          </a:p>
          <a:p>
            <a:r>
              <a:rPr lang="vi-VN" dirty="0"/>
              <a:t>Lý do là những thông tin này có thể làm dữ liệu trở nên phức tạp hơn, trong khi mục tiêu của nghiên cứu là tập trung vào chuỗi lệnh.</a:t>
            </a:r>
            <a:endParaRPr lang="en-US" dirty="0"/>
          </a:p>
          <a:p>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dịch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ngược</a:t>
            </a:r>
            <a:r>
              <a:rPr lang="en-US" sz="1200" kern="1200" dirty="0">
                <a:solidFill>
                  <a:schemeClr val="tx1"/>
                </a:solidFill>
                <a:effectLst/>
                <a:latin typeface="+mn-lt"/>
                <a:ea typeface="+mn-ea"/>
                <a:cs typeface="+mn-cs"/>
              </a:rPr>
              <a:t>  file </a:t>
            </a:r>
            <a:r>
              <a:rPr lang="en-US" sz="1200" kern="1200" dirty="0" err="1">
                <a:solidFill>
                  <a:schemeClr val="tx1"/>
                </a:solidFill>
                <a:effectLst/>
                <a:latin typeface="+mn-lt"/>
                <a:ea typeface="+mn-ea"/>
                <a:cs typeface="+mn-cs"/>
              </a:rPr>
              <a:t>nhị</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phân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thành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mã</a:t>
            </a:r>
            <a:r>
              <a:rPr lang="en-US" sz="1200" kern="1200" dirty="0">
                <a:solidFill>
                  <a:schemeClr val="tx1"/>
                </a:solidFill>
                <a:effectLst/>
                <a:latin typeface="+mn-lt"/>
                <a:ea typeface="+mn-ea"/>
                <a:cs typeface="+mn-cs"/>
              </a:rPr>
              <a:t> assembly,  </a:t>
            </a:r>
            <a:r>
              <a:rPr lang="en-US" sz="1200" kern="1200" dirty="0" err="1">
                <a:solidFill>
                  <a:schemeClr val="tx1"/>
                </a:solidFill>
                <a:effectLst/>
                <a:latin typeface="+mn-lt"/>
                <a:ea typeface="+mn-ea"/>
                <a:cs typeface="+mn-cs"/>
              </a:rPr>
              <a:t>dùng</a:t>
            </a:r>
            <a:r>
              <a:rPr lang="en-US" sz="1200"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objdump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chương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dòng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lệnh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thuộc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bộ</a:t>
            </a:r>
            <a:r>
              <a:rPr lang="en-US" sz="1200" kern="1200" dirty="0">
                <a:solidFill>
                  <a:schemeClr val="tx1"/>
                </a:solidFill>
                <a:effectLst/>
                <a:latin typeface="+mn-lt"/>
                <a:ea typeface="+mn-ea"/>
                <a:cs typeface="+mn-cs"/>
              </a:rPr>
              <a:t> GNU Binary Utilities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Unix. Sau </a:t>
            </a:r>
            <a:r>
              <a:rPr lang="en-US" sz="1200" kern="1200" dirty="0" err="1">
                <a:solidFill>
                  <a:schemeClr val="tx1"/>
                </a:solidFill>
                <a:effectLst/>
                <a:latin typeface="+mn-lt"/>
                <a:ea typeface="+mn-ea"/>
                <a:cs typeface="+mn-cs"/>
              </a:rPr>
              <a:t>đó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script Python </a:t>
            </a:r>
            <a:r>
              <a:rPr lang="en-US" sz="1200" kern="1200" dirty="0" err="1">
                <a:solidFill>
                  <a:schemeClr val="tx1"/>
                </a:solidFill>
                <a:effectLst/>
                <a:latin typeface="+mn-lt"/>
                <a:ea typeface="+mn-ea"/>
                <a:cs typeface="+mn-cs"/>
              </a:rPr>
              <a:t>xử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lý</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mã</a:t>
            </a:r>
            <a:r>
              <a:rPr lang="en-US" sz="1200" kern="1200" dirty="0">
                <a:solidFill>
                  <a:schemeClr val="tx1"/>
                </a:solidFill>
                <a:effectLst/>
                <a:latin typeface="+mn-lt"/>
                <a:ea typeface="+mn-ea"/>
                <a:cs typeface="+mn-cs"/>
              </a:rPr>
              <a:t> assembly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loại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bỏ</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thông</a:t>
            </a:r>
            <a:r>
              <a:rPr lang="en-US" sz="1200" kern="1200" dirty="0">
                <a:solidFill>
                  <a:schemeClr val="tx1"/>
                </a:solidFill>
                <a:effectLst/>
                <a:latin typeface="+mn-lt"/>
                <a:ea typeface="+mn-ea"/>
                <a:cs typeface="+mn-cs"/>
              </a:rPr>
              <a:t> tin </a:t>
            </a:r>
            <a:r>
              <a:rPr lang="en-US" sz="1200" kern="1200" dirty="0" err="1">
                <a:solidFill>
                  <a:schemeClr val="tx1"/>
                </a:solidFill>
                <a:effectLst/>
                <a:latin typeface="+mn-lt"/>
                <a:ea typeface="+mn-ea"/>
                <a:cs typeface="+mn-cs"/>
              </a:rPr>
              <a:t>như</a:t>
            </a:r>
            <a:r>
              <a:rPr lang="en-US" sz="1200"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thanh</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ghi</a:t>
            </a:r>
            <a:r>
              <a:rPr lang="en-US" sz="1200" b="1" kern="1200" dirty="0">
                <a:solidFill>
                  <a:schemeClr val="tx1"/>
                </a:solidFill>
                <a:effectLst/>
                <a:latin typeface="+mn-lt"/>
                <a:ea typeface="+mn-ea"/>
                <a:cs typeface="+mn-cs"/>
              </a:rPr>
              <a:t> (registers), </a:t>
            </a:r>
            <a:r>
              <a:rPr lang="en-US" sz="1200" b="1" kern="1200" dirty="0" err="1">
                <a:solidFill>
                  <a:schemeClr val="tx1"/>
                </a:solidFill>
                <a:effectLst/>
                <a:latin typeface="+mn-lt"/>
                <a:ea typeface="+mn-ea"/>
                <a:cs typeface="+mn-cs"/>
              </a:rPr>
              <a:t>nhãn</a:t>
            </a:r>
            <a:r>
              <a:rPr lang="en-US" sz="1200" b="1" kern="1200" dirty="0">
                <a:solidFill>
                  <a:schemeClr val="tx1"/>
                </a:solidFill>
                <a:effectLst/>
                <a:latin typeface="+mn-lt"/>
                <a:ea typeface="+mn-ea"/>
                <a:cs typeface="+mn-cs"/>
              </a:rPr>
              <a:t> (labels) </a:t>
            </a:r>
            <a:r>
              <a:rPr lang="en-US" sz="1200" b="1" kern="1200" dirty="0" err="1">
                <a:solidFill>
                  <a:schemeClr val="tx1"/>
                </a:solidFill>
                <a:effectLst/>
                <a:latin typeface="+mn-lt"/>
                <a:ea typeface="+mn-ea"/>
                <a:cs typeface="+mn-cs"/>
              </a:rPr>
              <a:t>và</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địa</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chỉ</a:t>
            </a:r>
            <a:r>
              <a:rPr lang="en-US" sz="1200" b="1" kern="1200" dirty="0">
                <a:solidFill>
                  <a:schemeClr val="tx1"/>
                </a:solidFill>
                <a:effectLst/>
                <a:latin typeface="+mn-lt"/>
                <a:ea typeface="+mn-ea"/>
                <a:cs typeface="+mn-cs"/>
              </a:rPr>
              <a:t> (addresses)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lại</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opcode</a:t>
            </a:r>
            <a:r>
              <a:rPr lang="en-US" sz="1200" kern="1200" dirty="0">
                <a:solidFill>
                  <a:schemeClr val="tx1"/>
                </a:solidFill>
                <a:effectLst/>
                <a:latin typeface="+mn-lt"/>
                <a:ea typeface="+mn-ea"/>
                <a:cs typeface="+mn-cs"/>
              </a:rPr>
              <a:t>. Các file opcode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đầu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mô</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NLP</a:t>
            </a:r>
            <a:endParaRPr lang="vi-VN" dirty="0"/>
          </a:p>
        </p:txBody>
      </p:sp>
      <p:sp>
        <p:nvSpPr>
          <p:cNvPr id="4" name="Slide Number Placeholder 3"/>
          <p:cNvSpPr>
            <a:spLocks noGrp="1"/>
          </p:cNvSpPr>
          <p:nvPr>
            <p:ph type="sldNum" sz="quarter" idx="10"/>
          </p:nvPr>
        </p:nvSpPr>
        <p:spPr/>
        <p:txBody>
          <a:bodyPr/>
          <a:lstStyle/>
          <a:p>
            <a:fld id="{F948FFC3-9481-4211-A1C4-A0413854C135}" type="slidenum">
              <a:rPr lang="en-US" smtClean="0"/>
              <a:t>5</a:t>
            </a:fld>
            <a:endParaRPr lang="en-US"/>
          </a:p>
        </p:txBody>
      </p:sp>
    </p:spTree>
    <p:extLst>
      <p:ext uri="{BB962C8B-B14F-4D97-AF65-F5344CB8AC3E}">
        <p14:creationId xmlns:p14="http://schemas.microsoft.com/office/powerpoint/2010/main" val="27027359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823DC-1B10-4A37-81EB-A0FEAA7E98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146184-396B-F1F2-9CC7-563A3CBEE1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D4F83-649F-2C19-5994-BBADCA42345C}"/>
              </a:ext>
            </a:extLst>
          </p:cNvPr>
          <p:cNvSpPr>
            <a:spLocks noGrp="1"/>
          </p:cNvSpPr>
          <p:nvPr>
            <p:ph type="body" idx="1"/>
          </p:nvPr>
        </p:nvSpPr>
        <p:spPr/>
        <p:txBody>
          <a:bodyPr/>
          <a:lstStyle/>
          <a:p>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chuỗi</a:t>
            </a:r>
            <a:r>
              <a:rPr lang="en-US" sz="1200" kern="1200" dirty="0">
                <a:solidFill>
                  <a:schemeClr val="tx1"/>
                </a:solidFill>
                <a:effectLst/>
                <a:latin typeface="+mn-lt"/>
                <a:ea typeface="+mn-ea"/>
                <a:cs typeface="+mn-cs"/>
              </a:rPr>
              <a:t> opcode </a:t>
            </a:r>
            <a:r>
              <a:rPr lang="en-US" sz="1200" kern="1200" dirty="0" err="1">
                <a:solidFill>
                  <a:schemeClr val="tx1"/>
                </a:solidFill>
                <a:effectLst/>
                <a:latin typeface="+mn-lt"/>
                <a:ea typeface="+mn-ea"/>
                <a:cs typeface="+mn-cs"/>
              </a:rPr>
              <a:t>đã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nhóm</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token </a:t>
            </a:r>
            <a:r>
              <a:rPr lang="en-US" sz="1200" b="1" kern="1200" dirty="0" err="1">
                <a:solidFill>
                  <a:schemeClr val="tx1"/>
                </a:solidFill>
                <a:effectLst/>
                <a:latin typeface="+mn-lt"/>
                <a:ea typeface="+mn-ea"/>
                <a:cs typeface="+mn-cs"/>
              </a:rPr>
              <a:t>hóa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từng</a:t>
            </a:r>
            <a:r>
              <a:rPr lang="en-US" sz="1200" kern="1200" dirty="0">
                <a:solidFill>
                  <a:schemeClr val="tx1"/>
                </a:solidFill>
                <a:effectLst/>
                <a:latin typeface="+mn-lt"/>
                <a:ea typeface="+mn-ea"/>
                <a:cs typeface="+mn-cs"/>
              </a:rPr>
              <a:t> opcode. </a:t>
            </a:r>
            <a:r>
              <a:rPr lang="en-US" sz="1200" kern="1200" dirty="0" err="1">
                <a:solidFill>
                  <a:schemeClr val="tx1"/>
                </a:solidFill>
                <a:effectLst/>
                <a:latin typeface="+mn-lt"/>
                <a:ea typeface="+mn-ea"/>
                <a:cs typeface="+mn-cs"/>
              </a:rPr>
              <a:t>Dùng</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Word2Vec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chuyển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opcode </a:t>
            </a:r>
            <a:r>
              <a:rPr lang="en-US" sz="1200" kern="1200" dirty="0" err="1">
                <a:solidFill>
                  <a:schemeClr val="tx1"/>
                </a:solidFill>
                <a:effectLst/>
                <a:latin typeface="+mn-lt"/>
                <a:ea typeface="+mn-ea"/>
                <a:cs typeface="+mn-cs"/>
              </a:rPr>
              <a:t>đã</a:t>
            </a:r>
            <a:r>
              <a:rPr lang="en-US" sz="1200" kern="1200" dirty="0">
                <a:solidFill>
                  <a:schemeClr val="tx1"/>
                </a:solidFill>
                <a:effectLst/>
                <a:latin typeface="+mn-lt"/>
                <a:ea typeface="+mn-ea"/>
                <a:cs typeface="+mn-cs"/>
              </a:rPr>
              <a:t> token </a:t>
            </a:r>
            <a:r>
              <a:rPr lang="en-US" sz="1200" kern="1200" dirty="0" err="1">
                <a:solidFill>
                  <a:schemeClr val="tx1"/>
                </a:solidFill>
                <a:effectLst/>
                <a:latin typeface="+mn-lt"/>
                <a:ea typeface="+mn-ea"/>
                <a:cs typeface="+mn-cs"/>
              </a:rPr>
              <a:t>hóa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thành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vectơ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số</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mỗi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vectơ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biểu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diễn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opcode </a:t>
            </a:r>
          </a:p>
          <a:p>
            <a:r>
              <a:rPr lang="en-US" sz="1200" kern="1200" dirty="0" err="1">
                <a:solidFill>
                  <a:schemeClr val="tx1"/>
                </a:solidFill>
                <a:effectLst/>
                <a:latin typeface="+mn-lt"/>
                <a:ea typeface="+mn-ea"/>
                <a:cs typeface="+mn-cs"/>
              </a:rPr>
              <a:t>Vì</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số</a:t>
            </a:r>
            <a:r>
              <a:rPr lang="en-US" sz="1200" kern="1200" dirty="0">
                <a:solidFill>
                  <a:schemeClr val="tx1"/>
                </a:solidFill>
                <a:effectLst/>
                <a:latin typeface="+mn-lt"/>
                <a:ea typeface="+mn-ea"/>
                <a:cs typeface="+mn-cs"/>
              </a:rPr>
              <a:t> opcode </a:t>
            </a:r>
            <a:r>
              <a:rPr lang="en-US" sz="1200" kern="1200" dirty="0" err="1">
                <a:solidFill>
                  <a:schemeClr val="tx1"/>
                </a:solidFill>
                <a:effectLst/>
                <a:latin typeface="+mn-lt"/>
                <a:ea typeface="+mn-ea"/>
                <a:cs typeface="+mn-cs"/>
              </a:rPr>
              <a:t>mỗi</a:t>
            </a:r>
            <a:r>
              <a:rPr lang="en-US" sz="1200" kern="1200" dirty="0">
                <a:solidFill>
                  <a:schemeClr val="tx1"/>
                </a:solidFill>
                <a:effectLst/>
                <a:latin typeface="+mn-lt"/>
                <a:ea typeface="+mn-ea"/>
                <a:cs typeface="+mn-cs"/>
              </a:rPr>
              <a:t> file </a:t>
            </a:r>
            <a:r>
              <a:rPr lang="en-US" sz="1200" kern="1200" dirty="0" err="1">
                <a:solidFill>
                  <a:schemeClr val="tx1"/>
                </a:solidFill>
                <a:effectLst/>
                <a:latin typeface="+mn-lt"/>
                <a:ea typeface="+mn-ea"/>
                <a:cs typeface="+mn-cs"/>
              </a:rPr>
              <a:t>thay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đổi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vector </a:t>
            </a:r>
            <a:r>
              <a:rPr lang="en-US" sz="1200" kern="1200" dirty="0" err="1">
                <a:solidFill>
                  <a:schemeClr val="tx1"/>
                </a:solidFill>
                <a:effectLst/>
                <a:latin typeface="+mn-lt"/>
                <a:ea typeface="+mn-ea"/>
                <a:cs typeface="+mn-cs"/>
              </a:rPr>
              <a:t>nhúng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nhóm</a:t>
            </a:r>
            <a:r>
              <a:rPr lang="en-US" sz="1200"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lấy</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trung</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bình</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tất</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cả</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vectơ</a:t>
            </a:r>
            <a:r>
              <a:rPr lang="en-US" sz="1200" b="1" kern="1200" dirty="0">
                <a:solidFill>
                  <a:schemeClr val="tx1"/>
                </a:solidFill>
                <a:effectLst/>
                <a:latin typeface="+mn-lt"/>
                <a:ea typeface="+mn-ea"/>
                <a:cs typeface="+mn-cs"/>
              </a:rPr>
              <a:t> opcode </a:t>
            </a:r>
            <a:r>
              <a:rPr lang="en-US" sz="1200" b="1" kern="1200" dirty="0" err="1">
                <a:solidFill>
                  <a:schemeClr val="tx1"/>
                </a:solidFill>
                <a:effectLst/>
                <a:latin typeface="+mn-lt"/>
                <a:ea typeface="+mn-ea"/>
                <a:cs typeface="+mn-cs"/>
              </a:rPr>
              <a:t>trong</a:t>
            </a:r>
            <a:r>
              <a:rPr lang="en-US" sz="1200" b="1" kern="1200" dirty="0">
                <a:solidFill>
                  <a:schemeClr val="tx1"/>
                </a:solidFill>
                <a:effectLst/>
                <a:latin typeface="+mn-lt"/>
                <a:ea typeface="+mn-ea"/>
                <a:cs typeface="+mn-cs"/>
              </a:rPr>
              <a:t> file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vector </a:t>
            </a:r>
            <a:r>
              <a:rPr lang="en-US" sz="1200" kern="1200" dirty="0" err="1">
                <a:solidFill>
                  <a:schemeClr val="tx1"/>
                </a:solidFill>
                <a:effectLst/>
                <a:latin typeface="+mn-lt"/>
                <a:ea typeface="+mn-ea"/>
                <a:cs typeface="+mn-cs"/>
              </a:rPr>
              <a:t>nhúng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duy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mỗi</a:t>
            </a:r>
            <a:r>
              <a:rPr lang="en-US" sz="1200" kern="1200" dirty="0">
                <a:solidFill>
                  <a:schemeClr val="tx1"/>
                </a:solidFill>
                <a:effectLst/>
                <a:latin typeface="+mn-lt"/>
                <a:ea typeface="+mn-ea"/>
                <a:cs typeface="+mn-cs"/>
              </a:rPr>
              <a:t> file</a:t>
            </a:r>
            <a:endParaRPr lang="en-US" dirty="0"/>
          </a:p>
        </p:txBody>
      </p:sp>
      <p:sp>
        <p:nvSpPr>
          <p:cNvPr id="4" name="Slide Number Placeholder 3">
            <a:extLst>
              <a:ext uri="{FF2B5EF4-FFF2-40B4-BE49-F238E27FC236}">
                <a16:creationId xmlns:a16="http://schemas.microsoft.com/office/drawing/2014/main" id="{72188F9E-1E80-F2EE-4F69-C23E27D0982C}"/>
              </a:ext>
            </a:extLst>
          </p:cNvPr>
          <p:cNvSpPr>
            <a:spLocks noGrp="1"/>
          </p:cNvSpPr>
          <p:nvPr>
            <p:ph type="sldNum" sz="quarter" idx="10"/>
          </p:nvPr>
        </p:nvSpPr>
        <p:spPr/>
        <p:txBody>
          <a:bodyPr/>
          <a:lstStyle/>
          <a:p>
            <a:fld id="{F948FFC3-9481-4211-A1C4-A0413854C135}" type="slidenum">
              <a:rPr lang="en-US" smtClean="0"/>
              <a:t>6</a:t>
            </a:fld>
            <a:endParaRPr lang="en-US"/>
          </a:p>
        </p:txBody>
      </p:sp>
    </p:spTree>
    <p:extLst>
      <p:ext uri="{BB962C8B-B14F-4D97-AF65-F5344CB8AC3E}">
        <p14:creationId xmlns:p14="http://schemas.microsoft.com/office/powerpoint/2010/main" val="13819663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CEE6F-C67A-CE32-9234-34785C2053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A579B0-C1F7-A356-7462-D1F914D467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3B800E-9519-A72B-85CD-9A849D1B554B}"/>
              </a:ext>
            </a:extLst>
          </p:cNvPr>
          <p:cNvSpPr>
            <a:spLocks noGrp="1"/>
          </p:cNvSpPr>
          <p:nvPr>
            <p:ph type="body" idx="1"/>
          </p:nvPr>
        </p:nvSpPr>
        <p:spPr/>
        <p:txBody>
          <a:bodyPr/>
          <a:lstStyle/>
          <a:p>
            <a:pPr lvl="0"/>
            <a:r>
              <a:rPr lang="en-US" sz="1200" b="1" kern="1200" dirty="0" err="1">
                <a:solidFill>
                  <a:schemeClr val="tx1"/>
                </a:solidFill>
                <a:effectLst/>
                <a:latin typeface="+mn-lt"/>
                <a:ea typeface="+mn-ea"/>
                <a:cs typeface="+mn-cs"/>
              </a:rPr>
              <a:t>Chọn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số</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chiều</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tối</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ưu</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thực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phân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loại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lớp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vector </a:t>
            </a:r>
            <a:r>
              <a:rPr lang="en-US" sz="1200" kern="1200" dirty="0" err="1">
                <a:solidFill>
                  <a:schemeClr val="tx1"/>
                </a:solidFill>
                <a:effectLst/>
                <a:latin typeface="+mn-lt"/>
                <a:ea typeface="+mn-ea"/>
                <a:cs typeface="+mn-cs"/>
              </a:rPr>
              <a:t>biểu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diễn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thật</a:t>
            </a:r>
            <a:r>
              <a:rPr lang="en-US" sz="1200" kern="1200" dirty="0">
                <a:solidFill>
                  <a:schemeClr val="tx1"/>
                </a:solidFill>
                <a:effectLst/>
                <a:latin typeface="+mn-lt"/>
                <a:ea typeface="+mn-ea"/>
                <a:cs typeface="+mn-cs"/>
              </a:rPr>
              <a:t>(real embedding)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64, 104, 128 </a:t>
            </a:r>
            <a:r>
              <a:rPr lang="en-US" sz="1200" kern="1200" dirty="0" err="1">
                <a:solidFill>
                  <a:schemeClr val="tx1"/>
                </a:solidFill>
                <a:effectLst/>
                <a:latin typeface="+mn-lt"/>
                <a:ea typeface="+mn-ea"/>
                <a:cs typeface="+mn-cs"/>
              </a:rPr>
              <a:t>chiều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đánh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bằng</a:t>
            </a:r>
            <a:r>
              <a:rPr lang="en-US" sz="1200" kern="1200" dirty="0">
                <a:solidFill>
                  <a:schemeClr val="tx1"/>
                </a:solidFill>
                <a:effectLst/>
                <a:latin typeface="+mn-lt"/>
                <a:ea typeface="+mn-ea"/>
                <a:cs typeface="+mn-cs"/>
              </a:rPr>
              <a:t> F1 (F1 </a:t>
            </a:r>
            <a:r>
              <a:rPr lang="en-US" sz="1200" kern="1200" dirty="0" err="1">
                <a:solidFill>
                  <a:schemeClr val="tx1"/>
                </a:solidFill>
                <a:effectLst/>
                <a:latin typeface="+mn-lt"/>
                <a:ea typeface="+mn-ea"/>
                <a:cs typeface="+mn-cs"/>
              </a:rPr>
              <a:t>cao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hơn</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phân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loại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họ</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tốt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hơn</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Table 3:</a:t>
            </a:r>
            <a:r>
              <a:rPr lang="en-US" sz="1200" kern="1200" dirty="0">
                <a:solidFill>
                  <a:schemeClr val="tx1"/>
                </a:solidFill>
                <a:effectLst/>
                <a:latin typeface="+mn-lt"/>
                <a:ea typeface="+mn-ea"/>
                <a:cs typeface="+mn-cs"/>
              </a:rPr>
              <a:t> 64 </a:t>
            </a:r>
            <a:r>
              <a:rPr lang="en-US" sz="1200" kern="1200" dirty="0" err="1">
                <a:solidFill>
                  <a:schemeClr val="tx1"/>
                </a:solidFill>
                <a:effectLst/>
                <a:latin typeface="+mn-lt"/>
                <a:ea typeface="+mn-ea"/>
                <a:cs typeface="+mn-cs"/>
              </a:rPr>
              <a:t>chiều</a:t>
            </a:r>
            <a:r>
              <a:rPr lang="en-US" sz="1200" kern="1200" dirty="0">
                <a:solidFill>
                  <a:schemeClr val="tx1"/>
                </a:solidFill>
                <a:effectLst/>
                <a:latin typeface="+mn-lt"/>
                <a:ea typeface="+mn-ea"/>
                <a:cs typeface="+mn-cs"/>
              </a:rPr>
              <a:t> → F1 0.928; </a:t>
            </a:r>
            <a:r>
              <a:rPr lang="en-US" sz="1200" b="1" kern="1200" dirty="0">
                <a:solidFill>
                  <a:schemeClr val="tx1"/>
                </a:solidFill>
                <a:effectLst/>
                <a:latin typeface="+mn-lt"/>
                <a:ea typeface="+mn-ea"/>
                <a:cs typeface="+mn-cs"/>
              </a:rPr>
              <a:t>104 </a:t>
            </a:r>
            <a:r>
              <a:rPr lang="en-US" sz="1200" b="1" kern="1200" dirty="0" err="1">
                <a:solidFill>
                  <a:schemeClr val="tx1"/>
                </a:solidFill>
                <a:effectLst/>
                <a:latin typeface="+mn-lt"/>
                <a:ea typeface="+mn-ea"/>
                <a:cs typeface="+mn-cs"/>
              </a:rPr>
              <a:t>chiều</a:t>
            </a:r>
            <a:r>
              <a:rPr lang="en-US" sz="1200" b="1" kern="1200" dirty="0">
                <a:solidFill>
                  <a:schemeClr val="tx1"/>
                </a:solidFill>
                <a:effectLst/>
                <a:latin typeface="+mn-lt"/>
                <a:ea typeface="+mn-ea"/>
                <a:cs typeface="+mn-cs"/>
              </a:rPr>
              <a:t> → 0.932 (</a:t>
            </a:r>
            <a:r>
              <a:rPr lang="en-US" sz="1200" b="1" kern="1200" dirty="0" err="1">
                <a:solidFill>
                  <a:schemeClr val="tx1"/>
                </a:solidFill>
                <a:effectLst/>
                <a:latin typeface="+mn-lt"/>
                <a:ea typeface="+mn-ea"/>
                <a:cs typeface="+mn-cs"/>
              </a:rPr>
              <a:t>cao</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nhất</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128 </a:t>
            </a:r>
            <a:r>
              <a:rPr lang="en-US" sz="1200" kern="1200" dirty="0" err="1">
                <a:solidFill>
                  <a:schemeClr val="tx1"/>
                </a:solidFill>
                <a:effectLst/>
                <a:latin typeface="+mn-lt"/>
                <a:ea typeface="+mn-ea"/>
                <a:cs typeface="+mn-cs"/>
              </a:rPr>
              <a:t>chiều</a:t>
            </a:r>
            <a:r>
              <a:rPr lang="en-US" sz="1200" kern="1200" dirty="0">
                <a:solidFill>
                  <a:schemeClr val="tx1"/>
                </a:solidFill>
                <a:effectLst/>
                <a:latin typeface="+mn-lt"/>
                <a:ea typeface="+mn-ea"/>
                <a:cs typeface="+mn-cs"/>
              </a:rPr>
              <a:t> → 0.915. Do </a:t>
            </a:r>
            <a:r>
              <a:rPr lang="en-US" sz="1200" kern="1200" dirty="0" err="1">
                <a:solidFill>
                  <a:schemeClr val="tx1"/>
                </a:solidFill>
                <a:effectLst/>
                <a:latin typeface="+mn-lt"/>
                <a:ea typeface="+mn-ea"/>
                <a:cs typeface="+mn-cs"/>
              </a:rPr>
              <a:t>đó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chọn</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104 </a:t>
            </a:r>
            <a:r>
              <a:rPr lang="en-US" sz="1200" b="1" kern="1200" dirty="0" err="1">
                <a:solidFill>
                  <a:schemeClr val="tx1"/>
                </a:solidFill>
                <a:effectLst/>
                <a:latin typeface="+mn-lt"/>
                <a:ea typeface="+mn-ea"/>
                <a:cs typeface="+mn-cs"/>
              </a:rPr>
              <a:t>chiều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mọi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mô</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GenAI</a:t>
            </a:r>
          </a:p>
        </p:txBody>
      </p:sp>
      <p:sp>
        <p:nvSpPr>
          <p:cNvPr id="4" name="Slide Number Placeholder 3">
            <a:extLst>
              <a:ext uri="{FF2B5EF4-FFF2-40B4-BE49-F238E27FC236}">
                <a16:creationId xmlns:a16="http://schemas.microsoft.com/office/drawing/2014/main" id="{ACDA3557-7E47-DA06-3B64-B3910E428307}"/>
              </a:ext>
            </a:extLst>
          </p:cNvPr>
          <p:cNvSpPr>
            <a:spLocks noGrp="1"/>
          </p:cNvSpPr>
          <p:nvPr>
            <p:ph type="sldNum" sz="quarter" idx="10"/>
          </p:nvPr>
        </p:nvSpPr>
        <p:spPr/>
        <p:txBody>
          <a:bodyPr/>
          <a:lstStyle/>
          <a:p>
            <a:fld id="{F948FFC3-9481-4211-A1C4-A0413854C135}" type="slidenum">
              <a:rPr lang="en-US" smtClean="0"/>
              <a:t>7</a:t>
            </a:fld>
            <a:endParaRPr lang="en-US"/>
          </a:p>
        </p:txBody>
      </p:sp>
    </p:spTree>
    <p:extLst>
      <p:ext uri="{BB962C8B-B14F-4D97-AF65-F5344CB8AC3E}">
        <p14:creationId xmlns:p14="http://schemas.microsoft.com/office/powerpoint/2010/main" val="8228501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“Trong nghiên cứu này, nhóm tác giả so sánh ba phương pháp sinh dữ liệu là </a:t>
            </a:r>
            <a:r>
              <a:rPr lang="vi-VN" b="1" dirty="0"/>
              <a:t>GAN, WGAN-GP và Diffusion</a:t>
            </a:r>
            <a:r>
              <a:rPr lang="vi-VN" dirty="0"/>
              <a:t>.</a:t>
            </a:r>
          </a:p>
          <a:p>
            <a:r>
              <a:rPr lang="vi-VN" dirty="0"/>
              <a:t>Đầu tiên là </a:t>
            </a:r>
            <a:r>
              <a:rPr lang="vi-VN" b="1" dirty="0"/>
              <a:t>GAN – Generative Adversarial Network</a:t>
            </a:r>
            <a:r>
              <a:rPr lang="vi-VN" dirty="0"/>
              <a:t>.</a:t>
            </a:r>
          </a:p>
          <a:p>
            <a:r>
              <a:rPr lang="vi-VN" dirty="0"/>
              <a:t>GAN gồm hai thành phần chính là </a:t>
            </a:r>
            <a:r>
              <a:rPr lang="vi-VN" b="1" dirty="0"/>
              <a:t>Generator</a:t>
            </a:r>
            <a:r>
              <a:rPr lang="vi-VN" dirty="0"/>
              <a:t> và </a:t>
            </a:r>
            <a:r>
              <a:rPr lang="vi-VN" b="1" dirty="0"/>
              <a:t>Discriminator</a:t>
            </a:r>
            <a:r>
              <a:rPr lang="vi-VN" dirty="0"/>
              <a:t>.</a:t>
            </a:r>
          </a:p>
          <a:p>
            <a:r>
              <a:rPr lang="vi-VN" dirty="0"/>
              <a:t>Generator có nhiệm vụ tạo ra malware embedding giả.</a:t>
            </a:r>
          </a:p>
          <a:p>
            <a:r>
              <a:rPr lang="vi-VN" dirty="0"/>
              <a:t>Discriminator có nhiệm vụ phân biệt embedding thật và embedding do Generator tạo ra.</a:t>
            </a:r>
          </a:p>
          <a:p>
            <a:r>
              <a:rPr lang="vi-VN" dirty="0"/>
              <a:t>Hai thành phần này cạnh tranh với nhau trong quá trình huấn luyện.</a:t>
            </a:r>
          </a:p>
          <a:p>
            <a:r>
              <a:rPr lang="vi-VN" dirty="0"/>
              <a:t>Generator càng tạo dữ liệu giống thật thì càng khó để Discriminator phân biệt.</a:t>
            </a:r>
          </a:p>
          <a:p>
            <a:r>
              <a:rPr lang="vi-VN" dirty="0"/>
              <a:t>Các mẫu trong quá trình huấn luyện chủ yếu được sử dụng để cập nhật trọng số của mô hình. Sau khi Generator học được phân bố dữ liệu, chúng ta mới sử dụng Generator để sinh ra nhiều mẫu tổng hợp.</a:t>
            </a:r>
          </a:p>
          <a:p>
            <a:r>
              <a:rPr lang="vi-VN" dirty="0"/>
              <a:t>Tiếp theo là </a:t>
            </a:r>
            <a:r>
              <a:rPr lang="vi-VN" b="1" dirty="0"/>
              <a:t>WGAN-GP</a:t>
            </a:r>
            <a:r>
              <a:rPr lang="vi-VN" dirty="0"/>
              <a:t>.</a:t>
            </a:r>
          </a:p>
          <a:p>
            <a:r>
              <a:rPr lang="vi-VN" dirty="0"/>
              <a:t>Đây là một biến thể của GAN nhằm cải thiện độ ổn định của quá trình huấn luyện.</a:t>
            </a:r>
          </a:p>
          <a:p>
            <a:r>
              <a:rPr lang="vi-VN" dirty="0"/>
              <a:t>WGAN sử dụng </a:t>
            </a:r>
            <a:r>
              <a:rPr lang="vi-VN" b="1" dirty="0"/>
              <a:t>Wasserstein distance</a:t>
            </a:r>
            <a:r>
              <a:rPr lang="vi-VN" dirty="0"/>
              <a:t> để đo khoảng cách giữa phân phối dữ liệu thật và dữ liệu sinh ra. Sau đó, WGAN-GP bổ sung </a:t>
            </a:r>
            <a:r>
              <a:rPr lang="vi-VN" b="1" dirty="0"/>
              <a:t>Gradient Penalty</a:t>
            </a:r>
            <a:r>
              <a:rPr lang="vi-VN" dirty="0"/>
              <a:t> để giúp việc huấn luyện ổn định hơn.</a:t>
            </a:r>
          </a:p>
          <a:p>
            <a:r>
              <a:rPr lang="vi-VN" dirty="0"/>
              <a:t>Thành phần đánh giá trong WGAN-GP thường được gọi là </a:t>
            </a:r>
            <a:r>
              <a:rPr lang="vi-VN" b="1" dirty="0"/>
              <a:t>Critic</a:t>
            </a:r>
            <a:r>
              <a:rPr lang="vi-VN" dirty="0"/>
              <a:t> thay vì Discriminator.</a:t>
            </a:r>
          </a:p>
          <a:p>
            <a:r>
              <a:rPr lang="vi-VN" dirty="0"/>
              <a:t>Cuối cùng là </a:t>
            </a:r>
            <a:r>
              <a:rPr lang="vi-VN" b="1" dirty="0"/>
              <a:t>Diffusion</a:t>
            </a:r>
            <a:r>
              <a:rPr lang="vi-VN" dirty="0"/>
              <a:t>.</a:t>
            </a:r>
          </a:p>
          <a:p>
            <a:r>
              <a:rPr lang="vi-VN" dirty="0"/>
              <a:t>Diffusion có cách tiếp cận khác với GAN.</a:t>
            </a:r>
          </a:p>
          <a:p>
            <a:r>
              <a:rPr lang="vi-VN" dirty="0"/>
              <a:t>Mô hình bắt đầu bằng việc thêm nhiễu vào dữ liệu theo nhiều bước, sau đó học quá trình ngược để loại bỏ nhiễu.</a:t>
            </a:r>
          </a:p>
          <a:p>
            <a:r>
              <a:rPr lang="vi-VN" dirty="0"/>
              <a:t>Có thể hình dung:</a:t>
            </a:r>
          </a:p>
          <a:p>
            <a:r>
              <a:rPr lang="vi-VN" b="1" dirty="0"/>
              <a:t>Dữ liệu → thêm nhiễu → dữ liệu rất nhiễu</a:t>
            </a:r>
            <a:endParaRPr lang="vi-VN" dirty="0"/>
          </a:p>
          <a:p>
            <a:r>
              <a:rPr lang="vi-VN" dirty="0"/>
              <a:t>và sau đó:</a:t>
            </a:r>
          </a:p>
          <a:p>
            <a:r>
              <a:rPr lang="vi-VN" b="1" dirty="0"/>
              <a:t>Dữ liệu nhiễu → khử nhiễu → dữ liệu tổng hợp.</a:t>
            </a:r>
            <a:endParaRPr lang="vi-VN" dirty="0"/>
          </a:p>
          <a:p>
            <a:r>
              <a:rPr lang="vi-VN" dirty="0"/>
              <a:t>Trong nghiên cứu, Diffusion sử dụng kiến trúc </a:t>
            </a:r>
            <a:r>
              <a:rPr lang="vi-VN" b="1" dirty="0"/>
              <a:t>U-Net</a:t>
            </a:r>
            <a:r>
              <a:rPr lang="vi-VN" dirty="0"/>
              <a:t> được điều chỉnh để phù hợp với dữ liệu embedding 1 chiều.”</a:t>
            </a:r>
          </a:p>
          <a:p>
            <a:r>
              <a:rPr lang="en-US" b="1" dirty="0"/>
              <a:t>Câu chuyển:</a:t>
            </a:r>
            <a:endParaRPr lang="en-US" dirty="0"/>
          </a:p>
          <a:p>
            <a:r>
              <a:rPr lang="en-US" dirty="0"/>
              <a:t>“Do dữ liệu của bài toán là embedding một chiều, nhóm tác giả cũng phải điều chỉnh kiến trúc của các mô hình.”</a:t>
            </a:r>
          </a:p>
          <a:p>
            <a:endParaRPr lang="en-US" dirty="0"/>
          </a:p>
        </p:txBody>
      </p:sp>
      <p:sp>
        <p:nvSpPr>
          <p:cNvPr id="4" name="Slide Number Placeholder 3"/>
          <p:cNvSpPr>
            <a:spLocks noGrp="1"/>
          </p:cNvSpPr>
          <p:nvPr>
            <p:ph type="sldNum" sz="quarter" idx="10"/>
          </p:nvPr>
        </p:nvSpPr>
        <p:spPr/>
        <p:txBody>
          <a:bodyPr/>
          <a:lstStyle/>
          <a:p>
            <a:fld id="{F948FFC3-9481-4211-A1C4-A0413854C135}" type="slidenum">
              <a:rPr lang="en-US" smtClean="0"/>
              <a:t>8</a:t>
            </a:fld>
            <a:endParaRPr lang="en-US"/>
          </a:p>
        </p:txBody>
      </p:sp>
    </p:spTree>
    <p:extLst>
      <p:ext uri="{BB962C8B-B14F-4D97-AF65-F5344CB8AC3E}">
        <p14:creationId xmlns:p14="http://schemas.microsoft.com/office/powerpoint/2010/main" val="35649342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E1DDE-697A-088D-71B1-0F1BE3FF4A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A8BA83-293F-AADD-384C-2901EEE4AD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C51DBF-4C68-ACD8-90C2-C0B85599CA84}"/>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Theo </a:t>
            </a:r>
            <a:r>
              <a:rPr lang="en-US" sz="1200" kern="1200" dirty="0" err="1">
                <a:solidFill>
                  <a:schemeClr val="tx1"/>
                </a:solidFill>
                <a:effectLst/>
                <a:latin typeface="+mn-lt"/>
                <a:ea typeface="+mn-ea"/>
                <a:cs typeface="+mn-cs"/>
              </a:rPr>
              <a:t>cấu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trúc</a:t>
            </a:r>
            <a:r>
              <a:rPr lang="en-US" sz="1200" kern="1200" dirty="0">
                <a:solidFill>
                  <a:schemeClr val="tx1"/>
                </a:solidFill>
                <a:effectLst/>
                <a:latin typeface="+mn-lt"/>
                <a:ea typeface="+mn-ea"/>
                <a:cs typeface="+mn-cs"/>
              </a:rPr>
              <a:t> GAN </a:t>
            </a:r>
            <a:r>
              <a:rPr lang="en-US" sz="1200" kern="1200" dirty="0" err="1">
                <a:solidFill>
                  <a:schemeClr val="tx1"/>
                </a:solidFill>
                <a:effectLst/>
                <a:latin typeface="+mn-lt"/>
                <a:ea typeface="+mn-ea"/>
                <a:cs typeface="+mn-cs"/>
              </a:rPr>
              <a:t>truyền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gồm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hai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mạng</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generator 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discriminator D</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Generator 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đầu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vectơ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nhiễu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ngẫu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nhiên</a:t>
            </a:r>
            <a:r>
              <a:rPr lang="en-US" sz="1200" kern="1200" dirty="0">
                <a:solidFill>
                  <a:schemeClr val="tx1"/>
                </a:solidFill>
                <a:effectLst/>
                <a:latin typeface="+mn-lt"/>
                <a:ea typeface="+mn-ea"/>
                <a:cs typeface="+mn-cs"/>
              </a:rPr>
              <a:t> z, </a:t>
            </a:r>
            <a:r>
              <a:rPr lang="en-US" sz="1200" kern="1200" dirty="0" err="1">
                <a:solidFill>
                  <a:schemeClr val="tx1"/>
                </a:solidFill>
                <a:effectLst/>
                <a:latin typeface="+mn-lt"/>
                <a:ea typeface="+mn-ea"/>
                <a:cs typeface="+mn-cs"/>
              </a:rPr>
              <a:t>đi</a:t>
            </a:r>
            <a:r>
              <a:rPr lang="en-US" sz="1200" kern="1200" dirty="0">
                <a:solidFill>
                  <a:schemeClr val="tx1"/>
                </a:solidFill>
                <a:effectLst/>
                <a:latin typeface="+mn-lt"/>
                <a:ea typeface="+mn-ea"/>
                <a:cs typeface="+mn-cs"/>
              </a:rPr>
              <a:t> qua </a:t>
            </a:r>
            <a:r>
              <a:rPr lang="en-US" sz="1200" kern="1200" dirty="0" err="1">
                <a:solidFill>
                  <a:schemeClr val="tx1"/>
                </a:solidFill>
                <a:effectLst/>
                <a:latin typeface="+mn-lt"/>
                <a:ea typeface="+mn-ea"/>
                <a:cs typeface="+mn-cs"/>
              </a:rPr>
              <a:t>nhiều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lớp</a:t>
            </a:r>
            <a:r>
              <a:rPr lang="en-US" sz="1200" kern="1200" dirty="0">
                <a:solidFill>
                  <a:schemeClr val="tx1"/>
                </a:solidFill>
                <a:effectLst/>
                <a:latin typeface="+mn-lt"/>
                <a:ea typeface="+mn-ea"/>
                <a:cs typeface="+mn-cs"/>
              </a:rPr>
              <a:t> Dense (</a:t>
            </a:r>
            <a:r>
              <a:rPr lang="en-US" sz="1200" kern="1200" dirty="0" err="1">
                <a:solidFill>
                  <a:schemeClr val="tx1"/>
                </a:solidFill>
                <a:effectLst/>
                <a:latin typeface="+mn-lt"/>
                <a:ea typeface="+mn-ea"/>
                <a:cs typeface="+mn-cs"/>
              </a:rPr>
              <a:t>lớp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nối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đầy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đủ</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Mỗi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lớp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theo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sau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batch normalization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hàm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kích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TanH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train, </a:t>
            </a:r>
            <a:r>
              <a:rPr lang="en-US" sz="1200" kern="1200" dirty="0" err="1">
                <a:solidFill>
                  <a:schemeClr val="tx1"/>
                </a:solidFill>
                <a:effectLst/>
                <a:latin typeface="+mn-lt"/>
                <a:ea typeface="+mn-ea"/>
                <a:cs typeface="+mn-cs"/>
              </a:rPr>
              <a:t>cải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thiện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lượng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đầu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ra.</a:t>
            </a:r>
            <a:r>
              <a:rPr lang="en-US" sz="1200" kern="1200" dirty="0">
                <a:solidFill>
                  <a:schemeClr val="tx1"/>
                </a:solidFill>
                <a:effectLst/>
                <a:latin typeface="+mn-lt"/>
                <a:ea typeface="+mn-ea"/>
                <a:cs typeface="+mn-cs"/>
              </a:rPr>
              <a:t> G </a:t>
            </a:r>
            <a:r>
              <a:rPr lang="en-US" sz="1200" kern="1200" dirty="0" err="1">
                <a:solidFill>
                  <a:schemeClr val="tx1"/>
                </a:solidFill>
                <a:effectLst/>
                <a:latin typeface="+mn-lt"/>
                <a:ea typeface="+mn-ea"/>
                <a:cs typeface="+mn-cs"/>
              </a:rPr>
              <a:t>biến</a:t>
            </a:r>
            <a:r>
              <a:rPr lang="en-US" sz="1200" kern="1200" dirty="0">
                <a:solidFill>
                  <a:schemeClr val="tx1"/>
                </a:solidFill>
                <a:effectLst/>
                <a:latin typeface="+mn-lt"/>
                <a:ea typeface="+mn-ea"/>
                <a:cs typeface="+mn-cs"/>
              </a:rPr>
              <a:t> z </a:t>
            </a:r>
            <a:r>
              <a:rPr lang="en-US" sz="1200" kern="1200" dirty="0" err="1">
                <a:solidFill>
                  <a:schemeClr val="tx1"/>
                </a:solidFill>
                <a:effectLst/>
                <a:latin typeface="+mn-lt"/>
                <a:ea typeface="+mn-ea"/>
                <a:cs typeface="+mn-cs"/>
              </a:rPr>
              <a:t>thành</a:t>
            </a:r>
            <a:r>
              <a:rPr lang="en-US" sz="1200" kern="1200" dirty="0">
                <a:solidFill>
                  <a:schemeClr val="tx1"/>
                </a:solidFill>
                <a:effectLst/>
                <a:latin typeface="+mn-lt"/>
                <a:ea typeface="+mn-ea"/>
                <a:cs typeface="+mn-cs"/>
              </a:rPr>
              <a:t> vector </a:t>
            </a:r>
            <a:r>
              <a:rPr lang="en-US" sz="1200" kern="1200" dirty="0" err="1">
                <a:solidFill>
                  <a:schemeClr val="tx1"/>
                </a:solidFill>
                <a:effectLst/>
                <a:latin typeface="+mn-lt"/>
                <a:ea typeface="+mn-ea"/>
                <a:cs typeface="+mn-cs"/>
              </a:rPr>
              <a:t>nhúng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tổng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hợp</a:t>
            </a:r>
            <a:r>
              <a:rPr lang="en-US" sz="1200" kern="1200" dirty="0">
                <a:solidFill>
                  <a:schemeClr val="tx1"/>
                </a:solidFill>
                <a:effectLst/>
                <a:latin typeface="+mn-lt"/>
                <a:ea typeface="+mn-ea"/>
                <a:cs typeface="+mn-cs"/>
              </a:rPr>
              <a:t> x.</a:t>
            </a:r>
          </a:p>
          <a:p>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nhận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nhiễu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ngẫu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nhiên</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giả</a:t>
            </a:r>
            <a:r>
              <a:rPr lang="en-US" sz="1200" kern="1200" dirty="0">
                <a:solidFill>
                  <a:schemeClr val="tx1"/>
                </a:solidFill>
                <a:effectLst/>
                <a:latin typeface="+mn-lt"/>
                <a:ea typeface="+mn-ea"/>
                <a:cs typeface="+mn-cs"/>
              </a:rPr>
              <a:t>)</a:t>
            </a:r>
          </a:p>
          <a:p>
            <a:pPr lvl="0"/>
            <a:r>
              <a:rPr lang="en-US" sz="1200" b="1" kern="1200" dirty="0">
                <a:solidFill>
                  <a:schemeClr val="tx1"/>
                </a:solidFill>
                <a:effectLst/>
                <a:latin typeface="+mn-lt"/>
                <a:ea typeface="+mn-ea"/>
                <a:cs typeface="+mn-cs"/>
              </a:rPr>
              <a:t>Discriminator D:</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nhận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vector </a:t>
            </a:r>
            <a:r>
              <a:rPr lang="en-US" sz="1200" kern="1200" dirty="0" err="1">
                <a:solidFill>
                  <a:schemeClr val="tx1"/>
                </a:solidFill>
                <a:effectLst/>
                <a:latin typeface="+mn-lt"/>
                <a:ea typeface="+mn-ea"/>
                <a:cs typeface="+mn-cs"/>
              </a:rPr>
              <a:t>nhúng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thật</a:t>
            </a:r>
            <a:r>
              <a:rPr lang="en-US" sz="1200" kern="1200" dirty="0">
                <a:solidFill>
                  <a:schemeClr val="tx1"/>
                </a:solidFill>
                <a:effectLst/>
                <a:latin typeface="+mn-lt"/>
                <a:ea typeface="+mn-ea"/>
                <a:cs typeface="+mn-cs"/>
              </a:rPr>
              <a:t> x₀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tiền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lý</a:t>
            </a:r>
            <a:r>
              <a:rPr lang="en-US" sz="1200" kern="1200" dirty="0">
                <a:solidFill>
                  <a:schemeClr val="tx1"/>
                </a:solidFill>
                <a:effectLst/>
                <a:latin typeface="+mn-lt"/>
                <a:ea typeface="+mn-ea"/>
                <a:cs typeface="+mn-cs"/>
              </a:rPr>
              <a:t> NLP)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vector </a:t>
            </a:r>
            <a:r>
              <a:rPr lang="en-US" sz="1200" kern="1200" dirty="0" err="1">
                <a:solidFill>
                  <a:schemeClr val="tx1"/>
                </a:solidFill>
                <a:effectLst/>
                <a:latin typeface="+mn-lt"/>
                <a:ea typeface="+mn-ea"/>
                <a:cs typeface="+mn-cs"/>
              </a:rPr>
              <a:t>nhúng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tổng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hợp</a:t>
            </a:r>
            <a:r>
              <a:rPr lang="en-US" sz="1200" kern="1200" dirty="0">
                <a:solidFill>
                  <a:schemeClr val="tx1"/>
                </a:solidFill>
                <a:effectLst/>
                <a:latin typeface="+mn-lt"/>
                <a:ea typeface="+mn-ea"/>
                <a:cs typeface="+mn-cs"/>
              </a:rPr>
              <a:t> xₛ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G) so </a:t>
            </a:r>
            <a:r>
              <a:rPr lang="en-US" sz="1200" kern="1200" dirty="0" err="1">
                <a:solidFill>
                  <a:schemeClr val="tx1"/>
                </a:solidFill>
                <a:effectLst/>
                <a:latin typeface="+mn-lt"/>
                <a:ea typeface="+mn-ea"/>
                <a:cs typeface="+mn-cs"/>
              </a:rPr>
              <a:t>sánh</a:t>
            </a:r>
            <a:r>
              <a:rPr lang="en-US" sz="1200" kern="1200" dirty="0">
                <a:solidFill>
                  <a:schemeClr val="tx1"/>
                </a:solidFill>
                <a:effectLst/>
                <a:latin typeface="+mn-lt"/>
                <a:ea typeface="+mn-ea"/>
                <a:cs typeface="+mn-cs"/>
              </a:rPr>
              <a:t> x₀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xₛ </a:t>
            </a:r>
            <a:r>
              <a:rPr lang="en-US" sz="1200" kern="1200" dirty="0" err="1">
                <a:solidFill>
                  <a:schemeClr val="tx1"/>
                </a:solidFill>
                <a:effectLst/>
                <a:latin typeface="+mn-lt"/>
                <a:ea typeface="+mn-ea"/>
                <a:cs typeface="+mn-cs"/>
              </a:rPr>
              <a:t>giúp</a:t>
            </a:r>
            <a:r>
              <a:rPr lang="en-US" sz="1200" kern="1200" dirty="0">
                <a:solidFill>
                  <a:schemeClr val="tx1"/>
                </a:solidFill>
                <a:effectLst/>
                <a:latin typeface="+mn-lt"/>
                <a:ea typeface="+mn-ea"/>
                <a:cs typeface="+mn-cs"/>
              </a:rPr>
              <a:t> D </a:t>
            </a:r>
            <a:r>
              <a:rPr lang="en-US" sz="1200" kern="1200" dirty="0" err="1">
                <a:solidFill>
                  <a:schemeClr val="tx1"/>
                </a:solidFill>
                <a:effectLst/>
                <a:latin typeface="+mn-lt"/>
                <a:ea typeface="+mn-ea"/>
                <a:cs typeface="+mn-cs"/>
              </a:rPr>
              <a:t>học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phân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biệt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qua </a:t>
            </a:r>
            <a:r>
              <a:rPr lang="en-US" sz="1200" kern="1200" dirty="0" err="1">
                <a:solidFill>
                  <a:schemeClr val="tx1"/>
                </a:solidFill>
                <a:effectLst/>
                <a:latin typeface="+mn-lt"/>
                <a:ea typeface="+mn-ea"/>
                <a:cs typeface="+mn-cs"/>
              </a:rPr>
              <a:t>đó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giúp</a:t>
            </a:r>
            <a:r>
              <a:rPr lang="en-US" sz="1200" kern="1200" dirty="0">
                <a:solidFill>
                  <a:schemeClr val="tx1"/>
                </a:solidFill>
                <a:effectLst/>
                <a:latin typeface="+mn-lt"/>
                <a:ea typeface="+mn-ea"/>
                <a:cs typeface="+mn-cs"/>
              </a:rPr>
              <a:t> G </a:t>
            </a:r>
            <a:r>
              <a:rPr lang="en-US" sz="1200" kern="1200" dirty="0" err="1">
                <a:solidFill>
                  <a:schemeClr val="tx1"/>
                </a:solidFill>
                <a:effectLst/>
                <a:latin typeface="+mn-lt"/>
                <a:ea typeface="+mn-ea"/>
                <a:cs typeface="+mn-cs"/>
              </a:rPr>
              <a:t>sinh</a:t>
            </a:r>
            <a:r>
              <a:rPr lang="en-US" sz="1200" kern="1200" dirty="0">
                <a:solidFill>
                  <a:schemeClr val="tx1"/>
                </a:solidFill>
                <a:effectLst/>
                <a:latin typeface="+mn-lt"/>
                <a:ea typeface="+mn-ea"/>
                <a:cs typeface="+mn-cs"/>
              </a:rPr>
              <a:t> vector </a:t>
            </a:r>
            <a:r>
              <a:rPr lang="en-US" sz="1200" kern="1200" dirty="0" err="1">
                <a:solidFill>
                  <a:schemeClr val="tx1"/>
                </a:solidFill>
                <a:effectLst/>
                <a:latin typeface="+mn-lt"/>
                <a:ea typeface="+mn-ea"/>
                <a:cs typeface="+mn-cs"/>
              </a:rPr>
              <a:t>nhúng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càng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thật</a:t>
            </a:r>
            <a:r>
              <a:rPr lang="en-US" sz="1200" kern="1200" dirty="0">
                <a:solidFill>
                  <a:schemeClr val="tx1"/>
                </a:solidFill>
                <a:effectLst/>
                <a:latin typeface="+mn-lt"/>
                <a:ea typeface="+mn-ea"/>
                <a:cs typeface="+mn-cs"/>
              </a:rPr>
              <a:t>. (phân biệt </a:t>
            </a:r>
            <a:endParaRPr lang="en-US" sz="1200" kern="1200" dirty="0" smtClean="0">
              <a:solidFill>
                <a:schemeClr val="tx1"/>
              </a:solidFill>
              <a:effectLst/>
              <a:latin typeface="+mn-lt"/>
              <a:ea typeface="+mn-ea"/>
              <a:cs typeface="+mn-cs"/>
            </a:endParaRPr>
          </a:p>
          <a:p>
            <a:r>
              <a:rPr lang="vi-VN" b="1" dirty="0" smtClean="0"/>
              <a:t>Hình này mô tả kiến trúc GAN được sử dụng trong nghiên cứu. Ở phía bên trái là Generator. Generator nhận một vector noise ngẫu nhiên z làm đầu vào, sau đó đi qua các lớp Dense, Batch Normalization, Tanh và Reshape để tạo ra một synthetic malware embedding xsx_s.</a:t>
            </a:r>
            <a:endParaRPr lang="vi-VN" dirty="0" smtClean="0"/>
          </a:p>
          <a:p>
            <a:r>
              <a:rPr lang="vi-VN" b="1" dirty="0" smtClean="0"/>
              <a:t>Ở phía bên phải là Discriminator. Discriminator nhận hai loại dữ liệu: malware embedding thật x0x_0 lấy từ dataset và synthetic malware embedding xsx_s do Generator tạo ra. Nhiệm vụ của Discriminator là phân biệt hai loại dữ liệu này.</a:t>
            </a:r>
            <a:endParaRPr lang="vi-VN" dirty="0" smtClean="0"/>
          </a:p>
          <a:p>
            <a:r>
              <a:rPr lang="vi-VN" b="1" dirty="0" smtClean="0"/>
              <a:t>Trong quá trình huấn luyện, Generator cố gắng tạo embedding giống dữ liệu thật để đánh lừa Discriminator, còn Discriminator cố gắng phát hiện dữ liệu giả. Hai mạng được cập nhật thông qua Generator Loss và Discriminator Loss. Sau khi Generator được huấn luyện, các noise vector khác nhau có thể được đưa vào để sinh ra nhiều synthetic malware embeddings.</a:t>
            </a:r>
            <a:endParaRPr lang="vi-VN" dirty="0" smtClean="0"/>
          </a:p>
          <a:p>
            <a:pPr lvl="0"/>
            <a:r>
              <a:rPr lang="en-US" sz="1200" kern="1200" dirty="0" smtClean="0">
                <a:solidFill>
                  <a:schemeClr val="tx1"/>
                </a:solidFill>
                <a:effectLst/>
                <a:latin typeface="+mn-lt"/>
                <a:ea typeface="+mn-ea"/>
                <a:cs typeface="+mn-cs"/>
              </a:rPr>
              <a:t>dữ </a:t>
            </a:r>
            <a:r>
              <a:rPr lang="en-US" sz="1200" kern="1200" dirty="0">
                <a:solidFill>
                  <a:schemeClr val="tx1"/>
                </a:solidFill>
                <a:effectLst/>
                <a:latin typeface="+mn-lt"/>
                <a:ea typeface="+mn-ea"/>
                <a:cs typeface="+mn-cs"/>
              </a:rPr>
              <a:t>liệu thật vs giả)</a:t>
            </a:r>
          </a:p>
        </p:txBody>
      </p:sp>
      <p:sp>
        <p:nvSpPr>
          <p:cNvPr id="4" name="Slide Number Placeholder 3">
            <a:extLst>
              <a:ext uri="{FF2B5EF4-FFF2-40B4-BE49-F238E27FC236}">
                <a16:creationId xmlns:a16="http://schemas.microsoft.com/office/drawing/2014/main" id="{D528FF82-9DC6-DAEC-328D-7BD8ABA20443}"/>
              </a:ext>
            </a:extLst>
          </p:cNvPr>
          <p:cNvSpPr>
            <a:spLocks noGrp="1"/>
          </p:cNvSpPr>
          <p:nvPr>
            <p:ph type="sldNum" sz="quarter" idx="10"/>
          </p:nvPr>
        </p:nvSpPr>
        <p:spPr/>
        <p:txBody>
          <a:bodyPr/>
          <a:lstStyle/>
          <a:p>
            <a:fld id="{F948FFC3-9481-4211-A1C4-A0413854C135}" type="slidenum">
              <a:rPr lang="en-US" smtClean="0"/>
              <a:t>9</a:t>
            </a:fld>
            <a:endParaRPr lang="en-US"/>
          </a:p>
        </p:txBody>
      </p:sp>
    </p:spTree>
    <p:extLst>
      <p:ext uri="{BB962C8B-B14F-4D97-AF65-F5344CB8AC3E}">
        <p14:creationId xmlns:p14="http://schemas.microsoft.com/office/powerpoint/2010/main" val="7952369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4A01D-F774-EAC4-0F73-F5CBDC0C54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642293-7EE2-9C63-B159-4F60E2F642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D81C19-229F-2F3A-3872-EF321EDBD76A}"/>
              </a:ext>
            </a:extLst>
          </p:cNvPr>
          <p:cNvSpPr>
            <a:spLocks noGrp="1"/>
          </p:cNvSpPr>
          <p:nvPr>
            <p:ph type="body" idx="1"/>
          </p:nvPr>
        </p:nvSpPr>
        <p:spPr/>
        <p:txBody>
          <a:bodyPr/>
          <a:lstStyle/>
          <a:p>
            <a:r>
              <a:rPr lang="en-US" sz="1200" kern="1200" dirty="0" err="1">
                <a:solidFill>
                  <a:schemeClr val="tx1"/>
                </a:solidFill>
                <a:effectLst/>
                <a:latin typeface="+mn-lt"/>
                <a:ea typeface="+mn-ea"/>
                <a:cs typeface="+mn-cs"/>
              </a:rPr>
              <a:t>Kiến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trúc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tương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tự</a:t>
            </a:r>
            <a:r>
              <a:rPr lang="en-US" sz="1200" kern="1200" dirty="0">
                <a:solidFill>
                  <a:schemeClr val="tx1"/>
                </a:solidFill>
                <a:effectLst/>
                <a:latin typeface="+mn-lt"/>
                <a:ea typeface="+mn-ea"/>
                <a:cs typeface="+mn-cs"/>
              </a:rPr>
              <a:t> GAN </a:t>
            </a:r>
            <a:r>
              <a:rPr lang="en-US" sz="1200" kern="1200" dirty="0" err="1">
                <a:solidFill>
                  <a:schemeClr val="tx1"/>
                </a:solidFill>
                <a:effectLst/>
                <a:latin typeface="+mn-lt"/>
                <a:ea typeface="+mn-ea"/>
                <a:cs typeface="+mn-cs"/>
              </a:rPr>
              <a:t>khác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biệt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dùng</a:t>
            </a:r>
            <a:r>
              <a:rPr lang="en-US" sz="1200"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khoảng</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cách</a:t>
            </a:r>
            <a:r>
              <a:rPr lang="en-US" sz="1200" b="1" kern="1200" dirty="0">
                <a:solidFill>
                  <a:schemeClr val="tx1"/>
                </a:solidFill>
                <a:effectLst/>
                <a:latin typeface="+mn-lt"/>
                <a:ea typeface="+mn-ea"/>
                <a:cs typeface="+mn-cs"/>
              </a:rPr>
              <a:t> Wasserstein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khoảng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giữa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phân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phối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thật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dùng</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gradient penalty </a:t>
            </a:r>
            <a:r>
              <a:rPr lang="en-US" sz="1200" b="1" kern="1200" dirty="0" err="1">
                <a:solidFill>
                  <a:schemeClr val="tx1"/>
                </a:solidFill>
                <a:effectLst/>
                <a:latin typeface="+mn-lt"/>
                <a:ea typeface="+mn-ea"/>
                <a:cs typeface="+mn-cs"/>
              </a:rPr>
              <a:t>để</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ràng</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buộc</a:t>
            </a:r>
            <a:r>
              <a:rPr lang="en-US" sz="1200" b="1" kern="1200" dirty="0">
                <a:solidFill>
                  <a:schemeClr val="tx1"/>
                </a:solidFill>
                <a:effectLst/>
                <a:latin typeface="+mn-lt"/>
                <a:ea typeface="+mn-ea"/>
                <a:cs typeface="+mn-cs"/>
              </a:rPr>
              <a:t> Lipschitz, </a:t>
            </a:r>
            <a:r>
              <a:rPr lang="en-US" sz="1200" b="1" kern="1200" dirty="0" err="1">
                <a:solidFill>
                  <a:schemeClr val="tx1"/>
                </a:solidFill>
                <a:effectLst/>
                <a:latin typeface="+mn-lt"/>
                <a:ea typeface="+mn-ea"/>
                <a:cs typeface="+mn-cs"/>
              </a:rPr>
              <a:t>giúp</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huấn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luyện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mượt</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hơn</a:t>
            </a:r>
            <a:r>
              <a:rPr lang="en-US" sz="1200" b="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Generator 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vectơ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nhiễu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số</a:t>
            </a:r>
            <a:r>
              <a:rPr lang="en-US" sz="1200" kern="1200" dirty="0">
                <a:solidFill>
                  <a:schemeClr val="tx1"/>
                </a:solidFill>
                <a:effectLst/>
                <a:latin typeface="+mn-lt"/>
                <a:ea typeface="+mn-ea"/>
                <a:cs typeface="+mn-cs"/>
              </a:rPr>
              <a:t> z, qua </a:t>
            </a:r>
            <a:r>
              <a:rPr lang="en-US" sz="1200" kern="1200" dirty="0" err="1">
                <a:solidFill>
                  <a:schemeClr val="tx1"/>
                </a:solidFill>
                <a:effectLst/>
                <a:latin typeface="+mn-lt"/>
                <a:ea typeface="+mn-ea"/>
                <a:cs typeface="+mn-cs"/>
              </a:rPr>
              <a:t>chuỗi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lớp</a:t>
            </a:r>
            <a:r>
              <a:rPr lang="en-US" sz="1200" kern="1200" dirty="0">
                <a:solidFill>
                  <a:schemeClr val="tx1"/>
                </a:solidFill>
                <a:effectLst/>
                <a:latin typeface="+mn-lt"/>
                <a:ea typeface="+mn-ea"/>
                <a:cs typeface="+mn-cs"/>
              </a:rPr>
              <a:t> Conv1D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Dense, </a:t>
            </a:r>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vector </a:t>
            </a:r>
            <a:r>
              <a:rPr lang="en-US" sz="1200" kern="1200" dirty="0" err="1">
                <a:solidFill>
                  <a:schemeClr val="tx1"/>
                </a:solidFill>
                <a:effectLst/>
                <a:latin typeface="+mn-lt"/>
                <a:ea typeface="+mn-ea"/>
                <a:cs typeface="+mn-cs"/>
              </a:rPr>
              <a:t>nhúng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tổng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hợp</a:t>
            </a:r>
            <a:r>
              <a:rPr lang="en-US" sz="1200" kern="1200" dirty="0">
                <a:solidFill>
                  <a:schemeClr val="tx1"/>
                </a:solidFill>
                <a:effectLst/>
                <a:latin typeface="+mn-lt"/>
                <a:ea typeface="+mn-ea"/>
                <a:cs typeface="+mn-cs"/>
              </a:rPr>
              <a:t> xₛ </a:t>
            </a:r>
            <a:r>
              <a:rPr lang="en-US" sz="1200" kern="1200" dirty="0" err="1">
                <a:solidFill>
                  <a:schemeClr val="tx1"/>
                </a:solidFill>
                <a:effectLst/>
                <a:latin typeface="+mn-lt"/>
                <a:ea typeface="+mn-ea"/>
                <a:cs typeface="+mn-cs"/>
              </a:rPr>
              <a:t>rồi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tới</a:t>
            </a:r>
            <a:r>
              <a:rPr lang="en-US" sz="1200" kern="1200" dirty="0">
                <a:solidFill>
                  <a:schemeClr val="tx1"/>
                </a:solidFill>
                <a:effectLst/>
                <a:latin typeface="+mn-lt"/>
                <a:ea typeface="+mn-ea"/>
                <a:cs typeface="+mn-cs"/>
              </a:rPr>
              <a:t> Critic C. </a:t>
            </a:r>
            <a:r>
              <a:rPr lang="en-US" sz="1200" kern="1200" dirty="0" err="1">
                <a:solidFill>
                  <a:schemeClr val="tx1"/>
                </a:solidFill>
                <a:effectLst/>
                <a:latin typeface="+mn-lt"/>
                <a:ea typeface="+mn-ea"/>
                <a:cs typeface="+mn-cs"/>
              </a:rPr>
              <a:t>Gồm</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3 </a:t>
            </a:r>
            <a:r>
              <a:rPr lang="en-US" sz="1200" b="1" kern="1200" dirty="0" err="1">
                <a:solidFill>
                  <a:schemeClr val="tx1"/>
                </a:solidFill>
                <a:effectLst/>
                <a:latin typeface="+mn-lt"/>
                <a:ea typeface="+mn-ea"/>
                <a:cs typeface="+mn-cs"/>
              </a:rPr>
              <a:t>lớp</a:t>
            </a:r>
            <a:r>
              <a:rPr lang="en-US" sz="1200" b="1" kern="1200" dirty="0">
                <a:solidFill>
                  <a:schemeClr val="tx1"/>
                </a:solidFill>
                <a:effectLst/>
                <a:latin typeface="+mn-lt"/>
                <a:ea typeface="+mn-ea"/>
                <a:cs typeface="+mn-cs"/>
              </a:rPr>
              <a:t> Conv1D</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theo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sau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lớp</a:t>
            </a:r>
            <a:r>
              <a:rPr lang="en-US" sz="1200" kern="1200" dirty="0">
                <a:solidFill>
                  <a:schemeClr val="tx1"/>
                </a:solidFill>
                <a:effectLst/>
                <a:latin typeface="+mn-lt"/>
                <a:ea typeface="+mn-ea"/>
                <a:cs typeface="+mn-cs"/>
              </a:rPr>
              <a:t> fully connected, </a:t>
            </a:r>
            <a:r>
              <a:rPr lang="en-US" sz="1200" b="1" kern="1200" dirty="0" err="1">
                <a:solidFill>
                  <a:schemeClr val="tx1"/>
                </a:solidFill>
                <a:effectLst/>
                <a:latin typeface="+mn-lt"/>
                <a:ea typeface="+mn-ea"/>
                <a:cs typeface="+mn-cs"/>
              </a:rPr>
              <a:t>TanH</a:t>
            </a:r>
            <a:r>
              <a:rPr lang="en-US" sz="1200" kern="1200" dirty="0">
                <a:solidFill>
                  <a:schemeClr val="tx1"/>
                </a:solidFill>
                <a:effectLst/>
                <a:latin typeface="+mn-lt"/>
                <a:ea typeface="+mn-ea"/>
                <a:cs typeface="+mn-cs"/>
              </a:rPr>
              <a:t> ở </a:t>
            </a:r>
            <a:r>
              <a:rPr lang="en-US" sz="1200" kern="1200" dirty="0" err="1">
                <a:solidFill>
                  <a:schemeClr val="tx1"/>
                </a:solidFill>
                <a:effectLst/>
                <a:latin typeface="+mn-lt"/>
                <a:ea typeface="+mn-ea"/>
                <a:cs typeface="+mn-cs"/>
              </a:rPr>
              <a:t>đầu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ra.</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Critic 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nhận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cả</a:t>
            </a:r>
            <a:r>
              <a:rPr lang="en-US" sz="1200" kern="1200" dirty="0">
                <a:solidFill>
                  <a:schemeClr val="tx1"/>
                </a:solidFill>
                <a:effectLst/>
                <a:latin typeface="+mn-lt"/>
                <a:ea typeface="+mn-ea"/>
                <a:cs typeface="+mn-cs"/>
              </a:rPr>
              <a:t> vector </a:t>
            </a:r>
            <a:r>
              <a:rPr lang="en-US" sz="1200" kern="1200" dirty="0" err="1">
                <a:solidFill>
                  <a:schemeClr val="tx1"/>
                </a:solidFill>
                <a:effectLst/>
                <a:latin typeface="+mn-lt"/>
                <a:ea typeface="+mn-ea"/>
                <a:cs typeface="+mn-cs"/>
              </a:rPr>
              <a:t>nhúng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thật</a:t>
            </a:r>
            <a:r>
              <a:rPr lang="en-US" sz="1200" kern="1200" dirty="0">
                <a:solidFill>
                  <a:schemeClr val="tx1"/>
                </a:solidFill>
                <a:effectLst/>
                <a:latin typeface="+mn-lt"/>
                <a:ea typeface="+mn-ea"/>
                <a:cs typeface="+mn-cs"/>
              </a:rPr>
              <a:t> x₀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vector </a:t>
            </a:r>
            <a:r>
              <a:rPr lang="en-US" sz="1200" kern="1200" dirty="0" err="1">
                <a:solidFill>
                  <a:schemeClr val="tx1"/>
                </a:solidFill>
                <a:effectLst/>
                <a:latin typeface="+mn-lt"/>
                <a:ea typeface="+mn-ea"/>
                <a:cs typeface="+mn-cs"/>
              </a:rPr>
              <a:t>nhúng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tổng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hợp</a:t>
            </a:r>
            <a:r>
              <a:rPr lang="en-US" sz="1200" kern="1200" dirty="0">
                <a:solidFill>
                  <a:schemeClr val="tx1"/>
                </a:solidFill>
                <a:effectLst/>
                <a:latin typeface="+mn-lt"/>
                <a:ea typeface="+mn-ea"/>
                <a:cs typeface="+mn-cs"/>
              </a:rPr>
              <a:t> xₛ; </a:t>
            </a:r>
            <a:r>
              <a:rPr lang="en-US" sz="1200" kern="1200" dirty="0" err="1">
                <a:solidFill>
                  <a:schemeClr val="tx1"/>
                </a:solidFill>
                <a:effectLst/>
                <a:latin typeface="+mn-lt"/>
                <a:ea typeface="+mn-ea"/>
                <a:cs typeface="+mn-cs"/>
              </a:rPr>
              <a:t>phân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biệt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thật</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giả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đồng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duy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trì</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gradient penalty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train </a:t>
            </a:r>
            <a:r>
              <a:rPr lang="en-US" sz="1200" kern="1200" dirty="0" err="1">
                <a:solidFill>
                  <a:schemeClr val="tx1"/>
                </a:solidFill>
                <a:effectLst/>
                <a:latin typeface="+mn-lt"/>
                <a:ea typeface="+mn-ea"/>
                <a:cs typeface="+mn-cs"/>
              </a:rPr>
              <a:t>ổn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(gradient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đầu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ra</a:t>
            </a:r>
            <a:r>
              <a:rPr lang="en-US" sz="1200" kern="1200" dirty="0">
                <a:solidFill>
                  <a:schemeClr val="tx1"/>
                </a:solidFill>
                <a:effectLst/>
                <a:latin typeface="+mn-lt"/>
                <a:ea typeface="+mn-ea"/>
                <a:cs typeface="+mn-cs"/>
              </a:rPr>
              <a:t> critic </a:t>
            </a:r>
            <a:r>
              <a:rPr lang="en-US" sz="1200" kern="1200" dirty="0" err="1">
                <a:solidFill>
                  <a:schemeClr val="tx1"/>
                </a:solidFill>
                <a:effectLst/>
                <a:latin typeface="+mn-lt"/>
                <a:ea typeface="+mn-ea"/>
                <a:cs typeface="+mn-cs"/>
              </a:rPr>
              <a:t>mượt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giúp</a:t>
            </a:r>
            <a:r>
              <a:rPr lang="en-US" sz="1200" kern="1200" dirty="0">
                <a:solidFill>
                  <a:schemeClr val="tx1"/>
                </a:solidFill>
                <a:effectLst/>
                <a:latin typeface="+mn-lt"/>
                <a:ea typeface="+mn-ea"/>
                <a:cs typeface="+mn-cs"/>
              </a:rPr>
              <a:t> G </a:t>
            </a:r>
            <a:r>
              <a:rPr lang="en-US" sz="1200" kern="1200" dirty="0" err="1">
                <a:solidFill>
                  <a:schemeClr val="tx1"/>
                </a:solidFill>
                <a:effectLst/>
                <a:latin typeface="+mn-lt"/>
                <a:ea typeface="+mn-ea"/>
                <a:cs typeface="+mn-cs"/>
              </a:rPr>
              <a:t>sinh</a:t>
            </a:r>
            <a:r>
              <a:rPr lang="en-US" sz="1200" kern="1200" dirty="0">
                <a:solidFill>
                  <a:schemeClr val="tx1"/>
                </a:solidFill>
                <a:effectLst/>
                <a:latin typeface="+mn-lt"/>
                <a:ea typeface="+mn-ea"/>
                <a:cs typeface="+mn-cs"/>
              </a:rPr>
              <a:t> embedding </a:t>
            </a:r>
            <a:r>
              <a:rPr lang="en-US" sz="1200" kern="1200" dirty="0" err="1">
                <a:solidFill>
                  <a:schemeClr val="tx1"/>
                </a:solidFill>
                <a:effectLst/>
                <a:latin typeface="+mn-lt"/>
                <a:ea typeface="+mn-ea"/>
                <a:cs typeface="+mn-cs"/>
              </a:rPr>
              <a:t>chất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lượng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cao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hơn</a:t>
            </a:r>
            <a:r>
              <a:rPr lang="en-US" sz="1200" kern="1200" dirty="0">
                <a:solidFill>
                  <a:schemeClr val="tx1"/>
                </a:solidFill>
                <a:effectLst/>
                <a:latin typeface="+mn-lt"/>
                <a:ea typeface="+mn-ea"/>
                <a:cs typeface="+mn-cs"/>
              </a:rPr>
              <a:t>). Critic cũng gồm </a:t>
            </a:r>
            <a:r>
              <a:rPr lang="en-US" sz="1200" b="1" kern="1200" dirty="0">
                <a:solidFill>
                  <a:schemeClr val="tx1"/>
                </a:solidFill>
                <a:effectLst/>
                <a:latin typeface="+mn-lt"/>
                <a:ea typeface="+mn-ea"/>
                <a:cs typeface="+mn-cs"/>
              </a:rPr>
              <a:t>3 lớp Conv1D</a:t>
            </a:r>
            <a:r>
              <a:rPr lang="en-US" sz="1200" kern="1200" dirty="0">
                <a:solidFill>
                  <a:schemeClr val="tx1"/>
                </a:solidFill>
                <a:effectLst/>
                <a:latin typeface="+mn-lt"/>
                <a:ea typeface="+mn-ea"/>
                <a:cs typeface="+mn-cs"/>
              </a:rPr>
              <a:t>, kích hoạt </a:t>
            </a:r>
            <a:r>
              <a:rPr lang="en-US" sz="1200" b="1" kern="1200" dirty="0">
                <a:solidFill>
                  <a:schemeClr val="tx1"/>
                </a:solidFill>
                <a:effectLst/>
                <a:latin typeface="+mn-lt"/>
                <a:ea typeface="+mn-ea"/>
                <a:cs typeface="+mn-cs"/>
              </a:rPr>
              <a:t>LeakyReLU</a:t>
            </a:r>
            <a:r>
              <a:rPr lang="en-US" sz="1200" kern="1200" dirty="0">
                <a:solidFill>
                  <a:schemeClr val="tx1"/>
                </a:solidFill>
                <a:effectLst/>
                <a:latin typeface="+mn-lt"/>
                <a:ea typeface="+mn-ea"/>
                <a:cs typeface="+mn-cs"/>
              </a:rPr>
              <a:t> để cải thiện dòng gradient</a:t>
            </a:r>
            <a:r>
              <a:rPr lang="en-US" sz="1200" kern="1200" dirty="0" smtClean="0">
                <a:solidFill>
                  <a:schemeClr val="tx1"/>
                </a:solidFill>
                <a:effectLst/>
                <a:latin typeface="+mn-lt"/>
                <a:ea typeface="+mn-ea"/>
                <a:cs typeface="+mn-cs"/>
              </a:rPr>
              <a:t>.</a:t>
            </a:r>
            <a:br>
              <a:rPr lang="en-US" sz="1200" kern="1200" dirty="0" smtClean="0">
                <a:solidFill>
                  <a:schemeClr val="tx1"/>
                </a:solidFill>
                <a:effectLst/>
                <a:latin typeface="+mn-lt"/>
                <a:ea typeface="+mn-ea"/>
                <a:cs typeface="+mn-cs"/>
              </a:rPr>
            </a:br>
            <a:r>
              <a:rPr lang="vi-VN" b="1" dirty="0" smtClean="0"/>
              <a:t>Đây là kiến trúc WGAN-GP được sửa đổi để sinh malware embedding. Đầu tiên, Generator nhận một vector noise ngẫu nhiên z làm đầu vào. Vector này đi qua các lớp Reshape, Conv1D, LeakyReLU, Batch Normalization, Flatten, Dense, Tanh và Reshape để tạo ra một synthetic malware embedding xsx_s.</a:t>
            </a:r>
            <a:endParaRPr lang="vi-VN" dirty="0" smtClean="0"/>
          </a:p>
          <a:p>
            <a:r>
              <a:rPr lang="vi-VN" b="1" dirty="0" smtClean="0"/>
              <a:t>Ở phía bên phải là Critic. Critic nhận cả malware embedding thật x0x_0 và synthetic malware embedding xsx_s. Khác với Discriminator của GAN truyền thống, Critic không chỉ phân loại dữ liệu thành thật hoặc giả mà cung cấp giá trị để đánh giá khoảng cách giữa hai phân phối thông qua Wasserstein distance.</a:t>
            </a:r>
            <a:endParaRPr lang="vi-VN" dirty="0" smtClean="0"/>
          </a:p>
          <a:p>
            <a:r>
              <a:rPr lang="vi-VN" b="1" dirty="0" smtClean="0"/>
              <a:t>Ngoài Wasserstein cost, mô hình còn sử dụng Gradient Penalty, được cộng vào hàm loss để giúp Critic thỏa điều kiện Lipschitz và làm quá trình huấn luyện ổn định hơn. Kết quả được sử dụng để tính Critic Loss và Generator Loss, từ đó cập nhật hai mạng qua nhiều vòng training.</a:t>
            </a:r>
            <a:endParaRPr lang="vi-VN" dirty="0" smtClean="0"/>
          </a:p>
          <a:p>
            <a:r>
              <a:rPr lang="vi-VN" b="1" dirty="0" smtClean="0"/>
              <a:t>Sau khi Generator được huấn luyện, chúng ta có thể đưa nhiều noise vector khác nhau vào Generator để tạo ra nhiều synthetic malware embeddings khác nhau. Những embedding này sau đó có thể được sử dụng để bổ sung dữ liệu cho bài toán malware classification.</a:t>
            </a:r>
            <a:endParaRPr lang="vi-VN" dirty="0" smtClean="0"/>
          </a:p>
          <a:p>
            <a:pPr lvl="0"/>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4F8A2A4-9450-4F2E-2901-80FB9D7EAB9D}"/>
              </a:ext>
            </a:extLst>
          </p:cNvPr>
          <p:cNvSpPr>
            <a:spLocks noGrp="1"/>
          </p:cNvSpPr>
          <p:nvPr>
            <p:ph type="sldNum" sz="quarter" idx="10"/>
          </p:nvPr>
        </p:nvSpPr>
        <p:spPr/>
        <p:txBody>
          <a:bodyPr/>
          <a:lstStyle/>
          <a:p>
            <a:fld id="{F948FFC3-9481-4211-A1C4-A0413854C135}" type="slidenum">
              <a:rPr lang="en-US" smtClean="0"/>
              <a:t>10</a:t>
            </a:fld>
            <a:endParaRPr lang="en-US"/>
          </a:p>
        </p:txBody>
      </p:sp>
    </p:spTree>
    <p:extLst>
      <p:ext uri="{BB962C8B-B14F-4D97-AF65-F5344CB8AC3E}">
        <p14:creationId xmlns:p14="http://schemas.microsoft.com/office/powerpoint/2010/main" val="13910551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1EDB4-906E-1CFC-1C24-E3CABBFBFC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3E2554-005F-D7A4-3B57-FA9773790E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4E4A43-CE0B-03C9-FBB3-3E76EBB9C018}"/>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Ý </a:t>
            </a:r>
            <a:r>
              <a:rPr lang="en-US" sz="1200" b="1" kern="1200" dirty="0" err="1">
                <a:solidFill>
                  <a:schemeClr val="tx1"/>
                </a:solidFill>
                <a:effectLst/>
                <a:latin typeface="+mn-lt"/>
                <a:ea typeface="+mn-ea"/>
                <a:cs typeface="+mn-cs"/>
              </a:rPr>
              <a:t>tưởng</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phá</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hủy</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dữ</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liệu</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bằng</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cách</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thêm</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nhiễu</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từ</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từ</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rồi</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học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cách</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khôi</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phục</a:t>
            </a:r>
            <a:endParaRPr lang="en-US" sz="1200" kern="1200" dirty="0">
              <a:solidFill>
                <a:schemeClr val="tx1"/>
              </a:solidFill>
              <a:effectLst/>
              <a:latin typeface="+mn-lt"/>
              <a:ea typeface="+mn-ea"/>
              <a:cs typeface="+mn-cs"/>
            </a:endParaRPr>
          </a:p>
          <a:p>
            <a:pPr lvl="0"/>
            <a:r>
              <a:rPr lang="en-US" sz="1200" b="1" kern="1200" dirty="0" err="1">
                <a:solidFill>
                  <a:schemeClr val="tx1"/>
                </a:solidFill>
                <a:effectLst/>
                <a:latin typeface="+mn-lt"/>
                <a:ea typeface="+mn-ea"/>
                <a:cs typeface="+mn-cs"/>
              </a:rPr>
              <a:t>Quá</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trình</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thuận</a:t>
            </a:r>
            <a:r>
              <a:rPr lang="en-US" sz="1200" b="1" kern="1200" dirty="0">
                <a:solidFill>
                  <a:schemeClr val="tx1"/>
                </a:solidFill>
                <a:effectLst/>
                <a:latin typeface="+mn-lt"/>
                <a:ea typeface="+mn-ea"/>
                <a:cs typeface="+mn-cs"/>
              </a:rPr>
              <a:t> (forward diffusion):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lấy</a:t>
            </a:r>
            <a:r>
              <a:rPr lang="en-US" sz="1200" kern="1200" dirty="0">
                <a:solidFill>
                  <a:schemeClr val="tx1"/>
                </a:solidFill>
                <a:effectLst/>
                <a:latin typeface="+mn-lt"/>
                <a:ea typeface="+mn-ea"/>
                <a:cs typeface="+mn-cs"/>
              </a:rPr>
              <a:t> vector </a:t>
            </a:r>
            <a:r>
              <a:rPr lang="en-US" sz="1200" kern="1200" dirty="0" err="1">
                <a:solidFill>
                  <a:schemeClr val="tx1"/>
                </a:solidFill>
                <a:effectLst/>
                <a:latin typeface="+mn-lt"/>
                <a:ea typeface="+mn-ea"/>
                <a:cs typeface="+mn-cs"/>
              </a:rPr>
              <a:t>nhúng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đầu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dần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thêm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nhiễu</a:t>
            </a:r>
            <a:r>
              <a:rPr lang="en-US" sz="1200" kern="1200" dirty="0">
                <a:solidFill>
                  <a:schemeClr val="tx1"/>
                </a:solidFill>
                <a:effectLst/>
                <a:latin typeface="+mn-lt"/>
                <a:ea typeface="+mn-ea"/>
                <a:cs typeface="+mn-cs"/>
              </a:rPr>
              <a:t> Gauss qua </a:t>
            </a:r>
            <a:r>
              <a:rPr lang="en-US" sz="1200" kern="1200" dirty="0" err="1">
                <a:solidFill>
                  <a:schemeClr val="tx1"/>
                </a:solidFill>
                <a:effectLst/>
                <a:latin typeface="+mn-lt"/>
                <a:ea typeface="+mn-ea"/>
                <a:cs typeface="+mn-cs"/>
              </a:rPr>
              <a:t>chuỗi</a:t>
            </a:r>
            <a:r>
              <a:rPr lang="en-US" sz="1200" kern="1200" dirty="0">
                <a:solidFill>
                  <a:schemeClr val="tx1"/>
                </a:solidFill>
                <a:effectLst/>
                <a:latin typeface="+mn-lt"/>
                <a:ea typeface="+mn-ea"/>
                <a:cs typeface="+mn-cs"/>
              </a:rPr>
              <a:t> Markov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mẫu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bị</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hủy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chứa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nhiễu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không</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có</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tham</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số</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học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hằng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số</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khi</a:t>
            </a:r>
            <a:r>
              <a:rPr lang="en-US" sz="1200" kern="1200" dirty="0">
                <a:solidFill>
                  <a:schemeClr val="tx1"/>
                </a:solidFill>
                <a:effectLst/>
                <a:latin typeface="+mn-lt"/>
                <a:ea typeface="+mn-ea"/>
                <a:cs typeface="+mn-cs"/>
              </a:rPr>
              <a:t> train.</a:t>
            </a:r>
          </a:p>
          <a:p>
            <a:pPr lvl="0"/>
            <a:r>
              <a:rPr lang="en-US" sz="1200" b="1" kern="1200" dirty="0" err="1">
                <a:solidFill>
                  <a:schemeClr val="tx1"/>
                </a:solidFill>
                <a:effectLst/>
                <a:latin typeface="+mn-lt"/>
                <a:ea typeface="+mn-ea"/>
                <a:cs typeface="+mn-cs"/>
              </a:rPr>
              <a:t>Quá</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trình</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ngược</a:t>
            </a:r>
            <a:r>
              <a:rPr lang="en-US" sz="1200" b="1" kern="1200" dirty="0">
                <a:solidFill>
                  <a:schemeClr val="tx1"/>
                </a:solidFill>
                <a:effectLst/>
                <a:latin typeface="+mn-lt"/>
                <a:ea typeface="+mn-ea"/>
                <a:cs typeface="+mn-cs"/>
              </a:rPr>
              <a:t> (reverse):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sinh</a:t>
            </a:r>
            <a:r>
              <a:rPr lang="en-US" sz="1200" kern="1200" dirty="0">
                <a:solidFill>
                  <a:schemeClr val="tx1"/>
                </a:solidFill>
                <a:effectLst/>
                <a:latin typeface="+mn-lt"/>
                <a:ea typeface="+mn-ea"/>
                <a:cs typeface="+mn-cs"/>
              </a:rPr>
              <a:t> vector </a:t>
            </a:r>
            <a:r>
              <a:rPr lang="en-US" sz="1200" kern="1200" dirty="0" err="1">
                <a:solidFill>
                  <a:schemeClr val="tx1"/>
                </a:solidFill>
                <a:effectLst/>
                <a:latin typeface="+mn-lt"/>
                <a:ea typeface="+mn-ea"/>
                <a:cs typeface="+mn-cs"/>
              </a:rPr>
              <a:t>nhúng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tổng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hợp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mô</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vector </a:t>
            </a:r>
            <a:r>
              <a:rPr lang="en-US" sz="1200" kern="1200" dirty="0" err="1">
                <a:solidFill>
                  <a:schemeClr val="tx1"/>
                </a:solidFill>
                <a:effectLst/>
                <a:latin typeface="+mn-lt"/>
                <a:ea typeface="+mn-ea"/>
                <a:cs typeface="+mn-cs"/>
              </a:rPr>
              <a:t>nhúng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mẫu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nhiễu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Dùng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kiến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trúc</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U-Net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đoán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lượng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nhiễu</a:t>
            </a:r>
            <a:r>
              <a:rPr lang="en-US" sz="1200" kern="1200" dirty="0">
                <a:solidFill>
                  <a:schemeClr val="tx1"/>
                </a:solidFill>
                <a:effectLst/>
                <a:latin typeface="+mn-lt"/>
                <a:ea typeface="+mn-ea"/>
                <a:cs typeface="+mn-cs"/>
              </a:rPr>
              <a:t> ở </a:t>
            </a:r>
            <a:r>
              <a:rPr lang="en-US" sz="1200" kern="1200" dirty="0" err="1">
                <a:solidFill>
                  <a:schemeClr val="tx1"/>
                </a:solidFill>
                <a:effectLst/>
                <a:latin typeface="+mn-lt"/>
                <a:ea typeface="+mn-ea"/>
                <a:cs typeface="+mn-cs"/>
              </a:rPr>
              <a:t>mỗi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bước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phép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nhiễu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lặp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từng</a:t>
            </a:r>
            <a:r>
              <a:rPr lang="en-US" sz="1200" kern="1200" dirty="0">
                <a:solidFill>
                  <a:schemeClr val="tx1"/>
                </a:solidFill>
                <a:effectLst/>
                <a:latin typeface="+mn-lt"/>
                <a:ea typeface="+mn-ea"/>
                <a:cs typeface="+mn-cs"/>
              </a:rPr>
              <a:t> timestep </a:t>
            </a:r>
            <a:r>
              <a:rPr lang="en-US" sz="1200" kern="1200" dirty="0" err="1">
                <a:solidFill>
                  <a:schemeClr val="tx1"/>
                </a:solidFill>
                <a:effectLst/>
                <a:latin typeface="+mn-lt"/>
                <a:ea typeface="+mn-ea"/>
                <a:cs typeface="+mn-cs"/>
              </a:rPr>
              <a:t>đến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mẫu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tổng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hợp</a:t>
            </a:r>
            <a:r>
              <a:rPr lang="en-US" sz="1200" kern="1200" dirty="0">
                <a:solidFill>
                  <a:schemeClr val="tx1"/>
                </a:solidFill>
                <a:effectLst/>
                <a:latin typeface="+mn-lt"/>
                <a:ea typeface="+mn-ea"/>
                <a:cs typeface="+mn-cs"/>
              </a:rPr>
              <a:t>. Qua </a:t>
            </a:r>
            <a:r>
              <a:rPr lang="en-US" sz="1200" kern="1200" dirty="0" err="1">
                <a:solidFill>
                  <a:schemeClr val="tx1"/>
                </a:solidFill>
                <a:effectLst/>
                <a:latin typeface="+mn-lt"/>
                <a:ea typeface="+mn-ea"/>
                <a:cs typeface="+mn-cs"/>
              </a:rPr>
              <a:t>quá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trình</a:t>
            </a:r>
            <a:r>
              <a:rPr lang="en-US" sz="1200" kern="1200" dirty="0">
                <a:solidFill>
                  <a:schemeClr val="tx1"/>
                </a:solidFill>
                <a:effectLst/>
                <a:latin typeface="+mn-lt"/>
                <a:ea typeface="+mn-ea"/>
                <a:cs typeface="+mn-cs"/>
              </a:rPr>
              <a:t> train </a:t>
            </a:r>
            <a:r>
              <a:rPr lang="en-US" sz="1200" kern="1200" dirty="0" err="1">
                <a:solidFill>
                  <a:schemeClr val="tx1"/>
                </a:solidFill>
                <a:effectLst/>
                <a:latin typeface="+mn-lt"/>
                <a:ea typeface="+mn-ea"/>
                <a:cs typeface="+mn-cs"/>
              </a:rPr>
              <a:t>lặp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lại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mô</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mẫu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tương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tự</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gốc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cuối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cùng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sinh</a:t>
            </a:r>
            <a:r>
              <a:rPr lang="en-US" sz="1200" kern="1200" dirty="0">
                <a:solidFill>
                  <a:schemeClr val="tx1"/>
                </a:solidFill>
                <a:effectLst/>
                <a:latin typeface="+mn-lt"/>
                <a:ea typeface="+mn-ea"/>
                <a:cs typeface="+mn-cs"/>
              </a:rPr>
              <a:t> vector </a:t>
            </a:r>
            <a:r>
              <a:rPr lang="en-US" sz="1200" kern="1200" dirty="0" err="1">
                <a:solidFill>
                  <a:schemeClr val="tx1"/>
                </a:solidFill>
                <a:effectLst/>
                <a:latin typeface="+mn-lt"/>
                <a:ea typeface="+mn-ea"/>
                <a:cs typeface="+mn-cs"/>
              </a:rPr>
              <a:t>nhúng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tổng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hợp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từ</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mẫu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nhiễu</a:t>
            </a:r>
            <a:r>
              <a:rPr lang="en-US" sz="1200" kern="1200" dirty="0">
                <a:solidFill>
                  <a:schemeClr val="tx1"/>
                </a:solidFill>
                <a:effectLst/>
                <a:latin typeface="+mn-lt"/>
                <a:ea typeface="+mn-ea"/>
                <a:cs typeface="+mn-cs"/>
              </a:rPr>
              <a:t> Gauss ban </a:t>
            </a:r>
            <a:r>
              <a:rPr lang="en-US" sz="1200" kern="1200" dirty="0" err="1">
                <a:solidFill>
                  <a:schemeClr val="tx1"/>
                </a:solidFill>
                <a:effectLst/>
                <a:latin typeface="+mn-lt"/>
                <a:ea typeface="+mn-ea"/>
                <a:cs typeface="+mn-cs"/>
              </a:rPr>
              <a:t>đầu</a:t>
            </a:r>
            <a:endParaRPr lang="en-US" sz="1200" kern="1200" dirty="0">
              <a:solidFill>
                <a:schemeClr val="tx1"/>
              </a:solidFill>
              <a:effectLst/>
              <a:latin typeface="+mn-lt"/>
              <a:ea typeface="+mn-ea"/>
              <a:cs typeface="+mn-cs"/>
            </a:endParaRPr>
          </a:p>
          <a:p>
            <a:r>
              <a:rPr lang="en-US" sz="1200" b="1" kern="1200" dirty="0" err="1">
                <a:solidFill>
                  <a:schemeClr val="tx1"/>
                </a:solidFill>
                <a:effectLst/>
                <a:latin typeface="+mn-lt"/>
                <a:ea typeface="+mn-ea"/>
                <a:cs typeface="+mn-cs"/>
              </a:rPr>
              <a:t>Cải</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tiến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thuật</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toán</a:t>
            </a:r>
            <a:r>
              <a:rPr lang="en-US" sz="1200" b="1" kern="1200" dirty="0">
                <a:solidFill>
                  <a:schemeClr val="tx1"/>
                </a:solidFill>
                <a:effectLst/>
                <a:latin typeface="+mn-lt"/>
                <a:ea typeface="+mn-ea"/>
                <a:cs typeface="+mn-cs"/>
              </a:rPr>
              <a:t> T/2</a:t>
            </a:r>
            <a:r>
              <a:rPr lang="en-US" sz="1200" kern="1200" dirty="0">
                <a:solidFill>
                  <a:schemeClr val="tx1"/>
                </a:solidFill>
                <a:effectLst/>
                <a:latin typeface="+mn-lt"/>
                <a:ea typeface="+mn-ea"/>
                <a:cs typeface="+mn-cs"/>
              </a:rPr>
              <a:t>: Diffusion </a:t>
            </a:r>
            <a:r>
              <a:rPr lang="en-US" sz="1200" kern="1200" dirty="0" err="1">
                <a:solidFill>
                  <a:schemeClr val="tx1"/>
                </a:solidFill>
                <a:effectLst/>
                <a:latin typeface="+mn-lt"/>
                <a:ea typeface="+mn-ea"/>
                <a:cs typeface="+mn-cs"/>
              </a:rPr>
              <a:t>truyền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dùng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lịch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gian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thêm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rồi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bớt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nhiễu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lặp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lại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ảnh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mỗi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bước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ảnh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hỗn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hợp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giữa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nhiều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nhiễu</a:t>
            </a:r>
            <a:r>
              <a:rPr lang="en-US" sz="1200" kern="1200" dirty="0">
                <a:solidFill>
                  <a:schemeClr val="tx1"/>
                </a:solidFill>
                <a:effectLst/>
                <a:latin typeface="+mn-lt"/>
                <a:ea typeface="+mn-ea"/>
                <a:cs typeface="+mn-cs"/>
              </a:rPr>
              <a:t> Gauss </a:t>
            </a:r>
            <a:r>
              <a:rPr lang="en-US" sz="1200" kern="1200" dirty="0" err="1">
                <a:solidFill>
                  <a:schemeClr val="tx1"/>
                </a:solidFill>
                <a:effectLst/>
                <a:latin typeface="+mn-lt"/>
                <a:ea typeface="+mn-ea"/>
                <a:cs typeface="+mn-cs"/>
              </a:rPr>
              <a:t>hơn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ít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gốc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hơn</a:t>
            </a:r>
            <a:r>
              <a:rPr lang="en-US" sz="1200" kern="1200" dirty="0">
                <a:solidFill>
                  <a:schemeClr val="tx1"/>
                </a:solidFill>
                <a:effectLst/>
                <a:latin typeface="+mn-lt"/>
                <a:ea typeface="+mn-ea"/>
                <a:cs typeface="+mn-cs"/>
              </a:rPr>
              <a:t>. Khi </a:t>
            </a:r>
            <a:r>
              <a:rPr lang="en-US" sz="1200" kern="1200" dirty="0" err="1">
                <a:solidFill>
                  <a:schemeClr val="tx1"/>
                </a:solidFill>
                <a:effectLst/>
                <a:latin typeface="+mn-lt"/>
                <a:ea typeface="+mn-ea"/>
                <a:cs typeface="+mn-cs"/>
              </a:rPr>
              <a:t>áp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nhóm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thấy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mô</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hình</a:t>
            </a:r>
            <a:r>
              <a:rPr lang="en-US" sz="1200" kern="1200" dirty="0">
                <a:solidFill>
                  <a:schemeClr val="tx1"/>
                </a:solidFill>
                <a:effectLst/>
                <a:latin typeface="+mn-lt"/>
                <a:ea typeface="+mn-ea"/>
                <a:cs typeface="+mn-cs"/>
              </a:rPr>
              <a:t> Diffusion </a:t>
            </a:r>
            <a:r>
              <a:rPr lang="en-US" sz="1200" kern="1200" dirty="0" err="1">
                <a:solidFill>
                  <a:schemeClr val="tx1"/>
                </a:solidFill>
                <a:effectLst/>
                <a:latin typeface="+mn-lt"/>
                <a:ea typeface="+mn-ea"/>
                <a:cs typeface="+mn-cs"/>
              </a:rPr>
              <a:t>gặp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tái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mẫu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khắc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phục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nhóm</a:t>
            </a:r>
            <a:r>
              <a:rPr lang="en-US" sz="1200"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chỉ</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thêm</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nhiễu</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đến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bước</a:t>
            </a:r>
            <a:r>
              <a:rPr lang="en-US" sz="1200" b="1" kern="1200" dirty="0">
                <a:solidFill>
                  <a:schemeClr val="tx1"/>
                </a:solidFill>
                <a:effectLst/>
                <a:latin typeface="+mn-lt"/>
                <a:ea typeface="+mn-ea"/>
                <a:cs typeface="+mn-cs"/>
              </a:rPr>
              <a:t> T/2 </a:t>
            </a:r>
            <a:r>
              <a:rPr lang="en-US" sz="1200" b="1" kern="1200" dirty="0" err="1">
                <a:solidFill>
                  <a:schemeClr val="tx1"/>
                </a:solidFill>
                <a:effectLst/>
                <a:latin typeface="+mn-lt"/>
                <a:ea typeface="+mn-ea"/>
                <a:cs typeface="+mn-cs"/>
              </a:rPr>
              <a:t>thay</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vì</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đủ</a:t>
            </a:r>
            <a:r>
              <a:rPr lang="en-US" sz="1200" b="1" kern="1200" dirty="0">
                <a:solidFill>
                  <a:schemeClr val="tx1"/>
                </a:solidFill>
                <a:effectLst/>
                <a:latin typeface="+mn-lt"/>
                <a:ea typeface="+mn-ea"/>
                <a:cs typeface="+mn-cs"/>
              </a:rPr>
              <a:t> T </a:t>
            </a:r>
            <a:r>
              <a:rPr lang="en-US" sz="1200" b="1" kern="1200" dirty="0" err="1">
                <a:solidFill>
                  <a:schemeClr val="tx1"/>
                </a:solidFill>
                <a:effectLst/>
                <a:latin typeface="+mn-lt"/>
                <a:ea typeface="+mn-ea"/>
                <a:cs typeface="+mn-cs"/>
              </a:rPr>
              <a:t>bước</a:t>
            </a:r>
            <a:r>
              <a:rPr lang="en-US" sz="1200" kern="1200" dirty="0">
                <a:solidFill>
                  <a:schemeClr val="tx1"/>
                </a:solidFill>
                <a:effectLst/>
                <a:latin typeface="+mn-lt"/>
                <a:ea typeface="+mn-ea"/>
                <a:cs typeface="+mn-cs"/>
              </a:rPr>
              <a:t>. Điều chỉnh này áp dụng </a:t>
            </a:r>
            <a:r>
              <a:rPr lang="en-US" sz="1200" b="1" kern="1200" dirty="0">
                <a:solidFill>
                  <a:schemeClr val="tx1"/>
                </a:solidFill>
                <a:effectLst/>
                <a:latin typeface="+mn-lt"/>
                <a:ea typeface="+mn-ea"/>
                <a:cs typeface="+mn-cs"/>
              </a:rPr>
              <a:t>đối xứng</a:t>
            </a:r>
            <a:r>
              <a:rPr lang="en-US" sz="1200" kern="1200" dirty="0">
                <a:solidFill>
                  <a:schemeClr val="tx1"/>
                </a:solidFill>
                <a:effectLst/>
                <a:latin typeface="+mn-lt"/>
                <a:ea typeface="+mn-ea"/>
                <a:cs typeface="+mn-cs"/>
              </a:rPr>
              <a:t> cho cả quá trình thuận và ngược, và giúp mô hình sinh được mẫu đạt yêu </a:t>
            </a:r>
            <a:r>
              <a:rPr lang="en-US" sz="1200" kern="1200" dirty="0" smtClean="0">
                <a:solidFill>
                  <a:schemeClr val="tx1"/>
                </a:solidFill>
                <a:effectLst/>
                <a:latin typeface="+mn-lt"/>
                <a:ea typeface="+mn-ea"/>
                <a:cs typeface="+mn-cs"/>
              </a:rPr>
              <a:t>cầu</a:t>
            </a:r>
            <a:br>
              <a:rPr lang="en-US" sz="1200" kern="1200" dirty="0" smtClean="0">
                <a:solidFill>
                  <a:schemeClr val="tx1"/>
                </a:solidFill>
                <a:effectLst/>
                <a:latin typeface="+mn-lt"/>
                <a:ea typeface="+mn-ea"/>
                <a:cs typeface="+mn-cs"/>
              </a:rPr>
            </a:br>
            <a:r>
              <a:rPr lang="vi-VN" b="1" dirty="0" smtClean="0"/>
              <a:t>Đây là kiến trúc Diffusion được tác giả điều chỉnh cho dữ liệu malware embedding. Khác với GAN và WGAN-GP, mô hình này không sử dụng Generator và Discriminator hoặc Critic để đối đầu nhau.</a:t>
            </a:r>
            <a:endParaRPr lang="vi-VN" dirty="0" smtClean="0"/>
          </a:p>
          <a:p>
            <a:r>
              <a:rPr lang="vi-VN" b="1" dirty="0" smtClean="0"/>
              <a:t>Đầu tiên, malware embedding thật x0x_0 được đưa qua Forward Diffusion Process. Quá trình này liên tục thêm Gaussian noise vào embedding và trong nghiên cứu được thực hiện đến timestep T/2. Kết quả là một noisy malware embedding xT/2x_{T/2}.</a:t>
            </a:r>
            <a:endParaRPr lang="vi-VN" dirty="0" smtClean="0"/>
          </a:p>
          <a:p>
            <a:r>
              <a:rPr lang="vi-VN" b="1" dirty="0" smtClean="0"/>
              <a:t>Noisy embedding này được đưa vào kiến trúc U-Net. U-Net được điều chỉnh để xử lý dữ liệu một chiều bằng Conv1D. Mạng gồm các bước Down Sample, Residual Block, Attention và Up Sample. Mục tiêu của U-Net là dự đoán lượng noise đã được thêm vào dữ liệu.</a:t>
            </a:r>
            <a:endParaRPr lang="vi-VN" dirty="0" smtClean="0"/>
          </a:p>
          <a:p>
            <a:r>
              <a:rPr lang="vi-VN" b="1" dirty="0" smtClean="0"/>
              <a:t>Sau khi dự đoán noise, mô hình thực hiện Remove Noise. Quá trình dự đoán noise và khử noise được lặp lại qua nhiều timestep. Sau khi khử nhiễu hoàn toàn, mô hình thu được synthetic malware embedding xsx_s.</a:t>
            </a:r>
            <a:endParaRPr lang="vi-VN" dirty="0" smtClean="0"/>
          </a:p>
          <a:p>
            <a:r>
              <a:rPr lang="vi-VN" b="1" dirty="0" smtClean="0"/>
              <a:t>Như vậy, ý tưởng cốt lõi của Diffusion là thay vì trực tiếp học cách tạo malware embedding, mô hình học cách khử nhiễu. Khi đã học được quá trình này, các noise khác nhau có thể được sử dụng để sinh ra nhiều synthetic malware embeddings.</a:t>
            </a:r>
            <a:endParaRPr lang="vi-VN"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lvl="0"/>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9D1C34F-6379-394D-2372-DF049B58B76C}"/>
              </a:ext>
            </a:extLst>
          </p:cNvPr>
          <p:cNvSpPr>
            <a:spLocks noGrp="1"/>
          </p:cNvSpPr>
          <p:nvPr>
            <p:ph type="sldNum" sz="quarter" idx="10"/>
          </p:nvPr>
        </p:nvSpPr>
        <p:spPr/>
        <p:txBody>
          <a:bodyPr/>
          <a:lstStyle/>
          <a:p>
            <a:fld id="{F948FFC3-9481-4211-A1C4-A0413854C135}" type="slidenum">
              <a:rPr lang="en-US" smtClean="0"/>
              <a:t>11</a:t>
            </a:fld>
            <a:endParaRPr lang="en-US"/>
          </a:p>
        </p:txBody>
      </p:sp>
    </p:spTree>
    <p:extLst>
      <p:ext uri="{BB962C8B-B14F-4D97-AF65-F5344CB8AC3E}">
        <p14:creationId xmlns:p14="http://schemas.microsoft.com/office/powerpoint/2010/main" val="2545514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“Các mô hình Generative AI ban đầu có thể được thiết kế cho những dạng dữ liệu khác nhau.</a:t>
            </a:r>
          </a:p>
          <a:p>
            <a:r>
              <a:rPr lang="vi-VN" dirty="0"/>
              <a:t>Trong nghiên cứu này, dữ liệu đầu vào là </a:t>
            </a:r>
            <a:r>
              <a:rPr lang="vi-VN" b="1" dirty="0"/>
              <a:t>malware embedding 1 chiều</a:t>
            </a:r>
            <a:r>
              <a:rPr lang="vi-VN" dirty="0"/>
              <a:t>, vì vậy nhóm tác giả phải điều chỉnh kiến trúc để phù hợp.</a:t>
            </a:r>
          </a:p>
          <a:p>
            <a:r>
              <a:rPr lang="vi-VN" dirty="0"/>
              <a:t>Thứ nhất là </a:t>
            </a:r>
            <a:r>
              <a:rPr lang="vi-VN" b="1" dirty="0"/>
              <a:t>Conv1D</a:t>
            </a:r>
            <a:r>
              <a:rPr lang="vi-VN" dirty="0"/>
              <a:t>.</a:t>
            </a:r>
          </a:p>
          <a:p>
            <a:r>
              <a:rPr lang="vi-VN" dirty="0"/>
              <a:t>Thay vì sử dụng Conv2D như trong các bài toán ảnh hai chiều, nghiên cứu sử dụng </a:t>
            </a:r>
            <a:r>
              <a:rPr lang="vi-VN" b="1" dirty="0"/>
              <a:t>Conv1D</a:t>
            </a:r>
            <a:r>
              <a:rPr lang="vi-VN" dirty="0"/>
              <a:t> để xử lý dữ liệu embedding dạng chuỗi một chiều.</a:t>
            </a:r>
          </a:p>
          <a:p>
            <a:r>
              <a:rPr lang="vi-VN" dirty="0"/>
              <a:t>Thứ hai là </a:t>
            </a:r>
            <a:r>
              <a:rPr lang="vi-VN" b="1" dirty="0"/>
              <a:t>chuẩn hóa dữ liệu</a:t>
            </a:r>
            <a:r>
              <a:rPr lang="vi-VN" dirty="0"/>
              <a:t>.</a:t>
            </a:r>
          </a:p>
          <a:p>
            <a:r>
              <a:rPr lang="vi-VN" dirty="0"/>
              <a:t>Dữ liệu được scale về khoảng </a:t>
            </a:r>
            <a:r>
              <a:rPr lang="vi-VN" b="1" dirty="0"/>
              <a:t>[-1, 1]</a:t>
            </a:r>
            <a:r>
              <a:rPr lang="vi-VN" dirty="0"/>
              <a:t> để phù hợp với hàm kích hoạt </a:t>
            </a:r>
            <a:r>
              <a:rPr lang="vi-VN" b="1" dirty="0"/>
              <a:t>Tanh</a:t>
            </a:r>
            <a:r>
              <a:rPr lang="vi-VN" dirty="0"/>
              <a:t> được sử dụng trong mô hình.</a:t>
            </a:r>
          </a:p>
          <a:p>
            <a:r>
              <a:rPr lang="vi-VN" dirty="0"/>
              <a:t>Việc này giúp đầu ra của Generator nằm trong khoảng phù hợp với dữ liệu đầu vào.</a:t>
            </a:r>
          </a:p>
          <a:p>
            <a:r>
              <a:rPr lang="vi-VN" dirty="0"/>
              <a:t>Đối với Diffusion, nhóm tác giả cũng điều chỉnh số bước thêm nhiễu.</a:t>
            </a:r>
          </a:p>
          <a:p>
            <a:r>
              <a:rPr lang="vi-VN" dirty="0"/>
              <a:t>Thay vì tiếp tục thêm nhiễu đến toàn bộ chu kỳ T, nghiên cứu chỉ thực hiện đến </a:t>
            </a:r>
            <a:r>
              <a:rPr lang="vi-VN" b="1" dirty="0"/>
              <a:t>T/2</a:t>
            </a:r>
            <a:r>
              <a:rPr lang="vi-VN" dirty="0"/>
              <a:t>.</a:t>
            </a:r>
          </a:p>
          <a:p>
            <a:r>
              <a:rPr lang="vi-VN" dirty="0"/>
              <a:t>Theo kết quả được trình bày trong bài báo, cách điều chỉnh này giúp giữ khoảng </a:t>
            </a:r>
            <a:r>
              <a:rPr lang="vi-VN" b="1" dirty="0"/>
              <a:t>96% Gaussian distribution</a:t>
            </a:r>
            <a:r>
              <a:rPr lang="vi-VN" dirty="0"/>
              <a:t> và hỗ trợ mô hình tái tạo dữ liệu chính xác hơn.”</a:t>
            </a:r>
          </a:p>
          <a:p>
            <a:r>
              <a:rPr lang="en-US" b="1" dirty="0"/>
              <a:t>Câu chuyển:</a:t>
            </a:r>
            <a:endParaRPr lang="en-US" dirty="0"/>
          </a:p>
          <a:p>
            <a:r>
              <a:rPr lang="en-US" dirty="0"/>
              <a:t>“Sau khi sinh dữ liệu, vấn đề tiếp theo là làm thế nào để biết dữ liệu sinh ra có thực sự tốt hay không.”</a:t>
            </a:r>
          </a:p>
          <a:p>
            <a:endParaRPr lang="en-US" dirty="0"/>
          </a:p>
        </p:txBody>
      </p:sp>
      <p:sp>
        <p:nvSpPr>
          <p:cNvPr id="4" name="Slide Number Placeholder 3"/>
          <p:cNvSpPr>
            <a:spLocks noGrp="1"/>
          </p:cNvSpPr>
          <p:nvPr>
            <p:ph type="sldNum" sz="quarter" idx="10"/>
          </p:nvPr>
        </p:nvSpPr>
        <p:spPr/>
        <p:txBody>
          <a:bodyPr/>
          <a:lstStyle/>
          <a:p>
            <a:fld id="{F948FFC3-9481-4211-A1C4-A0413854C135}" type="slidenum">
              <a:rPr lang="en-US" smtClean="0"/>
              <a:t>12</a:t>
            </a:fld>
            <a:endParaRPr lang="en-US"/>
          </a:p>
        </p:txBody>
      </p:sp>
    </p:spTree>
    <p:extLst>
      <p:ext uri="{BB962C8B-B14F-4D97-AF65-F5344CB8AC3E}">
        <p14:creationId xmlns:p14="http://schemas.microsoft.com/office/powerpoint/2010/main" val="6607748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93C"/>
        </a:solidFill>
        <a:effectLst/>
      </p:bgPr>
    </p:bg>
    <p:spTree>
      <p:nvGrpSpPr>
        <p:cNvPr id="1" name=""/>
        <p:cNvGrpSpPr/>
        <p:nvPr/>
      </p:nvGrpSpPr>
      <p:grpSpPr>
        <a:xfrm>
          <a:off x="0" y="0"/>
          <a:ext cx="0" cy="0"/>
          <a:chOff x="0" y="0"/>
          <a:chExt cx="0" cy="0"/>
        </a:xfrm>
      </p:grpSpPr>
      <p:sp>
        <p:nvSpPr>
          <p:cNvPr id="2" name="Rectangle 1"/>
          <p:cNvSpPr/>
          <p:nvPr/>
        </p:nvSpPr>
        <p:spPr>
          <a:xfrm>
            <a:off x="609600" y="4816673"/>
            <a:ext cx="762000" cy="5715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8724900" y="609600"/>
            <a:ext cx="2857500" cy="5638800"/>
          </a:xfrm>
          <a:prstGeom prst="rect">
            <a:avLst/>
          </a:prstGeom>
        </p:spPr>
      </p:pic>
      <p:pic>
        <p:nvPicPr>
          <p:cNvPr id="4" name="Picture 3" descr="image.png"/>
          <p:cNvPicPr>
            <a:picLocks noChangeAspect="1"/>
          </p:cNvPicPr>
          <p:nvPr/>
        </p:nvPicPr>
        <p:blipFill>
          <a:blip r:embed="rId4"/>
          <a:stretch>
            <a:fillRect/>
          </a:stretch>
        </p:blipFill>
        <p:spPr>
          <a:xfrm>
            <a:off x="9582150" y="2857500"/>
            <a:ext cx="1143000" cy="1143000"/>
          </a:xfrm>
          <a:prstGeom prst="rect">
            <a:avLst/>
          </a:prstGeom>
        </p:spPr>
      </p:pic>
      <p:pic>
        <p:nvPicPr>
          <p:cNvPr id="5" name="Picture 4" descr="image.png"/>
          <p:cNvPicPr>
            <a:picLocks noChangeAspect="1"/>
          </p:cNvPicPr>
          <p:nvPr/>
        </p:nvPicPr>
        <p:blipFill>
          <a:blip r:embed="rId5"/>
          <a:stretch>
            <a:fillRect/>
          </a:stretch>
        </p:blipFill>
        <p:spPr>
          <a:xfrm>
            <a:off x="609600" y="1555551"/>
            <a:ext cx="381000" cy="381000"/>
          </a:xfrm>
          <a:prstGeom prst="rect">
            <a:avLst/>
          </a:prstGeom>
        </p:spPr>
      </p:pic>
      <p:sp>
        <p:nvSpPr>
          <p:cNvPr id="6" name="TextBox 5"/>
          <p:cNvSpPr txBox="1"/>
          <p:nvPr/>
        </p:nvSpPr>
        <p:spPr>
          <a:xfrm>
            <a:off x="609600" y="2241351"/>
            <a:ext cx="8141017" cy="1279921"/>
          </a:xfrm>
          <a:prstGeom prst="rect">
            <a:avLst/>
          </a:prstGeom>
          <a:noFill/>
        </p:spPr>
        <p:txBody>
          <a:bodyPr wrap="square" lIns="0" tIns="0" rIns="0" bIns="0" anchor="t">
            <a:spAutoFit/>
          </a:bodyPr>
          <a:lstStyle/>
          <a:p>
            <a:pPr algn="l">
              <a:lnSpc>
                <a:spcPts val="5040"/>
              </a:lnSpc>
            </a:pPr>
            <a:r>
              <a:rPr sz="4200" b="1" i="0" u="none">
                <a:solidFill>
                  <a:srgbClr val="FFFFFF"/>
                </a:solidFill>
                <a:latin typeface="Montserrat"/>
              </a:rPr>
              <a:t>Sinh Dữ Liệu Malware Tổng Hợp Bằng Generative AI</a:t>
            </a:r>
          </a:p>
        </p:txBody>
      </p:sp>
      <p:sp>
        <p:nvSpPr>
          <p:cNvPr id="7" name="TextBox 6"/>
          <p:cNvSpPr txBox="1"/>
          <p:nvPr/>
        </p:nvSpPr>
        <p:spPr>
          <a:xfrm>
            <a:off x="609600" y="3749873"/>
            <a:ext cx="5810250" cy="685800"/>
          </a:xfrm>
          <a:prstGeom prst="rect">
            <a:avLst/>
          </a:prstGeom>
          <a:noFill/>
        </p:spPr>
        <p:txBody>
          <a:bodyPr wrap="square" lIns="0" tIns="0" rIns="0" bIns="0" anchor="t">
            <a:spAutoFit/>
          </a:bodyPr>
          <a:lstStyle/>
          <a:p>
            <a:pPr algn="l">
              <a:lnSpc>
                <a:spcPts val="2700"/>
              </a:lnSpc>
            </a:pPr>
            <a:r>
              <a:rPr sz="1800" b="0" i="0" u="none">
                <a:solidFill>
                  <a:srgbClr val="94A3B8"/>
                </a:solidFill>
                <a:latin typeface="Roboto"/>
              </a:rPr>
              <a:t>Đánh giá phương pháp ứng dụng Diffusion, GAN và WGAN-GP trong gia tăng chất lượng phân loại mã độc.</a:t>
            </a:r>
          </a:p>
        </p:txBody>
      </p:sp>
      <p:sp>
        <p:nvSpPr>
          <p:cNvPr id="8" name="TextBox 7"/>
          <p:cNvSpPr txBox="1"/>
          <p:nvPr/>
        </p:nvSpPr>
        <p:spPr>
          <a:xfrm>
            <a:off x="609600" y="5102423"/>
            <a:ext cx="9572625" cy="200025"/>
          </a:xfrm>
          <a:prstGeom prst="rect">
            <a:avLst/>
          </a:prstGeom>
          <a:noFill/>
        </p:spPr>
        <p:txBody>
          <a:bodyPr wrap="none" lIns="0" tIns="0" rIns="0" bIns="0" anchor="t">
            <a:spAutoFit/>
          </a:bodyPr>
          <a:lstStyle/>
          <a:p>
            <a:pPr algn="l"/>
            <a:r>
              <a:rPr sz="1350" b="0" i="0" u="none">
                <a:solidFill>
                  <a:srgbClr val="CBD5E1"/>
                </a:solidFill>
                <a:latin typeface="Roboto"/>
              </a:rPr>
              <a:t>Nguồn: IEEE Access, Vol 13, 2025</a:t>
            </a:r>
          </a:p>
        </p:txBody>
      </p:sp>
      <p:sp>
        <p:nvSpPr>
          <p:cNvPr id="9" name="TextBox 8"/>
          <p:cNvSpPr txBox="1"/>
          <p:nvPr/>
        </p:nvSpPr>
        <p:spPr>
          <a:xfrm>
            <a:off x="1143000" y="1631751"/>
            <a:ext cx="4607718" cy="228600"/>
          </a:xfrm>
          <a:prstGeom prst="rect">
            <a:avLst/>
          </a:prstGeom>
          <a:noFill/>
        </p:spPr>
        <p:txBody>
          <a:bodyPr wrap="none" lIns="0" tIns="0" rIns="0" bIns="0" anchor="t">
            <a:spAutoFit/>
          </a:bodyPr>
          <a:lstStyle/>
          <a:p>
            <a:pPr algn="l"/>
            <a:r>
              <a:rPr sz="1500" b="1" i="0" u="none">
                <a:solidFill>
                  <a:srgbClr val="F8FAFC"/>
                </a:solidFill>
                <a:latin typeface="Montserrat"/>
              </a:rPr>
              <a:t>PHÂN TÍCH BÀI BÁO KHOA HỌC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429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04875"/>
            <a:ext cx="12192000" cy="3810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09600" y="1881187"/>
            <a:ext cx="5334000" cy="1866900"/>
          </a:xfrm>
          <a:prstGeom prst="roundRect">
            <a:avLst>
              <a:gd name="adj" fmla="val 816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248400" y="1881187"/>
            <a:ext cx="5334000" cy="1866900"/>
          </a:xfrm>
          <a:prstGeom prst="roundRect">
            <a:avLst>
              <a:gd name="adj" fmla="val 816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09600" y="4052887"/>
            <a:ext cx="5334000" cy="1866900"/>
          </a:xfrm>
          <a:prstGeom prst="roundRect">
            <a:avLst>
              <a:gd name="adj" fmla="val 816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48400" y="4052887"/>
            <a:ext cx="5334000" cy="1866900"/>
          </a:xfrm>
          <a:prstGeom prst="roundRect">
            <a:avLst>
              <a:gd name="adj" fmla="val 816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09600" y="1881187"/>
            <a:ext cx="5334000" cy="57150"/>
          </a:xfrm>
          <a:prstGeom prst="rect">
            <a:avLst/>
          </a:prstGeom>
          <a:solidFill>
            <a:srgbClr val="1A2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248400" y="1881187"/>
            <a:ext cx="5334000" cy="5715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09600" y="4052887"/>
            <a:ext cx="5334000" cy="57150"/>
          </a:xfrm>
          <a:prstGeom prst="rect">
            <a:avLst/>
          </a:prstGeom>
          <a:solidFill>
            <a:srgbClr val="1A2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48400" y="4052887"/>
            <a:ext cx="5334000" cy="5715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image.png"/>
          <p:cNvPicPr>
            <a:picLocks noChangeAspect="1"/>
          </p:cNvPicPr>
          <p:nvPr/>
        </p:nvPicPr>
        <p:blipFill>
          <a:blip r:embed="rId3"/>
          <a:stretch>
            <a:fillRect/>
          </a:stretch>
        </p:blipFill>
        <p:spPr>
          <a:xfrm>
            <a:off x="11430000" y="338137"/>
            <a:ext cx="304800" cy="304800"/>
          </a:xfrm>
          <a:prstGeom prst="rect">
            <a:avLst/>
          </a:prstGeom>
        </p:spPr>
      </p:pic>
      <p:sp>
        <p:nvSpPr>
          <p:cNvPr id="13" name="TextBox 12"/>
          <p:cNvSpPr txBox="1"/>
          <p:nvPr/>
        </p:nvSpPr>
        <p:spPr>
          <a:xfrm>
            <a:off x="457200" y="304800"/>
            <a:ext cx="4088010" cy="371475"/>
          </a:xfrm>
          <a:prstGeom prst="rect">
            <a:avLst/>
          </a:prstGeom>
          <a:noFill/>
        </p:spPr>
        <p:txBody>
          <a:bodyPr wrap="none" lIns="0" tIns="0" rIns="0" bIns="0" anchor="t">
            <a:spAutoFit/>
          </a:bodyPr>
          <a:lstStyle/>
          <a:p>
            <a:pPr algn="l"/>
            <a:r>
              <a:rPr sz="2400" b="1" i="0" u="none">
                <a:solidFill>
                  <a:srgbClr val="1A293C"/>
                </a:solidFill>
                <a:latin typeface="Montserrat"/>
              </a:rPr>
              <a:t>Nội Dung Trình Bày</a:t>
            </a:r>
          </a:p>
        </p:txBody>
      </p:sp>
      <p:sp>
        <p:nvSpPr>
          <p:cNvPr id="14" name="TextBox 13"/>
          <p:cNvSpPr txBox="1"/>
          <p:nvPr/>
        </p:nvSpPr>
        <p:spPr>
          <a:xfrm>
            <a:off x="990600" y="2319337"/>
            <a:ext cx="3708066" cy="646331"/>
          </a:xfrm>
          <a:prstGeom prst="rect">
            <a:avLst/>
          </a:prstGeom>
          <a:noFill/>
        </p:spPr>
        <p:txBody>
          <a:bodyPr wrap="none" lIns="0" tIns="0" rIns="0" bIns="0" anchor="t">
            <a:spAutoFit/>
          </a:bodyPr>
          <a:lstStyle/>
          <a:p>
            <a:r>
              <a:rPr sz="2100" b="1" i="0" u="none" dirty="0">
                <a:solidFill>
                  <a:srgbClr val="1A293C"/>
                </a:solidFill>
                <a:latin typeface="Montserrat"/>
              </a:rPr>
              <a:t>01. </a:t>
            </a:r>
            <a:r>
              <a:rPr lang="en-US" sz="2000" b="1" dirty="0" err="1">
                <a:solidFill>
                  <a:srgbClr val="1A293C"/>
                </a:solidFill>
                <a:latin typeface="Montserrat"/>
              </a:rPr>
              <a:t>Bối</a:t>
            </a:r>
            <a:r>
              <a:rPr lang="en-US" sz="2000" b="1" dirty="0">
                <a:solidFill>
                  <a:srgbClr val="1A293C"/>
                </a:solidFill>
                <a:latin typeface="Montserrat"/>
              </a:rPr>
              <a:t> </a:t>
            </a:r>
            <a:r>
              <a:rPr lang="en-US" sz="2000" b="1" dirty="0" err="1">
                <a:solidFill>
                  <a:srgbClr val="1A293C"/>
                </a:solidFill>
                <a:latin typeface="Montserrat"/>
              </a:rPr>
              <a:t>Cảnh</a:t>
            </a:r>
            <a:r>
              <a:rPr lang="en-US" sz="2000" b="1" dirty="0">
                <a:solidFill>
                  <a:srgbClr val="1A293C"/>
                </a:solidFill>
                <a:latin typeface="Montserrat"/>
              </a:rPr>
              <a:t> &amp; </a:t>
            </a:r>
            <a:r>
              <a:rPr lang="en-US" sz="2000" b="1" dirty="0" err="1">
                <a:solidFill>
                  <a:srgbClr val="1A293C"/>
                </a:solidFill>
                <a:latin typeface="Montserrat"/>
              </a:rPr>
              <a:t>Vấn</a:t>
            </a:r>
            <a:r>
              <a:rPr lang="en-US" sz="2000" b="1" dirty="0">
                <a:solidFill>
                  <a:srgbClr val="1A293C"/>
                </a:solidFill>
                <a:latin typeface="Montserrat"/>
              </a:rPr>
              <a:t> </a:t>
            </a:r>
            <a:r>
              <a:rPr lang="en-US" sz="2000" b="1" dirty="0" err="1">
                <a:solidFill>
                  <a:srgbClr val="1A293C"/>
                </a:solidFill>
                <a:latin typeface="Montserrat"/>
              </a:rPr>
              <a:t>Đề</a:t>
            </a:r>
            <a:r>
              <a:rPr lang="en-US" sz="2000" b="1" dirty="0">
                <a:solidFill>
                  <a:srgbClr val="1A293C"/>
                </a:solidFill>
                <a:latin typeface="Montserrat"/>
              </a:rPr>
              <a:t> </a:t>
            </a:r>
            <a:r>
              <a:rPr lang="en-US" sz="2000" b="1" dirty="0" err="1">
                <a:solidFill>
                  <a:srgbClr val="1A293C"/>
                </a:solidFill>
                <a:latin typeface="Montserrat"/>
              </a:rPr>
              <a:t>Nghiên</a:t>
            </a:r>
            <a:r>
              <a:rPr lang="en-US" sz="2000" b="1" dirty="0">
                <a:solidFill>
                  <a:srgbClr val="1A293C"/>
                </a:solidFill>
                <a:latin typeface="Montserrat"/>
              </a:rPr>
              <a:t> </a:t>
            </a:r>
            <a:r>
              <a:rPr lang="en-US" sz="2000" b="1" dirty="0" err="1">
                <a:solidFill>
                  <a:srgbClr val="1A293C"/>
                </a:solidFill>
                <a:latin typeface="Montserrat"/>
              </a:rPr>
              <a:t>Cứu</a:t>
            </a:r>
            <a:endParaRPr lang="en-US" sz="2000" b="1" dirty="0">
              <a:solidFill>
                <a:srgbClr val="1A293C"/>
              </a:solidFill>
              <a:latin typeface="Montserrat"/>
            </a:endParaRPr>
          </a:p>
          <a:p>
            <a:pPr algn="l"/>
            <a:endParaRPr sz="2100" b="1" i="0" u="none" dirty="0">
              <a:solidFill>
                <a:srgbClr val="1A293C"/>
              </a:solidFill>
              <a:latin typeface="Montserrat"/>
            </a:endParaRPr>
          </a:p>
        </p:txBody>
      </p:sp>
      <p:sp>
        <p:nvSpPr>
          <p:cNvPr id="15" name="TextBox 14"/>
          <p:cNvSpPr txBox="1"/>
          <p:nvPr/>
        </p:nvSpPr>
        <p:spPr>
          <a:xfrm>
            <a:off x="990600" y="2795587"/>
            <a:ext cx="4667250" cy="571500"/>
          </a:xfrm>
          <a:prstGeom prst="rect">
            <a:avLst/>
          </a:prstGeom>
          <a:noFill/>
        </p:spPr>
        <p:txBody>
          <a:bodyPr wrap="square" lIns="0" tIns="0" rIns="0" bIns="0" anchor="t">
            <a:spAutoFit/>
          </a:bodyPr>
          <a:lstStyle/>
          <a:p>
            <a:pPr algn="l">
              <a:lnSpc>
                <a:spcPts val="2250"/>
              </a:lnSpc>
            </a:pPr>
            <a:r>
              <a:rPr sz="1500" b="0" i="0" u="none">
                <a:solidFill>
                  <a:srgbClr val="64748B"/>
                </a:solidFill>
                <a:latin typeface="Roboto"/>
              </a:rPr>
              <a:t>Khó khăn trong phân loại malware và sự thiếu hụt dữ liệu huấn luyện.</a:t>
            </a:r>
          </a:p>
        </p:txBody>
      </p:sp>
      <p:sp>
        <p:nvSpPr>
          <p:cNvPr id="16" name="TextBox 15"/>
          <p:cNvSpPr txBox="1"/>
          <p:nvPr/>
        </p:nvSpPr>
        <p:spPr>
          <a:xfrm>
            <a:off x="6629400" y="2319337"/>
            <a:ext cx="3197670" cy="646331"/>
          </a:xfrm>
          <a:prstGeom prst="rect">
            <a:avLst/>
          </a:prstGeom>
          <a:noFill/>
        </p:spPr>
        <p:txBody>
          <a:bodyPr wrap="none" lIns="0" tIns="0" rIns="0" bIns="0" anchor="t">
            <a:spAutoFit/>
          </a:bodyPr>
          <a:lstStyle/>
          <a:p>
            <a:r>
              <a:rPr sz="2100" b="1" i="0" u="none" dirty="0">
                <a:solidFill>
                  <a:srgbClr val="1A293C"/>
                </a:solidFill>
                <a:latin typeface="Montserrat"/>
              </a:rPr>
              <a:t>02. </a:t>
            </a:r>
            <a:r>
              <a:rPr lang="en-US" sz="2000" b="1" dirty="0">
                <a:solidFill>
                  <a:srgbClr val="1A293C"/>
                </a:solidFill>
                <a:latin typeface="Montserrat"/>
              </a:rPr>
              <a:t>Quy </a:t>
            </a:r>
            <a:r>
              <a:rPr lang="en-US" sz="2000" b="1" dirty="0" err="1">
                <a:solidFill>
                  <a:srgbClr val="1A293C"/>
                </a:solidFill>
                <a:latin typeface="Montserrat"/>
              </a:rPr>
              <a:t>trình</a:t>
            </a:r>
            <a:r>
              <a:rPr lang="en-US" sz="2000" b="1" dirty="0">
                <a:solidFill>
                  <a:srgbClr val="1A293C"/>
                </a:solidFill>
                <a:latin typeface="Montserrat"/>
              </a:rPr>
              <a:t> </a:t>
            </a:r>
            <a:r>
              <a:rPr lang="en-US" sz="2000" b="1" dirty="0" err="1">
                <a:solidFill>
                  <a:srgbClr val="1A293C"/>
                </a:solidFill>
                <a:latin typeface="Montserrat"/>
              </a:rPr>
              <a:t>xử</a:t>
            </a:r>
            <a:r>
              <a:rPr lang="en-US" sz="2000" b="1" dirty="0">
                <a:solidFill>
                  <a:srgbClr val="1A293C"/>
                </a:solidFill>
                <a:latin typeface="Montserrat"/>
              </a:rPr>
              <a:t> </a:t>
            </a:r>
            <a:r>
              <a:rPr lang="en-US" sz="2000" b="1" dirty="0" err="1">
                <a:solidFill>
                  <a:srgbClr val="1A293C"/>
                </a:solidFill>
                <a:latin typeface="Montserrat"/>
              </a:rPr>
              <a:t>lý</a:t>
            </a:r>
            <a:r>
              <a:rPr lang="en-US" sz="2000" b="1" dirty="0">
                <a:solidFill>
                  <a:srgbClr val="1A293C"/>
                </a:solidFill>
                <a:latin typeface="Montserrat"/>
              </a:rPr>
              <a:t> </a:t>
            </a:r>
            <a:r>
              <a:rPr lang="en-US" sz="2000" b="1" dirty="0" err="1">
                <a:solidFill>
                  <a:srgbClr val="1A293C"/>
                </a:solidFill>
                <a:latin typeface="Montserrat"/>
              </a:rPr>
              <a:t>tổng</a:t>
            </a:r>
            <a:r>
              <a:rPr lang="en-US" sz="2000" b="1" dirty="0">
                <a:solidFill>
                  <a:srgbClr val="1A293C"/>
                </a:solidFill>
                <a:latin typeface="Montserrat"/>
              </a:rPr>
              <a:t>  </a:t>
            </a:r>
            <a:r>
              <a:rPr lang="en-US" sz="2000" b="1" dirty="0" err="1">
                <a:solidFill>
                  <a:srgbClr val="1A293C"/>
                </a:solidFill>
                <a:latin typeface="Montserrat"/>
              </a:rPr>
              <a:t>thể</a:t>
            </a:r>
            <a:endParaRPr lang="en-US" sz="2000" b="1" dirty="0">
              <a:solidFill>
                <a:srgbClr val="1A293C"/>
              </a:solidFill>
              <a:latin typeface="Montserrat"/>
            </a:endParaRPr>
          </a:p>
          <a:p>
            <a:pPr algn="l"/>
            <a:endParaRPr sz="2100" b="1" i="0" u="none" dirty="0">
              <a:solidFill>
                <a:srgbClr val="1A293C"/>
              </a:solidFill>
              <a:latin typeface="Montserrat"/>
            </a:endParaRPr>
          </a:p>
        </p:txBody>
      </p:sp>
      <p:sp>
        <p:nvSpPr>
          <p:cNvPr id="17" name="TextBox 16"/>
          <p:cNvSpPr txBox="1"/>
          <p:nvPr/>
        </p:nvSpPr>
        <p:spPr>
          <a:xfrm>
            <a:off x="6629400" y="2795587"/>
            <a:ext cx="4667250" cy="571500"/>
          </a:xfrm>
          <a:prstGeom prst="rect">
            <a:avLst/>
          </a:prstGeom>
          <a:noFill/>
        </p:spPr>
        <p:txBody>
          <a:bodyPr wrap="square" lIns="0" tIns="0" rIns="0" bIns="0" anchor="t">
            <a:spAutoFit/>
          </a:bodyPr>
          <a:lstStyle/>
          <a:p>
            <a:pPr algn="l">
              <a:lnSpc>
                <a:spcPts val="2250"/>
              </a:lnSpc>
            </a:pPr>
            <a:r>
              <a:rPr sz="1500" b="0" i="0" u="none">
                <a:solidFill>
                  <a:srgbClr val="64748B"/>
                </a:solidFill>
                <a:latin typeface="Roboto"/>
              </a:rPr>
              <a:t>Biểu diễn Opcode và ứng dụng các mô hình học sinh (GenAI).</a:t>
            </a:r>
          </a:p>
        </p:txBody>
      </p:sp>
      <p:sp>
        <p:nvSpPr>
          <p:cNvPr id="18" name="TextBox 17"/>
          <p:cNvSpPr txBox="1"/>
          <p:nvPr/>
        </p:nvSpPr>
        <p:spPr>
          <a:xfrm>
            <a:off x="990600" y="4491037"/>
            <a:ext cx="6000750" cy="323850"/>
          </a:xfrm>
          <a:prstGeom prst="rect">
            <a:avLst/>
          </a:prstGeom>
          <a:noFill/>
        </p:spPr>
        <p:txBody>
          <a:bodyPr wrap="none" lIns="0" tIns="0" rIns="0" bIns="0" anchor="t">
            <a:spAutoFit/>
          </a:bodyPr>
          <a:lstStyle/>
          <a:p>
            <a:pPr algn="l"/>
            <a:r>
              <a:rPr sz="2100" b="1" i="0" u="none">
                <a:solidFill>
                  <a:srgbClr val="1A293C"/>
                </a:solidFill>
                <a:latin typeface="Montserrat"/>
              </a:rPr>
              <a:t>03. Đánh Giá</a:t>
            </a:r>
          </a:p>
        </p:txBody>
      </p:sp>
      <p:sp>
        <p:nvSpPr>
          <p:cNvPr id="19" name="TextBox 18"/>
          <p:cNvSpPr txBox="1"/>
          <p:nvPr/>
        </p:nvSpPr>
        <p:spPr>
          <a:xfrm>
            <a:off x="990600" y="4967287"/>
            <a:ext cx="4667250" cy="571500"/>
          </a:xfrm>
          <a:prstGeom prst="rect">
            <a:avLst/>
          </a:prstGeom>
          <a:noFill/>
        </p:spPr>
        <p:txBody>
          <a:bodyPr wrap="square" lIns="0" tIns="0" rIns="0" bIns="0" anchor="t">
            <a:spAutoFit/>
          </a:bodyPr>
          <a:lstStyle/>
          <a:p>
            <a:pPr algn="l">
              <a:lnSpc>
                <a:spcPts val="2250"/>
              </a:lnSpc>
            </a:pPr>
            <a:r>
              <a:rPr sz="1500" b="0" i="0" u="none">
                <a:solidFill>
                  <a:srgbClr val="64748B"/>
                </a:solidFill>
                <a:latin typeface="Roboto"/>
              </a:rPr>
              <a:t>Kiểm định độ tương đồng và chất lượng của dữ liệu sinh ra.</a:t>
            </a:r>
          </a:p>
        </p:txBody>
      </p:sp>
      <p:sp>
        <p:nvSpPr>
          <p:cNvPr id="20" name="TextBox 19"/>
          <p:cNvSpPr txBox="1"/>
          <p:nvPr/>
        </p:nvSpPr>
        <p:spPr>
          <a:xfrm>
            <a:off x="6629400" y="4491037"/>
            <a:ext cx="5562600" cy="323850"/>
          </a:xfrm>
          <a:prstGeom prst="rect">
            <a:avLst/>
          </a:prstGeom>
          <a:noFill/>
        </p:spPr>
        <p:txBody>
          <a:bodyPr wrap="none" lIns="0" tIns="0" rIns="0" bIns="0" anchor="t">
            <a:spAutoFit/>
          </a:bodyPr>
          <a:lstStyle/>
          <a:p>
            <a:pPr algn="l"/>
            <a:r>
              <a:rPr sz="2100" b="1" i="0" u="none">
                <a:solidFill>
                  <a:srgbClr val="1A293C"/>
                </a:solidFill>
                <a:latin typeface="Montserrat"/>
              </a:rPr>
              <a:t>04. Kết Luận</a:t>
            </a:r>
          </a:p>
        </p:txBody>
      </p:sp>
      <p:sp>
        <p:nvSpPr>
          <p:cNvPr id="21" name="TextBox 20"/>
          <p:cNvSpPr txBox="1"/>
          <p:nvPr/>
        </p:nvSpPr>
        <p:spPr>
          <a:xfrm>
            <a:off x="6629400" y="4967287"/>
            <a:ext cx="4667250" cy="571500"/>
          </a:xfrm>
          <a:prstGeom prst="rect">
            <a:avLst/>
          </a:prstGeom>
          <a:noFill/>
        </p:spPr>
        <p:txBody>
          <a:bodyPr wrap="square" lIns="0" tIns="0" rIns="0" bIns="0" anchor="t">
            <a:spAutoFit/>
          </a:bodyPr>
          <a:lstStyle/>
          <a:p>
            <a:pPr algn="l">
              <a:lnSpc>
                <a:spcPts val="2250"/>
              </a:lnSpc>
            </a:pPr>
            <a:r>
              <a:rPr sz="1500" b="0" i="0" u="none">
                <a:solidFill>
                  <a:srgbClr val="64748B"/>
                </a:solidFill>
                <a:latin typeface="Roboto"/>
              </a:rPr>
              <a:t>Hiệu quả tăng cường dữ liệu và các hạn chế của nghiên cứu.</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429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04875"/>
            <a:ext cx="12192000" cy="3810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296150" y="2434828"/>
            <a:ext cx="4286250" cy="2931318"/>
          </a:xfrm>
          <a:prstGeom prst="roundRect">
            <a:avLst>
              <a:gd name="adj" fmla="val 7798"/>
            </a:avLst>
          </a:prstGeom>
          <a:solidFill>
            <a:srgbClr val="1A2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53350" y="3320653"/>
            <a:ext cx="3371850" cy="1905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11430000" y="338137"/>
            <a:ext cx="304800" cy="304800"/>
          </a:xfrm>
          <a:prstGeom prst="rect">
            <a:avLst/>
          </a:prstGeom>
        </p:spPr>
      </p:pic>
      <p:pic>
        <p:nvPicPr>
          <p:cNvPr id="7" name="Picture 6" descr="image.png"/>
          <p:cNvPicPr>
            <a:picLocks noChangeAspect="1"/>
          </p:cNvPicPr>
          <p:nvPr/>
        </p:nvPicPr>
        <p:blipFill>
          <a:blip r:embed="rId4"/>
          <a:stretch>
            <a:fillRect/>
          </a:stretch>
        </p:blipFill>
        <p:spPr>
          <a:xfrm>
            <a:off x="609600" y="3533775"/>
            <a:ext cx="228600" cy="247650"/>
          </a:xfrm>
          <a:prstGeom prst="rect">
            <a:avLst/>
          </a:prstGeom>
        </p:spPr>
      </p:pic>
      <p:pic>
        <p:nvPicPr>
          <p:cNvPr id="8" name="Picture 7" descr="image.png"/>
          <p:cNvPicPr>
            <a:picLocks noChangeAspect="1"/>
          </p:cNvPicPr>
          <p:nvPr/>
        </p:nvPicPr>
        <p:blipFill>
          <a:blip r:embed="rId4"/>
          <a:stretch>
            <a:fillRect/>
          </a:stretch>
        </p:blipFill>
        <p:spPr>
          <a:xfrm>
            <a:off x="609600" y="4029075"/>
            <a:ext cx="228600" cy="247650"/>
          </a:xfrm>
          <a:prstGeom prst="rect">
            <a:avLst/>
          </a:prstGeom>
        </p:spPr>
      </p:pic>
      <p:pic>
        <p:nvPicPr>
          <p:cNvPr id="9" name="Picture 8" descr="image.png"/>
          <p:cNvPicPr>
            <a:picLocks noChangeAspect="1"/>
          </p:cNvPicPr>
          <p:nvPr/>
        </p:nvPicPr>
        <p:blipFill>
          <a:blip r:embed="rId4"/>
          <a:stretch>
            <a:fillRect/>
          </a:stretch>
        </p:blipFill>
        <p:spPr>
          <a:xfrm>
            <a:off x="609600" y="4524375"/>
            <a:ext cx="228600" cy="247650"/>
          </a:xfrm>
          <a:prstGeom prst="rect">
            <a:avLst/>
          </a:prstGeom>
        </p:spPr>
      </p:pic>
      <p:sp>
        <p:nvSpPr>
          <p:cNvPr id="10" name="TextBox 9"/>
          <p:cNvSpPr txBox="1"/>
          <p:nvPr/>
        </p:nvSpPr>
        <p:spPr>
          <a:xfrm>
            <a:off x="457200" y="304800"/>
            <a:ext cx="6500812" cy="371475"/>
          </a:xfrm>
          <a:prstGeom prst="rect">
            <a:avLst/>
          </a:prstGeom>
          <a:noFill/>
        </p:spPr>
        <p:txBody>
          <a:bodyPr wrap="none" lIns="0" tIns="0" rIns="0" bIns="0" anchor="t">
            <a:spAutoFit/>
          </a:bodyPr>
          <a:lstStyle/>
          <a:p>
            <a:pPr algn="l"/>
            <a:r>
              <a:rPr sz="2400" b="1" i="0" u="none" dirty="0" err="1">
                <a:solidFill>
                  <a:srgbClr val="1A293C"/>
                </a:solidFill>
                <a:latin typeface="Montserrat"/>
              </a:rPr>
              <a:t>Bối</a:t>
            </a:r>
            <a:r>
              <a:rPr sz="2400" b="1" i="0" u="none" dirty="0">
                <a:solidFill>
                  <a:srgbClr val="1A293C"/>
                </a:solidFill>
                <a:latin typeface="Montserrat"/>
              </a:rPr>
              <a:t> </a:t>
            </a:r>
            <a:r>
              <a:rPr sz="2400" b="1" i="0" u="none" dirty="0" err="1">
                <a:solidFill>
                  <a:srgbClr val="1A293C"/>
                </a:solidFill>
                <a:latin typeface="Montserrat"/>
              </a:rPr>
              <a:t>Cảnh</a:t>
            </a:r>
            <a:r>
              <a:rPr sz="2400" b="1" i="0" u="none" dirty="0">
                <a:solidFill>
                  <a:srgbClr val="1A293C"/>
                </a:solidFill>
                <a:latin typeface="Montserrat"/>
              </a:rPr>
              <a:t> &amp; </a:t>
            </a:r>
            <a:r>
              <a:rPr sz="2400" b="1" i="0" u="none" dirty="0" err="1">
                <a:solidFill>
                  <a:srgbClr val="1A293C"/>
                </a:solidFill>
                <a:latin typeface="Montserrat"/>
              </a:rPr>
              <a:t>Vấn</a:t>
            </a:r>
            <a:r>
              <a:rPr sz="2400" b="1" i="0" u="none" dirty="0">
                <a:solidFill>
                  <a:srgbClr val="1A293C"/>
                </a:solidFill>
                <a:latin typeface="Montserrat"/>
              </a:rPr>
              <a:t> </a:t>
            </a:r>
            <a:r>
              <a:rPr sz="2400" b="1" i="0" u="none" dirty="0" err="1">
                <a:solidFill>
                  <a:srgbClr val="1A293C"/>
                </a:solidFill>
                <a:latin typeface="Montserrat"/>
              </a:rPr>
              <a:t>Đề</a:t>
            </a:r>
            <a:r>
              <a:rPr sz="2400" b="1" i="0" u="none" dirty="0">
                <a:solidFill>
                  <a:srgbClr val="1A293C"/>
                </a:solidFill>
                <a:latin typeface="Montserrat"/>
              </a:rPr>
              <a:t> </a:t>
            </a:r>
            <a:r>
              <a:rPr sz="2400" b="1" i="0" u="none" dirty="0" err="1">
                <a:solidFill>
                  <a:srgbClr val="1A293C"/>
                </a:solidFill>
                <a:latin typeface="Montserrat"/>
              </a:rPr>
              <a:t>Nghiên</a:t>
            </a:r>
            <a:r>
              <a:rPr sz="2400" b="1" i="0" u="none" dirty="0">
                <a:solidFill>
                  <a:srgbClr val="1A293C"/>
                </a:solidFill>
                <a:latin typeface="Montserrat"/>
              </a:rPr>
              <a:t> </a:t>
            </a:r>
            <a:r>
              <a:rPr sz="2400" b="1" i="0" u="none" dirty="0" err="1">
                <a:solidFill>
                  <a:srgbClr val="1A293C"/>
                </a:solidFill>
                <a:latin typeface="Montserrat"/>
              </a:rPr>
              <a:t>Cứu</a:t>
            </a:r>
            <a:endParaRPr sz="2400" b="1" i="0" u="none" dirty="0">
              <a:solidFill>
                <a:srgbClr val="1A293C"/>
              </a:solidFill>
              <a:latin typeface="Montserrat"/>
            </a:endParaRPr>
          </a:p>
        </p:txBody>
      </p:sp>
      <p:sp>
        <p:nvSpPr>
          <p:cNvPr id="11" name="TextBox 10"/>
          <p:cNvSpPr txBox="1"/>
          <p:nvPr/>
        </p:nvSpPr>
        <p:spPr>
          <a:xfrm>
            <a:off x="609600" y="2809875"/>
            <a:ext cx="8176021" cy="466725"/>
          </a:xfrm>
          <a:prstGeom prst="rect">
            <a:avLst/>
          </a:prstGeom>
          <a:noFill/>
        </p:spPr>
        <p:txBody>
          <a:bodyPr wrap="none" lIns="0" tIns="0" rIns="0" bIns="0" anchor="t">
            <a:spAutoFit/>
          </a:bodyPr>
          <a:lstStyle/>
          <a:p>
            <a:pPr algn="l"/>
            <a:r>
              <a:rPr sz="3000" b="1" i="0" u="none">
                <a:solidFill>
                  <a:srgbClr val="D32F2F"/>
                </a:solidFill>
                <a:latin typeface="Montserrat"/>
              </a:rPr>
              <a:t>Sự mất cân bằng dữ liệu</a:t>
            </a:r>
          </a:p>
        </p:txBody>
      </p:sp>
      <p:sp>
        <p:nvSpPr>
          <p:cNvPr id="12" name="TextBox 11"/>
          <p:cNvSpPr txBox="1"/>
          <p:nvPr/>
        </p:nvSpPr>
        <p:spPr>
          <a:xfrm>
            <a:off x="7753350" y="2892028"/>
            <a:ext cx="3640455" cy="295275"/>
          </a:xfrm>
          <a:prstGeom prst="rect">
            <a:avLst/>
          </a:prstGeom>
          <a:noFill/>
        </p:spPr>
        <p:txBody>
          <a:bodyPr wrap="square" lIns="0" tIns="0" rIns="0" bIns="0" anchor="t">
            <a:spAutoFit/>
          </a:bodyPr>
          <a:lstStyle/>
          <a:p>
            <a:pPr algn="l"/>
            <a:r>
              <a:rPr sz="1800" b="1" i="0" u="none">
                <a:solidFill>
                  <a:srgbClr val="FFFFFF"/>
                </a:solidFill>
                <a:latin typeface="Montserrat"/>
              </a:rPr>
              <a:t>Giải Pháp Đề Xuất</a:t>
            </a:r>
          </a:p>
        </p:txBody>
      </p:sp>
      <p:sp>
        <p:nvSpPr>
          <p:cNvPr id="13" name="TextBox 12"/>
          <p:cNvSpPr txBox="1"/>
          <p:nvPr/>
        </p:nvSpPr>
        <p:spPr>
          <a:xfrm>
            <a:off x="7753350" y="3568303"/>
            <a:ext cx="3467100" cy="1340643"/>
          </a:xfrm>
          <a:prstGeom prst="rect">
            <a:avLst/>
          </a:prstGeom>
          <a:noFill/>
        </p:spPr>
        <p:txBody>
          <a:bodyPr wrap="square" lIns="0" tIns="0" rIns="0" bIns="0" anchor="t">
            <a:spAutoFit/>
          </a:bodyPr>
          <a:lstStyle/>
          <a:p>
            <a:pPr algn="l">
              <a:lnSpc>
                <a:spcPts val="2640"/>
              </a:lnSpc>
            </a:pPr>
            <a:r>
              <a:rPr sz="1650" b="0" i="0" u="none">
                <a:solidFill>
                  <a:srgbClr val="CBD5E1"/>
                </a:solidFill>
                <a:latin typeface="Roboto"/>
              </a:rPr>
              <a:t>Ứng dụng Generative AI để học phân bố của malware hiện tại và sinh ra các mẫu tổng hợp (synthetic samples) chất lượng cao.</a:t>
            </a:r>
          </a:p>
        </p:txBody>
      </p:sp>
      <p:sp>
        <p:nvSpPr>
          <p:cNvPr id="14" name="TextBox 13"/>
          <p:cNvSpPr txBox="1"/>
          <p:nvPr/>
        </p:nvSpPr>
        <p:spPr>
          <a:xfrm>
            <a:off x="990600" y="3505200"/>
            <a:ext cx="6153929" cy="276999"/>
          </a:xfrm>
          <a:prstGeom prst="rect">
            <a:avLst/>
          </a:prstGeom>
          <a:noFill/>
        </p:spPr>
        <p:txBody>
          <a:bodyPr wrap="none" lIns="0" tIns="0" rIns="0" bIns="0" anchor="t">
            <a:spAutoFit/>
          </a:bodyPr>
          <a:lstStyle/>
          <a:p>
            <a:pPr algn="l"/>
            <a:r>
              <a:rPr sz="1800" b="0" i="0" u="none" dirty="0" err="1">
                <a:solidFill>
                  <a:srgbClr val="334155"/>
                </a:solidFill>
                <a:latin typeface="Roboto"/>
              </a:rPr>
              <a:t>Thiếu</a:t>
            </a:r>
            <a:r>
              <a:rPr sz="1800" b="0" i="0" u="none" dirty="0">
                <a:solidFill>
                  <a:srgbClr val="334155"/>
                </a:solidFill>
                <a:latin typeface="Roboto"/>
              </a:rPr>
              <a:t> </a:t>
            </a:r>
            <a:r>
              <a:rPr sz="1800" b="0" i="0" u="none" dirty="0" err="1">
                <a:solidFill>
                  <a:srgbClr val="334155"/>
                </a:solidFill>
                <a:latin typeface="Roboto"/>
              </a:rPr>
              <a:t>hụt</a:t>
            </a:r>
            <a:r>
              <a:rPr sz="1800" b="0" i="0" u="none" dirty="0">
                <a:solidFill>
                  <a:srgbClr val="334155"/>
                </a:solidFill>
                <a:latin typeface="Roboto"/>
              </a:rPr>
              <a:t> </a:t>
            </a:r>
            <a:r>
              <a:rPr sz="1800" b="0" i="0" u="none" dirty="0" err="1">
                <a:solidFill>
                  <a:srgbClr val="334155"/>
                </a:solidFill>
                <a:latin typeface="Roboto"/>
              </a:rPr>
              <a:t>mẫu</a:t>
            </a:r>
            <a:r>
              <a:rPr sz="1800" b="0" i="0" u="none" dirty="0">
                <a:solidFill>
                  <a:srgbClr val="334155"/>
                </a:solidFill>
                <a:latin typeface="Roboto"/>
              </a:rPr>
              <a:t> </a:t>
            </a:r>
            <a:r>
              <a:rPr sz="1800" b="0" i="0" u="none" dirty="0" err="1">
                <a:solidFill>
                  <a:srgbClr val="334155"/>
                </a:solidFill>
                <a:latin typeface="Roboto"/>
              </a:rPr>
              <a:t>huấn</a:t>
            </a:r>
            <a:r>
              <a:rPr sz="1800" b="0" i="0" u="none" dirty="0">
                <a:solidFill>
                  <a:srgbClr val="334155"/>
                </a:solidFill>
                <a:latin typeface="Roboto"/>
              </a:rPr>
              <a:t> </a:t>
            </a:r>
            <a:r>
              <a:rPr sz="1800" b="0" i="0" u="none" dirty="0" err="1">
                <a:solidFill>
                  <a:srgbClr val="334155"/>
                </a:solidFill>
                <a:latin typeface="Roboto"/>
              </a:rPr>
              <a:t>luyện</a:t>
            </a:r>
            <a:r>
              <a:rPr sz="1800" b="0" i="0" u="none" dirty="0">
                <a:solidFill>
                  <a:srgbClr val="334155"/>
                </a:solidFill>
                <a:latin typeface="Roboto"/>
              </a:rPr>
              <a:t> </a:t>
            </a:r>
            <a:r>
              <a:rPr sz="1800" b="0" i="0" u="none" dirty="0" err="1">
                <a:solidFill>
                  <a:srgbClr val="334155"/>
                </a:solidFill>
                <a:latin typeface="Roboto"/>
              </a:rPr>
              <a:t>cho</a:t>
            </a:r>
            <a:r>
              <a:rPr sz="1800" b="0" i="0" u="none" dirty="0">
                <a:solidFill>
                  <a:srgbClr val="334155"/>
                </a:solidFill>
                <a:latin typeface="Roboto"/>
              </a:rPr>
              <a:t> </a:t>
            </a:r>
            <a:r>
              <a:rPr sz="1800" b="0" i="0" u="none" dirty="0" err="1">
                <a:solidFill>
                  <a:srgbClr val="334155"/>
                </a:solidFill>
                <a:latin typeface="Roboto"/>
              </a:rPr>
              <a:t>các</a:t>
            </a:r>
            <a:r>
              <a:rPr sz="1800" b="0" i="0" u="none" dirty="0">
                <a:solidFill>
                  <a:srgbClr val="334155"/>
                </a:solidFill>
                <a:latin typeface="Roboto"/>
              </a:rPr>
              <a:t> </a:t>
            </a:r>
            <a:r>
              <a:rPr sz="1800" b="0" i="0" u="none" dirty="0" err="1">
                <a:solidFill>
                  <a:srgbClr val="334155"/>
                </a:solidFill>
                <a:latin typeface="Roboto"/>
              </a:rPr>
              <a:t>họ</a:t>
            </a:r>
            <a:r>
              <a:rPr sz="1800" b="0" i="0" u="none" dirty="0">
                <a:solidFill>
                  <a:srgbClr val="334155"/>
                </a:solidFill>
                <a:latin typeface="Roboto"/>
              </a:rPr>
              <a:t> </a:t>
            </a:r>
            <a:r>
              <a:rPr lang="en-US" dirty="0" err="1">
                <a:solidFill>
                  <a:srgbClr val="334155"/>
                </a:solidFill>
                <a:latin typeface="Roboto"/>
              </a:rPr>
              <a:t>mã</a:t>
            </a:r>
            <a:r>
              <a:rPr lang="en-US" dirty="0">
                <a:solidFill>
                  <a:srgbClr val="334155"/>
                </a:solidFill>
                <a:latin typeface="Roboto"/>
              </a:rPr>
              <a:t> </a:t>
            </a:r>
            <a:r>
              <a:rPr lang="en-US" dirty="0" err="1">
                <a:solidFill>
                  <a:srgbClr val="334155"/>
                </a:solidFill>
                <a:latin typeface="Roboto"/>
              </a:rPr>
              <a:t>độc</a:t>
            </a:r>
            <a:r>
              <a:rPr sz="1800" b="0" i="0" u="none" dirty="0">
                <a:solidFill>
                  <a:srgbClr val="334155"/>
                </a:solidFill>
                <a:latin typeface="Roboto"/>
              </a:rPr>
              <a:t> </a:t>
            </a:r>
            <a:r>
              <a:rPr lang="en-US" dirty="0" err="1">
                <a:solidFill>
                  <a:srgbClr val="334155"/>
                </a:solidFill>
                <a:latin typeface="Roboto"/>
              </a:rPr>
              <a:t>số</a:t>
            </a:r>
            <a:r>
              <a:rPr lang="en-US" dirty="0">
                <a:solidFill>
                  <a:srgbClr val="334155"/>
                </a:solidFill>
                <a:latin typeface="Roboto"/>
              </a:rPr>
              <a:t> </a:t>
            </a:r>
            <a:r>
              <a:rPr lang="en-US" dirty="0" err="1">
                <a:solidFill>
                  <a:srgbClr val="334155"/>
                </a:solidFill>
                <a:latin typeface="Roboto"/>
              </a:rPr>
              <a:t>lượng</a:t>
            </a:r>
            <a:r>
              <a:rPr lang="en-US" dirty="0">
                <a:solidFill>
                  <a:srgbClr val="334155"/>
                </a:solidFill>
                <a:latin typeface="Roboto"/>
              </a:rPr>
              <a:t> </a:t>
            </a:r>
            <a:r>
              <a:rPr lang="en-US" dirty="0" err="1">
                <a:solidFill>
                  <a:srgbClr val="334155"/>
                </a:solidFill>
                <a:latin typeface="Roboto"/>
              </a:rPr>
              <a:t>nhỏ</a:t>
            </a:r>
            <a:endParaRPr sz="1800" b="0" i="0" u="none" dirty="0">
              <a:solidFill>
                <a:srgbClr val="334155"/>
              </a:solidFill>
              <a:latin typeface="Roboto"/>
            </a:endParaRPr>
          </a:p>
        </p:txBody>
      </p:sp>
      <p:sp>
        <p:nvSpPr>
          <p:cNvPr id="15" name="TextBox 14"/>
          <p:cNvSpPr txBox="1"/>
          <p:nvPr/>
        </p:nvSpPr>
        <p:spPr>
          <a:xfrm>
            <a:off x="990600" y="4000500"/>
            <a:ext cx="6846093" cy="266700"/>
          </a:xfrm>
          <a:prstGeom prst="rect">
            <a:avLst/>
          </a:prstGeom>
          <a:noFill/>
        </p:spPr>
        <p:txBody>
          <a:bodyPr wrap="none" lIns="0" tIns="0" rIns="0" bIns="0" anchor="t">
            <a:spAutoFit/>
          </a:bodyPr>
          <a:lstStyle/>
          <a:p>
            <a:pPr algn="l"/>
            <a:r>
              <a:rPr sz="1800" b="0" i="0" u="none">
                <a:solidFill>
                  <a:srgbClr val="334155"/>
                </a:solidFill>
                <a:latin typeface="Roboto"/>
              </a:rPr>
              <a:t>Kỹ thuật làm rối mã (Obfuscation) qua mặt lớp bảo vệ.</a:t>
            </a:r>
          </a:p>
        </p:txBody>
      </p:sp>
      <p:sp>
        <p:nvSpPr>
          <p:cNvPr id="16" name="TextBox 15"/>
          <p:cNvSpPr txBox="1"/>
          <p:nvPr/>
        </p:nvSpPr>
        <p:spPr>
          <a:xfrm>
            <a:off x="990600" y="4495800"/>
            <a:ext cx="4976812" cy="266700"/>
          </a:xfrm>
          <a:prstGeom prst="rect">
            <a:avLst/>
          </a:prstGeom>
          <a:noFill/>
        </p:spPr>
        <p:txBody>
          <a:bodyPr wrap="none" lIns="0" tIns="0" rIns="0" bIns="0" anchor="t">
            <a:spAutoFit/>
          </a:bodyPr>
          <a:lstStyle/>
          <a:p>
            <a:pPr algn="l"/>
            <a:r>
              <a:rPr sz="1800" b="0" i="0" u="none">
                <a:solidFill>
                  <a:srgbClr val="334155"/>
                </a:solidFill>
                <a:latin typeface="Roboto"/>
              </a:rPr>
              <a:t>Thu thập dữ liệu thực tế tốn nhiều năm.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429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04875"/>
            <a:ext cx="12192000" cy="3810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3"/>
          <a:stretch>
            <a:fillRect/>
          </a:stretch>
        </p:blipFill>
        <p:spPr>
          <a:xfrm>
            <a:off x="11391900" y="338137"/>
            <a:ext cx="342900" cy="304800"/>
          </a:xfrm>
          <a:prstGeom prst="rect">
            <a:avLst/>
          </a:prstGeom>
        </p:spPr>
      </p:pic>
      <p:sp>
        <p:nvSpPr>
          <p:cNvPr id="19" name="TextBox 18"/>
          <p:cNvSpPr txBox="1"/>
          <p:nvPr/>
        </p:nvSpPr>
        <p:spPr>
          <a:xfrm>
            <a:off x="457200" y="304800"/>
            <a:ext cx="3345724" cy="369332"/>
          </a:xfrm>
          <a:prstGeom prst="rect">
            <a:avLst/>
          </a:prstGeom>
          <a:noFill/>
        </p:spPr>
        <p:txBody>
          <a:bodyPr wrap="none" lIns="0" tIns="0" rIns="0" bIns="0" anchor="t">
            <a:spAutoFit/>
          </a:bodyPr>
          <a:lstStyle/>
          <a:p>
            <a:pPr algn="l"/>
            <a:r>
              <a:rPr sz="2400" b="1" i="0" u="none" dirty="0">
                <a:solidFill>
                  <a:srgbClr val="1A293C"/>
                </a:solidFill>
                <a:latin typeface="Montserrat"/>
              </a:rPr>
              <a:t>Quy </a:t>
            </a:r>
            <a:r>
              <a:rPr lang="en-US" sz="2400" b="1" dirty="0" err="1">
                <a:solidFill>
                  <a:srgbClr val="1A293C"/>
                </a:solidFill>
                <a:latin typeface="Montserrat"/>
              </a:rPr>
              <a:t>t</a:t>
            </a:r>
            <a:r>
              <a:rPr sz="2400" b="1" i="0" u="none" dirty="0" err="1">
                <a:solidFill>
                  <a:srgbClr val="1A293C"/>
                </a:solidFill>
                <a:latin typeface="Montserrat"/>
              </a:rPr>
              <a:t>rình</a:t>
            </a:r>
            <a:r>
              <a:rPr sz="2400" b="1" i="0" u="none" dirty="0">
                <a:solidFill>
                  <a:srgbClr val="1A293C"/>
                </a:solidFill>
                <a:latin typeface="Montserrat"/>
              </a:rPr>
              <a:t> </a:t>
            </a:r>
            <a:r>
              <a:rPr lang="en-US" sz="2400" b="1" dirty="0" err="1">
                <a:solidFill>
                  <a:srgbClr val="1A293C"/>
                </a:solidFill>
                <a:latin typeface="Montserrat"/>
              </a:rPr>
              <a:t>x</a:t>
            </a:r>
            <a:r>
              <a:rPr sz="2400" b="1" i="0" u="none" dirty="0" err="1">
                <a:solidFill>
                  <a:srgbClr val="1A293C"/>
                </a:solidFill>
                <a:latin typeface="Montserrat"/>
              </a:rPr>
              <a:t>ử</a:t>
            </a:r>
            <a:r>
              <a:rPr sz="2400" b="1" i="0" u="none" dirty="0">
                <a:solidFill>
                  <a:srgbClr val="1A293C"/>
                </a:solidFill>
                <a:latin typeface="Montserrat"/>
              </a:rPr>
              <a:t> </a:t>
            </a:r>
            <a:r>
              <a:rPr lang="en-US" sz="2400" b="1" dirty="0" err="1">
                <a:solidFill>
                  <a:srgbClr val="1A293C"/>
                </a:solidFill>
                <a:latin typeface="Montserrat"/>
              </a:rPr>
              <a:t>l</a:t>
            </a:r>
            <a:r>
              <a:rPr sz="2400" b="1" i="0" u="none" dirty="0" err="1">
                <a:solidFill>
                  <a:srgbClr val="1A293C"/>
                </a:solidFill>
                <a:latin typeface="Montserrat"/>
              </a:rPr>
              <a:t>ý</a:t>
            </a:r>
            <a:r>
              <a:rPr sz="2400" b="1" i="0" u="none" dirty="0">
                <a:solidFill>
                  <a:srgbClr val="1A293C"/>
                </a:solidFill>
                <a:latin typeface="Montserrat"/>
              </a:rPr>
              <a:t> </a:t>
            </a:r>
            <a:r>
              <a:rPr lang="en-US" sz="2400" b="1" dirty="0" err="1">
                <a:solidFill>
                  <a:srgbClr val="1A293C"/>
                </a:solidFill>
                <a:latin typeface="Montserrat"/>
              </a:rPr>
              <a:t>t</a:t>
            </a:r>
            <a:r>
              <a:rPr sz="2400" b="1" i="0" u="none" dirty="0" err="1">
                <a:solidFill>
                  <a:srgbClr val="1A293C"/>
                </a:solidFill>
                <a:latin typeface="Montserrat"/>
              </a:rPr>
              <a:t>ổng</a:t>
            </a:r>
            <a:r>
              <a:rPr lang="en-US" sz="2400" b="1" i="0" u="none" dirty="0">
                <a:solidFill>
                  <a:srgbClr val="1A293C"/>
                </a:solidFill>
                <a:latin typeface="Montserrat"/>
              </a:rPr>
              <a:t> </a:t>
            </a:r>
            <a:r>
              <a:rPr sz="2400" b="1" i="0" u="none" dirty="0">
                <a:solidFill>
                  <a:srgbClr val="1A293C"/>
                </a:solidFill>
                <a:latin typeface="Montserrat"/>
              </a:rPr>
              <a:t> </a:t>
            </a:r>
            <a:r>
              <a:rPr lang="en-US" sz="2400" b="1" dirty="0" err="1">
                <a:solidFill>
                  <a:srgbClr val="1A293C"/>
                </a:solidFill>
                <a:latin typeface="Montserrat"/>
              </a:rPr>
              <a:t>t</a:t>
            </a:r>
            <a:r>
              <a:rPr sz="2400" b="1" i="0" u="none" dirty="0" err="1">
                <a:solidFill>
                  <a:srgbClr val="1A293C"/>
                </a:solidFill>
                <a:latin typeface="Montserrat"/>
              </a:rPr>
              <a:t>hể</a:t>
            </a:r>
            <a:endParaRPr sz="2400" b="1" i="0" u="none" dirty="0">
              <a:solidFill>
                <a:srgbClr val="1A293C"/>
              </a:solidFill>
              <a:latin typeface="Montserrat"/>
            </a:endParaRPr>
          </a:p>
        </p:txBody>
      </p:sp>
      <p:pic>
        <p:nvPicPr>
          <p:cNvPr id="25" name="Picture 24">
            <a:extLst>
              <a:ext uri="{FF2B5EF4-FFF2-40B4-BE49-F238E27FC236}">
                <a16:creationId xmlns:a16="http://schemas.microsoft.com/office/drawing/2014/main" id="{8808226B-68DD-E63F-1246-62DC6C9437BE}"/>
              </a:ext>
            </a:extLst>
          </p:cNvPr>
          <p:cNvPicPr>
            <a:picLocks noChangeAspect="1"/>
          </p:cNvPicPr>
          <p:nvPr/>
        </p:nvPicPr>
        <p:blipFill>
          <a:blip r:embed="rId4"/>
          <a:stretch>
            <a:fillRect/>
          </a:stretch>
        </p:blipFill>
        <p:spPr>
          <a:xfrm>
            <a:off x="2121160" y="1847850"/>
            <a:ext cx="7949680" cy="4827663"/>
          </a:xfrm>
          <a:prstGeom prst="rect">
            <a:avLst/>
          </a:prstGeom>
        </p:spPr>
      </p:pic>
      <p:sp>
        <p:nvSpPr>
          <p:cNvPr id="28" name="TextBox 27">
            <a:extLst>
              <a:ext uri="{FF2B5EF4-FFF2-40B4-BE49-F238E27FC236}">
                <a16:creationId xmlns:a16="http://schemas.microsoft.com/office/drawing/2014/main" id="{94C394AC-F5C6-AB08-30AB-F93063409F12}"/>
              </a:ext>
            </a:extLst>
          </p:cNvPr>
          <p:cNvSpPr txBox="1"/>
          <p:nvPr/>
        </p:nvSpPr>
        <p:spPr>
          <a:xfrm>
            <a:off x="457200" y="1254489"/>
            <a:ext cx="11579290" cy="353943"/>
          </a:xfrm>
          <a:prstGeom prst="rect">
            <a:avLst/>
          </a:prstGeom>
          <a:noFill/>
        </p:spPr>
        <p:txBody>
          <a:bodyPr wrap="square">
            <a:spAutoFit/>
          </a:bodyPr>
          <a:lstStyle/>
          <a:p>
            <a:r>
              <a:rPr lang="en-US" sz="1700" dirty="0">
                <a:ea typeface="Calibri" panose="020F0502020204030204" pitchFamily="34" charset="0"/>
              </a:rPr>
              <a:t>T</a:t>
            </a:r>
            <a:r>
              <a:rPr lang="en-US" sz="1700" dirty="0">
                <a:effectLst/>
                <a:latin typeface="+mn-lt"/>
                <a:ea typeface="Calibri" panose="020F0502020204030204" pitchFamily="34" charset="0"/>
              </a:rPr>
              <a:t>hu </a:t>
            </a:r>
            <a:r>
              <a:rPr lang="en-US" sz="1700" dirty="0" err="1">
                <a:effectLst/>
                <a:latin typeface="+mn-lt"/>
                <a:ea typeface="Calibri" panose="020F0502020204030204" pitchFamily="34" charset="0"/>
              </a:rPr>
              <a:t>thập</a:t>
            </a:r>
            <a:r>
              <a:rPr lang="en-US" sz="1700" dirty="0">
                <a:effectLst/>
                <a:latin typeface="+mn-lt"/>
                <a:ea typeface="Calibri" panose="020F0502020204030204" pitchFamily="34" charset="0"/>
              </a:rPr>
              <a:t> </a:t>
            </a:r>
            <a:r>
              <a:rPr lang="en-US" sz="1700" dirty="0" err="1">
                <a:effectLst/>
                <a:latin typeface="+mn-lt"/>
                <a:ea typeface="Calibri" panose="020F0502020204030204" pitchFamily="34" charset="0"/>
              </a:rPr>
              <a:t>và</a:t>
            </a:r>
            <a:r>
              <a:rPr lang="en-US" sz="1700" dirty="0">
                <a:effectLst/>
                <a:latin typeface="+mn-lt"/>
                <a:ea typeface="Calibri" panose="020F0502020204030204" pitchFamily="34" charset="0"/>
              </a:rPr>
              <a:t> </a:t>
            </a:r>
            <a:r>
              <a:rPr lang="en-US" sz="1700" dirty="0" err="1">
                <a:effectLst/>
                <a:latin typeface="+mn-lt"/>
                <a:ea typeface="Calibri" panose="020F0502020204030204" pitchFamily="34" charset="0"/>
              </a:rPr>
              <a:t>làm</a:t>
            </a:r>
            <a:r>
              <a:rPr lang="en-US" sz="1700" dirty="0">
                <a:effectLst/>
                <a:latin typeface="+mn-lt"/>
                <a:ea typeface="Calibri" panose="020F0502020204030204" pitchFamily="34" charset="0"/>
              </a:rPr>
              <a:t> </a:t>
            </a:r>
            <a:r>
              <a:rPr lang="en-US" sz="1700" dirty="0" err="1">
                <a:effectLst/>
                <a:latin typeface="+mn-lt"/>
                <a:ea typeface="Calibri" panose="020F0502020204030204" pitchFamily="34" charset="0"/>
              </a:rPr>
              <a:t>sạch</a:t>
            </a:r>
            <a:r>
              <a:rPr lang="en-US" sz="1700" dirty="0">
                <a:effectLst/>
                <a:latin typeface="+mn-lt"/>
                <a:ea typeface="Calibri" panose="020F0502020204030204" pitchFamily="34" charset="0"/>
              </a:rPr>
              <a:t> </a:t>
            </a:r>
            <a:r>
              <a:rPr lang="en-US" sz="1700" dirty="0" err="1">
                <a:effectLst/>
                <a:latin typeface="+mn-lt"/>
                <a:ea typeface="Calibri" panose="020F0502020204030204" pitchFamily="34" charset="0"/>
              </a:rPr>
              <a:t>các</a:t>
            </a:r>
            <a:r>
              <a:rPr lang="en-US" sz="1700" dirty="0">
                <a:effectLst/>
                <a:latin typeface="+mn-lt"/>
                <a:ea typeface="Calibri" panose="020F0502020204030204" pitchFamily="34" charset="0"/>
              </a:rPr>
              <a:t> </a:t>
            </a:r>
            <a:r>
              <a:rPr lang="en-US" sz="1700" dirty="0" err="1">
                <a:effectLst/>
                <a:latin typeface="+mn-lt"/>
                <a:ea typeface="Calibri" panose="020F0502020204030204" pitchFamily="34" charset="0"/>
              </a:rPr>
              <a:t>dữ</a:t>
            </a:r>
            <a:r>
              <a:rPr lang="en-US" sz="1700" dirty="0">
                <a:effectLst/>
                <a:latin typeface="+mn-lt"/>
                <a:ea typeface="Calibri" panose="020F0502020204030204" pitchFamily="34" charset="0"/>
              </a:rPr>
              <a:t> </a:t>
            </a:r>
            <a:r>
              <a:rPr lang="en-US" sz="1700" dirty="0" err="1">
                <a:effectLst/>
                <a:latin typeface="+mn-lt"/>
                <a:ea typeface="Calibri" panose="020F0502020204030204" pitchFamily="34" charset="0"/>
              </a:rPr>
              <a:t>liệu</a:t>
            </a:r>
            <a:r>
              <a:rPr lang="en-US" sz="1700" dirty="0">
                <a:effectLst/>
                <a:latin typeface="+mn-lt"/>
                <a:ea typeface="Calibri" panose="020F0502020204030204" pitchFamily="34" charset="0"/>
              </a:rPr>
              <a:t> </a:t>
            </a:r>
            <a:r>
              <a:rPr lang="en-US" sz="1700" dirty="0" err="1">
                <a:effectLst/>
                <a:latin typeface="+mn-lt"/>
                <a:ea typeface="Calibri" panose="020F0502020204030204" pitchFamily="34" charset="0"/>
              </a:rPr>
              <a:t>mã</a:t>
            </a:r>
            <a:r>
              <a:rPr lang="en-US" sz="1700" dirty="0">
                <a:effectLst/>
                <a:latin typeface="+mn-lt"/>
                <a:ea typeface="Calibri" panose="020F0502020204030204" pitchFamily="34" charset="0"/>
              </a:rPr>
              <a:t> </a:t>
            </a:r>
            <a:r>
              <a:rPr lang="en-US" sz="1700" dirty="0" err="1">
                <a:effectLst/>
                <a:latin typeface="+mn-lt"/>
                <a:ea typeface="Calibri" panose="020F0502020204030204" pitchFamily="34" charset="0"/>
              </a:rPr>
              <a:t>độc</a:t>
            </a:r>
            <a:r>
              <a:rPr lang="en-US" sz="1700" dirty="0">
                <a:effectLst/>
                <a:latin typeface="+mn-lt"/>
                <a:ea typeface="Calibri" panose="020F0502020204030204" pitchFamily="34" charset="0"/>
              </a:rPr>
              <a:t> </a:t>
            </a:r>
            <a:r>
              <a:rPr lang="en-US" sz="1700" dirty="0">
                <a:ea typeface="Calibri" panose="020F0502020204030204" pitchFamily="34" charset="0"/>
              </a:rPr>
              <a:t>-&gt; </a:t>
            </a:r>
            <a:r>
              <a:rPr lang="en-US" sz="1700" dirty="0" err="1">
                <a:ea typeface="Calibri" panose="020F0502020204030204" pitchFamily="34" charset="0"/>
              </a:rPr>
              <a:t>Ti</a:t>
            </a:r>
            <a:r>
              <a:rPr lang="en-US" sz="1700" dirty="0" err="1">
                <a:effectLst/>
                <a:latin typeface="+mn-lt"/>
                <a:ea typeface="Calibri" panose="020F0502020204030204" pitchFamily="34" charset="0"/>
              </a:rPr>
              <a:t>ền</a:t>
            </a:r>
            <a:r>
              <a:rPr lang="en-US" sz="1700" dirty="0">
                <a:effectLst/>
                <a:latin typeface="+mn-lt"/>
                <a:ea typeface="Calibri" panose="020F0502020204030204" pitchFamily="34" charset="0"/>
              </a:rPr>
              <a:t> </a:t>
            </a:r>
            <a:r>
              <a:rPr lang="en-US" sz="1700" dirty="0" err="1">
                <a:effectLst/>
                <a:latin typeface="+mn-lt"/>
                <a:ea typeface="Calibri" panose="020F0502020204030204" pitchFamily="34" charset="0"/>
              </a:rPr>
              <a:t>xử</a:t>
            </a:r>
            <a:r>
              <a:rPr lang="en-US" sz="1700" dirty="0">
                <a:effectLst/>
                <a:latin typeface="+mn-lt"/>
                <a:ea typeface="Calibri" panose="020F0502020204030204" pitchFamily="34" charset="0"/>
              </a:rPr>
              <a:t> </a:t>
            </a:r>
            <a:r>
              <a:rPr lang="en-US" sz="1700" dirty="0" err="1">
                <a:effectLst/>
                <a:latin typeface="+mn-lt"/>
                <a:ea typeface="Calibri" panose="020F0502020204030204" pitchFamily="34" charset="0"/>
              </a:rPr>
              <a:t>lí</a:t>
            </a:r>
            <a:r>
              <a:rPr lang="en-US" sz="1700" dirty="0">
                <a:ea typeface="Calibri" panose="020F0502020204030204" pitchFamily="34" charset="0"/>
              </a:rPr>
              <a:t>  -&gt; NLP -&gt; </a:t>
            </a:r>
            <a:r>
              <a:rPr lang="en-US" sz="1700" dirty="0">
                <a:effectLst/>
                <a:latin typeface="+mn-lt"/>
                <a:ea typeface="Calibri" panose="020F0502020204030204" pitchFamily="34" charset="0"/>
              </a:rPr>
              <a:t>GAN,WGAN </a:t>
            </a:r>
            <a:r>
              <a:rPr lang="en-US" sz="1700" dirty="0" err="1">
                <a:effectLst/>
                <a:latin typeface="+mn-lt"/>
                <a:ea typeface="Calibri" panose="020F0502020204030204" pitchFamily="34" charset="0"/>
              </a:rPr>
              <a:t>và</a:t>
            </a:r>
            <a:r>
              <a:rPr lang="en-US" sz="1700" dirty="0">
                <a:effectLst/>
                <a:latin typeface="+mn-lt"/>
                <a:ea typeface="Calibri" panose="020F0502020204030204" pitchFamily="34" charset="0"/>
              </a:rPr>
              <a:t> Diffusion -&gt; </a:t>
            </a:r>
            <a:r>
              <a:rPr lang="en-US" sz="1700" dirty="0" err="1">
                <a:effectLst/>
                <a:latin typeface="+mn-lt"/>
                <a:ea typeface="Calibri" panose="020F0502020204030204" pitchFamily="34" charset="0"/>
              </a:rPr>
              <a:t>tổng</a:t>
            </a:r>
            <a:r>
              <a:rPr lang="en-US" sz="1700" dirty="0">
                <a:effectLst/>
                <a:latin typeface="+mn-lt"/>
                <a:ea typeface="Calibri" panose="020F0502020204030204" pitchFamily="34" charset="0"/>
              </a:rPr>
              <a:t> </a:t>
            </a:r>
            <a:r>
              <a:rPr lang="en-US" sz="1700" dirty="0" err="1">
                <a:effectLst/>
                <a:latin typeface="+mn-lt"/>
                <a:ea typeface="Calibri" panose="020F0502020204030204" pitchFamily="34" charset="0"/>
              </a:rPr>
              <a:t>hợp</a:t>
            </a:r>
            <a:r>
              <a:rPr lang="en-US" sz="1700" dirty="0">
                <a:effectLst/>
                <a:latin typeface="+mn-lt"/>
                <a:ea typeface="Calibri" panose="020F0502020204030204" pitchFamily="34" charset="0"/>
              </a:rPr>
              <a:t> </a:t>
            </a:r>
            <a:r>
              <a:rPr lang="en-US" sz="1700" dirty="0" err="1">
                <a:effectLst/>
                <a:latin typeface="+mn-lt"/>
                <a:ea typeface="Calibri" panose="020F0502020204030204" pitchFamily="34" charset="0"/>
              </a:rPr>
              <a:t>các</a:t>
            </a:r>
            <a:r>
              <a:rPr lang="en-US" sz="1700" dirty="0">
                <a:effectLst/>
                <a:latin typeface="+mn-lt"/>
                <a:ea typeface="Calibri" panose="020F0502020204030204" pitchFamily="34" charset="0"/>
              </a:rPr>
              <a:t> vector </a:t>
            </a:r>
            <a:r>
              <a:rPr lang="en-US" sz="1700" dirty="0" err="1">
                <a:effectLst/>
                <a:latin typeface="+mn-lt"/>
                <a:ea typeface="Calibri" panose="020F0502020204030204" pitchFamily="34" charset="0"/>
              </a:rPr>
              <a:t>nhúng</a:t>
            </a:r>
            <a:r>
              <a:rPr lang="en-US" sz="1700" dirty="0">
                <a:effectLst/>
                <a:latin typeface="+mn-lt"/>
                <a:ea typeface="Calibri" panose="020F0502020204030204" pitchFamily="34" charset="0"/>
              </a:rPr>
              <a:t> </a:t>
            </a:r>
            <a:r>
              <a:rPr lang="en-US" sz="1700" dirty="0" err="1">
                <a:effectLst/>
                <a:latin typeface="+mn-lt"/>
                <a:ea typeface="Calibri" panose="020F0502020204030204" pitchFamily="34" charset="0"/>
              </a:rPr>
              <a:t>mã</a:t>
            </a:r>
            <a:r>
              <a:rPr lang="en-US" sz="1700" dirty="0">
                <a:effectLst/>
                <a:latin typeface="+mn-lt"/>
                <a:ea typeface="Calibri" panose="020F0502020204030204" pitchFamily="34" charset="0"/>
              </a:rPr>
              <a:t> </a:t>
            </a:r>
            <a:r>
              <a:rPr lang="en-US" sz="1700" dirty="0" err="1">
                <a:effectLst/>
                <a:latin typeface="+mn-lt"/>
                <a:ea typeface="Calibri" panose="020F0502020204030204" pitchFamily="34" charset="0"/>
              </a:rPr>
              <a:t>độc</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429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04875"/>
            <a:ext cx="12192000" cy="3810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11430000" y="338137"/>
            <a:ext cx="304800" cy="304800"/>
          </a:xfrm>
          <a:prstGeom prst="rect">
            <a:avLst/>
          </a:prstGeom>
        </p:spPr>
      </p:pic>
      <p:pic>
        <p:nvPicPr>
          <p:cNvPr id="8" name="Picture 7" descr="image.png"/>
          <p:cNvPicPr>
            <a:picLocks noChangeAspect="1"/>
          </p:cNvPicPr>
          <p:nvPr/>
        </p:nvPicPr>
        <p:blipFill>
          <a:blip r:embed="rId4"/>
          <a:stretch>
            <a:fillRect/>
          </a:stretch>
        </p:blipFill>
        <p:spPr>
          <a:xfrm>
            <a:off x="6705600" y="2814637"/>
            <a:ext cx="4495800" cy="457200"/>
          </a:xfrm>
          <a:prstGeom prst="rect">
            <a:avLst/>
          </a:prstGeom>
        </p:spPr>
      </p:pic>
      <p:sp>
        <p:nvSpPr>
          <p:cNvPr id="9" name="TextBox 8"/>
          <p:cNvSpPr txBox="1"/>
          <p:nvPr/>
        </p:nvSpPr>
        <p:spPr>
          <a:xfrm>
            <a:off x="457200" y="304800"/>
            <a:ext cx="5033237" cy="369332"/>
          </a:xfrm>
          <a:prstGeom prst="rect">
            <a:avLst/>
          </a:prstGeom>
          <a:noFill/>
        </p:spPr>
        <p:txBody>
          <a:bodyPr wrap="none" lIns="0" tIns="0" rIns="0" bIns="0" anchor="t">
            <a:spAutoFit/>
          </a:bodyPr>
          <a:lstStyle/>
          <a:p>
            <a:pPr algn="l"/>
            <a:r>
              <a:rPr lang="en-US" sz="2400" b="1" i="0" u="none" dirty="0">
                <a:solidFill>
                  <a:srgbClr val="1A293C"/>
                </a:solidFill>
                <a:latin typeface="Montserrat"/>
              </a:rPr>
              <a:t>Thu </a:t>
            </a:r>
            <a:r>
              <a:rPr lang="en-US" sz="2400" b="1" i="0" u="none" dirty="0" err="1">
                <a:solidFill>
                  <a:srgbClr val="1A293C"/>
                </a:solidFill>
                <a:latin typeface="Montserrat"/>
              </a:rPr>
              <a:t>thập</a:t>
            </a:r>
            <a:r>
              <a:rPr lang="en-US" sz="2400" b="1" i="0" u="none" dirty="0">
                <a:solidFill>
                  <a:srgbClr val="1A293C"/>
                </a:solidFill>
                <a:latin typeface="Montserrat"/>
              </a:rPr>
              <a:t> </a:t>
            </a:r>
            <a:r>
              <a:rPr lang="en-US" sz="2400" b="1" i="0" u="none" dirty="0" err="1">
                <a:solidFill>
                  <a:srgbClr val="1A293C"/>
                </a:solidFill>
                <a:latin typeface="Montserrat"/>
              </a:rPr>
              <a:t>dữ</a:t>
            </a:r>
            <a:r>
              <a:rPr lang="en-US" sz="2400" b="1" i="0" u="none" dirty="0">
                <a:solidFill>
                  <a:srgbClr val="1A293C"/>
                </a:solidFill>
                <a:latin typeface="Montserrat"/>
              </a:rPr>
              <a:t> </a:t>
            </a:r>
            <a:r>
              <a:rPr lang="en-US" sz="2400" b="1" i="0" u="none" dirty="0" err="1">
                <a:solidFill>
                  <a:srgbClr val="1A293C"/>
                </a:solidFill>
                <a:latin typeface="Montserrat"/>
              </a:rPr>
              <a:t>liệu</a:t>
            </a:r>
            <a:r>
              <a:rPr lang="en-US" sz="2400" b="1" i="0" u="none" dirty="0">
                <a:solidFill>
                  <a:srgbClr val="1A293C"/>
                </a:solidFill>
                <a:latin typeface="Montserrat"/>
              </a:rPr>
              <a:t>  </a:t>
            </a:r>
            <a:r>
              <a:rPr lang="en-US" sz="2400" b="1" i="0" u="none" dirty="0" err="1">
                <a:solidFill>
                  <a:srgbClr val="1A293C"/>
                </a:solidFill>
                <a:latin typeface="Montserrat"/>
              </a:rPr>
              <a:t>và</a:t>
            </a:r>
            <a:r>
              <a:rPr lang="en-US" sz="2400" b="1" i="0" u="none" dirty="0">
                <a:solidFill>
                  <a:srgbClr val="1A293C"/>
                </a:solidFill>
                <a:latin typeface="Montserrat"/>
              </a:rPr>
              <a:t> </a:t>
            </a:r>
            <a:r>
              <a:rPr lang="en-US" sz="2400" b="1" i="0" u="none" dirty="0" err="1">
                <a:solidFill>
                  <a:srgbClr val="1A293C"/>
                </a:solidFill>
                <a:latin typeface="Montserrat"/>
              </a:rPr>
              <a:t>phân</a:t>
            </a:r>
            <a:r>
              <a:rPr lang="en-US" sz="2400" b="1" i="0" u="none" dirty="0">
                <a:solidFill>
                  <a:srgbClr val="1A293C"/>
                </a:solidFill>
                <a:latin typeface="Montserrat"/>
              </a:rPr>
              <a:t> </a:t>
            </a:r>
            <a:r>
              <a:rPr lang="en-US" sz="2400" b="1" i="0" u="none" dirty="0" err="1">
                <a:solidFill>
                  <a:srgbClr val="1A293C"/>
                </a:solidFill>
                <a:latin typeface="Montserrat"/>
              </a:rPr>
              <a:t>rã</a:t>
            </a:r>
            <a:r>
              <a:rPr lang="en-US" sz="2400" b="1" i="0" u="none" dirty="0">
                <a:solidFill>
                  <a:srgbClr val="1A293C"/>
                </a:solidFill>
                <a:latin typeface="Montserrat"/>
              </a:rPr>
              <a:t> </a:t>
            </a:r>
            <a:r>
              <a:rPr lang="en-US" sz="2400" b="1" i="0" u="none" dirty="0" err="1">
                <a:solidFill>
                  <a:srgbClr val="1A293C"/>
                </a:solidFill>
                <a:latin typeface="Montserrat"/>
              </a:rPr>
              <a:t>bộ</a:t>
            </a:r>
            <a:r>
              <a:rPr lang="en-US" sz="2400" b="1" i="0" u="none" dirty="0">
                <a:solidFill>
                  <a:srgbClr val="1A293C"/>
                </a:solidFill>
                <a:latin typeface="Montserrat"/>
              </a:rPr>
              <a:t> </a:t>
            </a:r>
            <a:r>
              <a:rPr lang="en-US" sz="2400" b="1" i="0" u="none" dirty="0" err="1">
                <a:solidFill>
                  <a:srgbClr val="1A293C"/>
                </a:solidFill>
                <a:latin typeface="Montserrat"/>
              </a:rPr>
              <a:t>dữ</a:t>
            </a:r>
            <a:r>
              <a:rPr lang="en-US" sz="2400" b="1" i="0" u="none" dirty="0">
                <a:solidFill>
                  <a:srgbClr val="1A293C"/>
                </a:solidFill>
                <a:latin typeface="Montserrat"/>
              </a:rPr>
              <a:t> </a:t>
            </a:r>
            <a:r>
              <a:rPr lang="en-US" sz="2400" b="1" i="0" u="none" dirty="0" err="1">
                <a:solidFill>
                  <a:srgbClr val="1A293C"/>
                </a:solidFill>
                <a:latin typeface="Montserrat"/>
              </a:rPr>
              <a:t>liệu</a:t>
            </a:r>
            <a:endParaRPr lang="en-US" sz="2400" b="1" i="0" u="none" dirty="0">
              <a:solidFill>
                <a:srgbClr val="1A293C"/>
              </a:solidFill>
              <a:latin typeface="Montserrat"/>
            </a:endParaRPr>
          </a:p>
        </p:txBody>
      </p:sp>
      <p:sp>
        <p:nvSpPr>
          <p:cNvPr id="13" name="TextBox 12"/>
          <p:cNvSpPr txBox="1"/>
          <p:nvPr/>
        </p:nvSpPr>
        <p:spPr>
          <a:xfrm>
            <a:off x="6705600" y="3500437"/>
            <a:ext cx="5486400" cy="323850"/>
          </a:xfrm>
          <a:prstGeom prst="rect">
            <a:avLst/>
          </a:prstGeom>
          <a:noFill/>
        </p:spPr>
        <p:txBody>
          <a:bodyPr wrap="none" lIns="0" tIns="0" rIns="0" bIns="0" anchor="t">
            <a:spAutoFit/>
          </a:bodyPr>
          <a:lstStyle/>
          <a:p>
            <a:pPr algn="l"/>
            <a:r>
              <a:rPr sz="2100" b="1" i="0" u="none">
                <a:solidFill>
                  <a:srgbClr val="FFFFFF"/>
                </a:solidFill>
                <a:latin typeface="Montserrat"/>
              </a:rPr>
              <a:t>Word2Vec Embedding</a:t>
            </a:r>
          </a:p>
        </p:txBody>
      </p:sp>
      <p:pic>
        <p:nvPicPr>
          <p:cNvPr id="16" name="Picture 15">
            <a:extLst>
              <a:ext uri="{FF2B5EF4-FFF2-40B4-BE49-F238E27FC236}">
                <a16:creationId xmlns:a16="http://schemas.microsoft.com/office/drawing/2014/main" id="{6B6A2B28-A6AA-5FD2-7064-B5FE3BF88CFD}"/>
              </a:ext>
            </a:extLst>
          </p:cNvPr>
          <p:cNvPicPr>
            <a:picLocks noChangeAspect="1"/>
          </p:cNvPicPr>
          <p:nvPr/>
        </p:nvPicPr>
        <p:blipFill>
          <a:blip r:embed="rId5"/>
          <a:stretch>
            <a:fillRect/>
          </a:stretch>
        </p:blipFill>
        <p:spPr>
          <a:xfrm>
            <a:off x="1931943" y="3357563"/>
            <a:ext cx="8328114" cy="3031808"/>
          </a:xfrm>
          <a:prstGeom prst="rect">
            <a:avLst/>
          </a:prstGeom>
        </p:spPr>
      </p:pic>
      <p:sp>
        <p:nvSpPr>
          <p:cNvPr id="19" name="TextBox 18">
            <a:extLst>
              <a:ext uri="{FF2B5EF4-FFF2-40B4-BE49-F238E27FC236}">
                <a16:creationId xmlns:a16="http://schemas.microsoft.com/office/drawing/2014/main" id="{E467DFE0-0793-270B-0EC5-5BBB37917849}"/>
              </a:ext>
            </a:extLst>
          </p:cNvPr>
          <p:cNvSpPr txBox="1"/>
          <p:nvPr/>
        </p:nvSpPr>
        <p:spPr>
          <a:xfrm>
            <a:off x="606137" y="1178480"/>
            <a:ext cx="11384971" cy="369332"/>
          </a:xfrm>
          <a:prstGeom prst="rect">
            <a:avLst/>
          </a:prstGeom>
          <a:noFill/>
        </p:spPr>
        <p:txBody>
          <a:bodyPr wrap="square">
            <a:spAutoFit/>
          </a:bodyPr>
          <a:lstStyle/>
          <a:p>
            <a:r>
              <a:rPr lang="en-US" sz="1800" dirty="0" err="1">
                <a:effectLst/>
                <a:latin typeface="+mn-lt"/>
                <a:ea typeface="Calibri" panose="020F0502020204030204" pitchFamily="34" charset="0"/>
              </a:rPr>
              <a:t>objdump</a:t>
            </a:r>
            <a:r>
              <a:rPr lang="en-US" sz="1800" dirty="0">
                <a:effectLst/>
                <a:latin typeface="+mn-lt"/>
                <a:ea typeface="Calibri" panose="020F0502020204030204" pitchFamily="34" charset="0"/>
              </a:rPr>
              <a:t> -d $filename | sed "/[^\t]*\t[^\t]*\t/!d" | cut -f 3 | sed "s/.*$//" &gt; "$</a:t>
            </a:r>
            <a:r>
              <a:rPr lang="en-US" sz="1800" dirty="0" err="1">
                <a:effectLst/>
                <a:latin typeface="+mn-lt"/>
                <a:ea typeface="Calibri" panose="020F0502020204030204" pitchFamily="34" charset="0"/>
              </a:rPr>
              <a:t>output_path</a:t>
            </a:r>
            <a:r>
              <a:rPr lang="en-US" sz="1800" dirty="0">
                <a:effectLst/>
                <a:latin typeface="+mn-lt"/>
                <a:ea typeface="Calibri" panose="020F0502020204030204" pitchFamily="34" charset="0"/>
              </a:rPr>
              <a:t>"/</a:t>
            </a:r>
            <a:r>
              <a:rPr lang="en-US" sz="1800" dirty="0" err="1">
                <a:effectLst/>
                <a:latin typeface="+mn-lt"/>
                <a:ea typeface="Calibri" panose="020F0502020204030204" pitchFamily="34" charset="0"/>
              </a:rPr>
              <a:t>basename</a:t>
            </a:r>
            <a:r>
              <a:rPr lang="en-US" sz="1800" dirty="0">
                <a:effectLst/>
                <a:latin typeface="+mn-lt"/>
                <a:ea typeface="Calibri" panose="020F0502020204030204" pitchFamily="34" charset="0"/>
              </a:rPr>
              <a:t> "$</a:t>
            </a:r>
            <a:r>
              <a:rPr lang="en-US" sz="1800" dirty="0" err="1">
                <a:effectLst/>
                <a:latin typeface="+mn-lt"/>
                <a:ea typeface="Calibri" panose="020F0502020204030204" pitchFamily="34" charset="0"/>
              </a:rPr>
              <a:t>filename".txt</a:t>
            </a:r>
            <a:endParaRPr lang="en-US" dirty="0"/>
          </a:p>
        </p:txBody>
      </p:sp>
      <p:sp>
        <p:nvSpPr>
          <p:cNvPr id="21" name="TextBox 20">
            <a:extLst>
              <a:ext uri="{FF2B5EF4-FFF2-40B4-BE49-F238E27FC236}">
                <a16:creationId xmlns:a16="http://schemas.microsoft.com/office/drawing/2014/main" id="{15F8DE85-6443-957F-BDB3-22FEB8C35C40}"/>
              </a:ext>
            </a:extLst>
          </p:cNvPr>
          <p:cNvSpPr txBox="1"/>
          <p:nvPr/>
        </p:nvSpPr>
        <p:spPr>
          <a:xfrm>
            <a:off x="990600" y="1940957"/>
            <a:ext cx="11000508" cy="1238801"/>
          </a:xfrm>
          <a:prstGeom prst="rect">
            <a:avLst/>
          </a:prstGeom>
          <a:noFill/>
        </p:spPr>
        <p:txBody>
          <a:bodyPr wrap="square">
            <a:spAutoFit/>
          </a:bodyPr>
          <a:lstStyle/>
          <a:p>
            <a:pPr marL="342900" marR="0" lvl="0" indent="-342900">
              <a:lnSpc>
                <a:spcPct val="100000"/>
              </a:lnSpc>
              <a:spcBef>
                <a:spcPts val="300"/>
              </a:spcBef>
              <a:buFont typeface="Symbol" panose="05050102010706020507" pitchFamily="18" charset="2"/>
              <a:buChar char=""/>
            </a:pPr>
            <a:r>
              <a:rPr lang="en-US" sz="1800" kern="100" dirty="0" err="1">
                <a:effectLst/>
                <a:latin typeface="+mn-lt"/>
                <a:ea typeface="Calibri" panose="020F0502020204030204" pitchFamily="34" charset="0"/>
              </a:rPr>
              <a:t>objdump</a:t>
            </a:r>
            <a:r>
              <a:rPr lang="en-US" sz="1800" kern="100" dirty="0">
                <a:effectLst/>
                <a:latin typeface="+mn-lt"/>
                <a:ea typeface="Calibri" panose="020F0502020204030204" pitchFamily="34" charset="0"/>
              </a:rPr>
              <a:t> -d $filename: </a:t>
            </a:r>
            <a:r>
              <a:rPr lang="en-US" sz="1800" kern="100" dirty="0" err="1">
                <a:effectLst/>
                <a:latin typeface="+mn-lt"/>
                <a:ea typeface="Calibri" panose="020F0502020204030204" pitchFamily="34" charset="0"/>
              </a:rPr>
              <a:t>dịch</a:t>
            </a:r>
            <a:r>
              <a:rPr lang="en-US" sz="1800" kern="100" dirty="0">
                <a:effectLst/>
                <a:latin typeface="+mn-lt"/>
                <a:ea typeface="Calibri" panose="020F0502020204030204" pitchFamily="34" charset="0"/>
              </a:rPr>
              <a:t> </a:t>
            </a:r>
            <a:r>
              <a:rPr lang="en-US" sz="1800" kern="100" dirty="0" err="1">
                <a:effectLst/>
                <a:latin typeface="+mn-lt"/>
                <a:ea typeface="Calibri" panose="020F0502020204030204" pitchFamily="34" charset="0"/>
              </a:rPr>
              <a:t>ngược</a:t>
            </a:r>
            <a:r>
              <a:rPr lang="en-US" sz="1800" kern="100" dirty="0">
                <a:effectLst/>
                <a:latin typeface="+mn-lt"/>
                <a:ea typeface="Calibri" panose="020F0502020204030204" pitchFamily="34" charset="0"/>
              </a:rPr>
              <a:t> file </a:t>
            </a:r>
            <a:r>
              <a:rPr lang="en-US" sz="1800" kern="100" dirty="0" err="1">
                <a:effectLst/>
                <a:latin typeface="+mn-lt"/>
                <a:ea typeface="Calibri" panose="020F0502020204030204" pitchFamily="34" charset="0"/>
              </a:rPr>
              <a:t>nhị</a:t>
            </a:r>
            <a:r>
              <a:rPr lang="en-US" sz="1800" kern="100" dirty="0">
                <a:effectLst/>
                <a:latin typeface="+mn-lt"/>
                <a:ea typeface="Calibri" panose="020F0502020204030204" pitchFamily="34" charset="0"/>
              </a:rPr>
              <a:t> </a:t>
            </a:r>
            <a:r>
              <a:rPr lang="en-US" sz="1800" kern="100" dirty="0" err="1">
                <a:effectLst/>
                <a:latin typeface="+mn-lt"/>
                <a:ea typeface="Calibri" panose="020F0502020204030204" pitchFamily="34" charset="0"/>
              </a:rPr>
              <a:t>phân</a:t>
            </a:r>
            <a:r>
              <a:rPr lang="en-US" sz="1800" kern="100" dirty="0">
                <a:effectLst/>
                <a:latin typeface="+mn-lt"/>
                <a:ea typeface="Calibri" panose="020F0502020204030204" pitchFamily="34" charset="0"/>
              </a:rPr>
              <a:t>, </a:t>
            </a:r>
            <a:r>
              <a:rPr lang="en-US" sz="1800" kern="100" dirty="0" err="1">
                <a:effectLst/>
                <a:latin typeface="+mn-lt"/>
                <a:ea typeface="Calibri" panose="020F0502020204030204" pitchFamily="34" charset="0"/>
              </a:rPr>
              <a:t>mỗi</a:t>
            </a:r>
            <a:r>
              <a:rPr lang="en-US" sz="1800" kern="100" dirty="0">
                <a:effectLst/>
                <a:latin typeface="+mn-lt"/>
                <a:ea typeface="Calibri" panose="020F0502020204030204" pitchFamily="34" charset="0"/>
              </a:rPr>
              <a:t> </a:t>
            </a:r>
            <a:r>
              <a:rPr lang="en-US" sz="1800" kern="100" dirty="0" err="1">
                <a:effectLst/>
                <a:latin typeface="+mn-lt"/>
                <a:ea typeface="Calibri" panose="020F0502020204030204" pitchFamily="34" charset="0"/>
              </a:rPr>
              <a:t>dòng</a:t>
            </a:r>
            <a:r>
              <a:rPr lang="en-US" sz="1800" kern="100" dirty="0">
                <a:effectLst/>
                <a:latin typeface="+mn-lt"/>
                <a:ea typeface="Calibri" panose="020F0502020204030204" pitchFamily="34" charset="0"/>
              </a:rPr>
              <a:t> </a:t>
            </a:r>
            <a:r>
              <a:rPr lang="en-US" sz="1800" kern="100" dirty="0" err="1">
                <a:effectLst/>
                <a:latin typeface="+mn-lt"/>
                <a:ea typeface="Calibri" panose="020F0502020204030204" pitchFamily="34" charset="0"/>
              </a:rPr>
              <a:t>gồm</a:t>
            </a:r>
            <a:r>
              <a:rPr lang="en-US" sz="1800" kern="100" dirty="0">
                <a:effectLst/>
                <a:latin typeface="+mn-lt"/>
                <a:ea typeface="Calibri" panose="020F0502020204030204" pitchFamily="34" charset="0"/>
              </a:rPr>
              <a:t> </a:t>
            </a:r>
            <a:r>
              <a:rPr lang="en-US" sz="1800" kern="100" dirty="0" err="1">
                <a:effectLst/>
                <a:latin typeface="+mn-lt"/>
                <a:ea typeface="Calibri" panose="020F0502020204030204" pitchFamily="34" charset="0"/>
              </a:rPr>
              <a:t>địa</a:t>
            </a:r>
            <a:r>
              <a:rPr lang="en-US" sz="1800" kern="100" dirty="0">
                <a:effectLst/>
                <a:latin typeface="+mn-lt"/>
                <a:ea typeface="Calibri" panose="020F0502020204030204" pitchFamily="34" charset="0"/>
              </a:rPr>
              <a:t> </a:t>
            </a:r>
            <a:r>
              <a:rPr lang="en-US" sz="1800" kern="100" dirty="0" err="1">
                <a:effectLst/>
                <a:latin typeface="+mn-lt"/>
                <a:ea typeface="Calibri" panose="020F0502020204030204" pitchFamily="34" charset="0"/>
              </a:rPr>
              <a:t>chỉ</a:t>
            </a:r>
            <a:r>
              <a:rPr lang="en-US" sz="1800" kern="100" dirty="0">
                <a:effectLst/>
                <a:latin typeface="+mn-lt"/>
                <a:ea typeface="Calibri" panose="020F0502020204030204" pitchFamily="34" charset="0"/>
              </a:rPr>
              <a:t> </a:t>
            </a:r>
            <a:r>
              <a:rPr lang="en-US" sz="1800" kern="100" dirty="0" err="1">
                <a:effectLst/>
                <a:latin typeface="+mn-lt"/>
                <a:ea typeface="Calibri" panose="020F0502020204030204" pitchFamily="34" charset="0"/>
              </a:rPr>
              <a:t>lệnh</a:t>
            </a:r>
            <a:r>
              <a:rPr lang="en-US" sz="1800" kern="100" dirty="0">
                <a:effectLst/>
                <a:latin typeface="+mn-lt"/>
                <a:ea typeface="Calibri" panose="020F0502020204030204" pitchFamily="34" charset="0"/>
              </a:rPr>
              <a:t>, byte </a:t>
            </a:r>
            <a:r>
              <a:rPr lang="en-US" sz="1800" kern="100" dirty="0" err="1">
                <a:effectLst/>
                <a:latin typeface="+mn-lt"/>
                <a:ea typeface="Calibri" panose="020F0502020204030204" pitchFamily="34" charset="0"/>
              </a:rPr>
              <a:t>và</a:t>
            </a:r>
            <a:r>
              <a:rPr lang="en-US" sz="1800" kern="100" dirty="0">
                <a:effectLst/>
                <a:latin typeface="+mn-lt"/>
                <a:ea typeface="Calibri" panose="020F0502020204030204" pitchFamily="34" charset="0"/>
              </a:rPr>
              <a:t> opcode </a:t>
            </a:r>
            <a:r>
              <a:rPr lang="en-US" sz="1800" kern="100" dirty="0" err="1">
                <a:effectLst/>
                <a:latin typeface="+mn-lt"/>
                <a:ea typeface="Calibri" panose="020F0502020204030204" pitchFamily="34" charset="0"/>
              </a:rPr>
              <a:t>tương</a:t>
            </a:r>
            <a:r>
              <a:rPr lang="en-US" sz="1800" kern="100" dirty="0">
                <a:effectLst/>
                <a:latin typeface="+mn-lt"/>
                <a:ea typeface="Calibri" panose="020F0502020204030204" pitchFamily="34" charset="0"/>
              </a:rPr>
              <a:t> </a:t>
            </a:r>
            <a:r>
              <a:rPr lang="en-US" sz="1800" kern="100" dirty="0" err="1">
                <a:effectLst/>
                <a:latin typeface="+mn-lt"/>
                <a:ea typeface="Calibri" panose="020F0502020204030204" pitchFamily="34" charset="0"/>
              </a:rPr>
              <a:t>ứng</a:t>
            </a:r>
            <a:r>
              <a:rPr lang="en-US" sz="1800" kern="100" dirty="0">
                <a:effectLst/>
                <a:latin typeface="+mn-lt"/>
                <a:ea typeface="Calibri" panose="020F0502020204030204" pitchFamily="34" charset="0"/>
              </a:rPr>
              <a:t>.</a:t>
            </a:r>
          </a:p>
          <a:p>
            <a:pPr marL="342900" marR="0" lvl="0" indent="-342900">
              <a:lnSpc>
                <a:spcPct val="100000"/>
              </a:lnSpc>
              <a:buFont typeface="Symbol" panose="05050102010706020507" pitchFamily="18" charset="2"/>
              <a:buChar char=""/>
            </a:pPr>
            <a:r>
              <a:rPr lang="en-US" sz="1800" kern="100" dirty="0">
                <a:effectLst/>
                <a:latin typeface="+mn-lt"/>
                <a:ea typeface="Calibri" panose="020F0502020204030204" pitchFamily="34" charset="0"/>
              </a:rPr>
              <a:t>sed "/…/!d": </a:t>
            </a:r>
            <a:r>
              <a:rPr lang="en-US" sz="1800" kern="100" dirty="0" err="1">
                <a:effectLst/>
                <a:latin typeface="+mn-lt"/>
                <a:ea typeface="Calibri" panose="020F0502020204030204" pitchFamily="34" charset="0"/>
              </a:rPr>
              <a:t>chỉ</a:t>
            </a:r>
            <a:r>
              <a:rPr lang="en-US" sz="1800" kern="100" dirty="0">
                <a:effectLst/>
                <a:latin typeface="+mn-lt"/>
                <a:ea typeface="Calibri" panose="020F0502020204030204" pitchFamily="34" charset="0"/>
              </a:rPr>
              <a:t> </a:t>
            </a:r>
            <a:r>
              <a:rPr lang="en-US" sz="1800" kern="100" dirty="0" err="1">
                <a:effectLst/>
                <a:latin typeface="+mn-lt"/>
                <a:ea typeface="Calibri" panose="020F0502020204030204" pitchFamily="34" charset="0"/>
              </a:rPr>
              <a:t>giữ</a:t>
            </a:r>
            <a:r>
              <a:rPr lang="en-US" sz="1800" kern="100" dirty="0">
                <a:effectLst/>
                <a:latin typeface="+mn-lt"/>
                <a:ea typeface="Calibri" panose="020F0502020204030204" pitchFamily="34" charset="0"/>
              </a:rPr>
              <a:t> </a:t>
            </a:r>
            <a:r>
              <a:rPr lang="en-US" sz="1800" kern="100" dirty="0" err="1">
                <a:effectLst/>
                <a:latin typeface="+mn-lt"/>
                <a:ea typeface="Calibri" panose="020F0502020204030204" pitchFamily="34" charset="0"/>
              </a:rPr>
              <a:t>dòng</a:t>
            </a:r>
            <a:r>
              <a:rPr lang="en-US" sz="1800" kern="100" dirty="0">
                <a:effectLst/>
                <a:latin typeface="+mn-lt"/>
                <a:ea typeface="Calibri" panose="020F0502020204030204" pitchFamily="34" charset="0"/>
              </a:rPr>
              <a:t> </a:t>
            </a:r>
            <a:r>
              <a:rPr lang="en-US" sz="1800" kern="100" dirty="0" err="1">
                <a:effectLst/>
                <a:latin typeface="+mn-lt"/>
                <a:ea typeface="Calibri" panose="020F0502020204030204" pitchFamily="34" charset="0"/>
              </a:rPr>
              <a:t>khớp</a:t>
            </a:r>
            <a:r>
              <a:rPr lang="en-US" sz="1800" kern="100" dirty="0">
                <a:effectLst/>
                <a:latin typeface="+mn-lt"/>
                <a:ea typeface="Calibri" panose="020F0502020204030204" pitchFamily="34" charset="0"/>
              </a:rPr>
              <a:t> </a:t>
            </a:r>
            <a:r>
              <a:rPr lang="en-US" sz="1800" kern="100" dirty="0" err="1">
                <a:effectLst/>
                <a:latin typeface="+mn-lt"/>
                <a:ea typeface="Calibri" panose="020F0502020204030204" pitchFamily="34" charset="0"/>
              </a:rPr>
              <a:t>cấu</a:t>
            </a:r>
            <a:r>
              <a:rPr lang="en-US" sz="1800" kern="100" dirty="0">
                <a:effectLst/>
                <a:latin typeface="+mn-lt"/>
                <a:ea typeface="Calibri" panose="020F0502020204030204" pitchFamily="34" charset="0"/>
              </a:rPr>
              <a:t> </a:t>
            </a:r>
            <a:r>
              <a:rPr lang="en-US" sz="1800" kern="100" dirty="0" err="1">
                <a:effectLst/>
                <a:latin typeface="+mn-lt"/>
                <a:ea typeface="Calibri" panose="020F0502020204030204" pitchFamily="34" charset="0"/>
              </a:rPr>
              <a:t>trúc</a:t>
            </a:r>
            <a:r>
              <a:rPr lang="en-US" sz="1800" kern="100" dirty="0">
                <a:effectLst/>
                <a:latin typeface="+mn-lt"/>
                <a:ea typeface="Calibri" panose="020F0502020204030204" pitchFamily="34" charset="0"/>
              </a:rPr>
              <a:t> </a:t>
            </a:r>
            <a:r>
              <a:rPr lang="en-US" sz="1800" kern="100" dirty="0" err="1">
                <a:effectLst/>
                <a:latin typeface="+mn-lt"/>
                <a:ea typeface="Calibri" panose="020F0502020204030204" pitchFamily="34" charset="0"/>
              </a:rPr>
              <a:t>mong</a:t>
            </a:r>
            <a:r>
              <a:rPr lang="en-US" sz="1800" kern="100" dirty="0">
                <a:effectLst/>
                <a:latin typeface="+mn-lt"/>
                <a:ea typeface="Calibri" panose="020F0502020204030204" pitchFamily="34" charset="0"/>
              </a:rPr>
              <a:t> </a:t>
            </a:r>
            <a:r>
              <a:rPr lang="en-US" sz="1800" kern="100" dirty="0" err="1">
                <a:effectLst/>
                <a:latin typeface="+mn-lt"/>
                <a:ea typeface="Calibri" panose="020F0502020204030204" pitchFamily="34" charset="0"/>
              </a:rPr>
              <a:t>đợi</a:t>
            </a:r>
            <a:r>
              <a:rPr lang="en-US" sz="1800" kern="100" dirty="0">
                <a:effectLst/>
                <a:latin typeface="+mn-lt"/>
                <a:ea typeface="Calibri" panose="020F0502020204030204" pitchFamily="34" charset="0"/>
              </a:rPr>
              <a:t> (address, bytes, opcode), </a:t>
            </a:r>
            <a:r>
              <a:rPr lang="en-US" sz="1800" kern="100" dirty="0" err="1">
                <a:effectLst/>
                <a:latin typeface="+mn-lt"/>
                <a:ea typeface="Calibri" panose="020F0502020204030204" pitchFamily="34" charset="0"/>
              </a:rPr>
              <a:t>bỏ</a:t>
            </a:r>
            <a:r>
              <a:rPr lang="en-US" sz="1800" kern="100" dirty="0">
                <a:effectLst/>
                <a:latin typeface="+mn-lt"/>
                <a:ea typeface="Calibri" panose="020F0502020204030204" pitchFamily="34" charset="0"/>
              </a:rPr>
              <a:t> </a:t>
            </a:r>
            <a:r>
              <a:rPr lang="en-US" sz="1800" kern="100" dirty="0" err="1">
                <a:effectLst/>
                <a:latin typeface="+mn-lt"/>
                <a:ea typeface="Calibri" panose="020F0502020204030204" pitchFamily="34" charset="0"/>
              </a:rPr>
              <a:t>dòng</a:t>
            </a:r>
            <a:r>
              <a:rPr lang="en-US" sz="1800" kern="100" dirty="0">
                <a:effectLst/>
                <a:latin typeface="+mn-lt"/>
                <a:ea typeface="Calibri" panose="020F0502020204030204" pitchFamily="34" charset="0"/>
              </a:rPr>
              <a:t> </a:t>
            </a:r>
            <a:r>
              <a:rPr lang="en-US" sz="1800" kern="100" dirty="0" err="1">
                <a:effectLst/>
                <a:latin typeface="+mn-lt"/>
                <a:ea typeface="Calibri" panose="020F0502020204030204" pitchFamily="34" charset="0"/>
              </a:rPr>
              <a:t>không</a:t>
            </a:r>
            <a:r>
              <a:rPr lang="en-US" sz="1800" kern="100" dirty="0">
                <a:effectLst/>
                <a:latin typeface="+mn-lt"/>
                <a:ea typeface="Calibri" panose="020F0502020204030204" pitchFamily="34" charset="0"/>
              </a:rPr>
              <a:t> </a:t>
            </a:r>
            <a:r>
              <a:rPr lang="en-US" sz="1800" kern="100" dirty="0" err="1">
                <a:effectLst/>
                <a:latin typeface="+mn-lt"/>
                <a:ea typeface="Calibri" panose="020F0502020204030204" pitchFamily="34" charset="0"/>
              </a:rPr>
              <a:t>chứa</a:t>
            </a:r>
            <a:r>
              <a:rPr lang="en-US" sz="1800" kern="100" dirty="0">
                <a:effectLst/>
                <a:latin typeface="+mn-lt"/>
                <a:ea typeface="Calibri" panose="020F0502020204030204" pitchFamily="34" charset="0"/>
              </a:rPr>
              <a:t> opcode.</a:t>
            </a:r>
          </a:p>
          <a:p>
            <a:pPr marL="342900" marR="0" lvl="0" indent="-342900">
              <a:lnSpc>
                <a:spcPct val="100000"/>
              </a:lnSpc>
              <a:spcAft>
                <a:spcPts val="300"/>
              </a:spcAft>
              <a:buFont typeface="Symbol" panose="05050102010706020507" pitchFamily="18" charset="2"/>
              <a:buChar char=""/>
            </a:pPr>
            <a:r>
              <a:rPr lang="en-US" sz="1800" kern="100" dirty="0">
                <a:effectLst/>
                <a:latin typeface="+mn-lt"/>
                <a:ea typeface="Calibri" panose="020F0502020204030204" pitchFamily="34" charset="0"/>
              </a:rPr>
              <a:t>cut -f 3: </a:t>
            </a:r>
            <a:r>
              <a:rPr lang="en-US" sz="1800" kern="100" dirty="0" err="1">
                <a:effectLst/>
                <a:latin typeface="+mn-lt"/>
                <a:ea typeface="Calibri" panose="020F0502020204030204" pitchFamily="34" charset="0"/>
              </a:rPr>
              <a:t>lấy</a:t>
            </a:r>
            <a:r>
              <a:rPr lang="en-US" sz="1800" kern="100" dirty="0">
                <a:effectLst/>
                <a:latin typeface="+mn-lt"/>
                <a:ea typeface="Calibri" panose="020F0502020204030204" pitchFamily="34" charset="0"/>
              </a:rPr>
              <a:t> </a:t>
            </a:r>
            <a:r>
              <a:rPr lang="en-US" sz="1800" kern="100" dirty="0" err="1">
                <a:effectLst/>
                <a:latin typeface="+mn-lt"/>
                <a:ea typeface="Calibri" panose="020F0502020204030204" pitchFamily="34" charset="0"/>
              </a:rPr>
              <a:t>trường</a:t>
            </a:r>
            <a:r>
              <a:rPr lang="en-US" sz="1800" kern="100" dirty="0">
                <a:effectLst/>
                <a:latin typeface="+mn-lt"/>
                <a:ea typeface="Calibri" panose="020F0502020204030204" pitchFamily="34" charset="0"/>
              </a:rPr>
              <a:t> </a:t>
            </a:r>
            <a:r>
              <a:rPr lang="en-US" sz="1800" kern="100" dirty="0" err="1">
                <a:effectLst/>
                <a:latin typeface="+mn-lt"/>
                <a:ea typeface="Calibri" panose="020F0502020204030204" pitchFamily="34" charset="0"/>
              </a:rPr>
              <a:t>thứ</a:t>
            </a:r>
            <a:r>
              <a:rPr lang="en-US" sz="1800" kern="100" dirty="0">
                <a:effectLst/>
                <a:latin typeface="+mn-lt"/>
                <a:ea typeface="Calibri" panose="020F0502020204030204" pitchFamily="34" charset="0"/>
              </a:rPr>
              <a:t> </a:t>
            </a:r>
            <a:r>
              <a:rPr lang="en-US" sz="1800" kern="100" dirty="0" err="1">
                <a:effectLst/>
                <a:latin typeface="+mn-lt"/>
                <a:ea typeface="Calibri" panose="020F0502020204030204" pitchFamily="34" charset="0"/>
              </a:rPr>
              <a:t>ba</a:t>
            </a:r>
            <a:r>
              <a:rPr lang="en-US" sz="1800" kern="100" dirty="0">
                <a:effectLst/>
                <a:latin typeface="+mn-lt"/>
                <a:ea typeface="Calibri" panose="020F0502020204030204" pitchFamily="34" charset="0"/>
              </a:rPr>
              <a:t> </a:t>
            </a:r>
            <a:r>
              <a:rPr lang="en-US" sz="1800" kern="100" dirty="0" err="1">
                <a:effectLst/>
                <a:latin typeface="+mn-lt"/>
                <a:ea typeface="Calibri" panose="020F0502020204030204" pitchFamily="34" charset="0"/>
              </a:rPr>
              <a:t>của</a:t>
            </a:r>
            <a:r>
              <a:rPr lang="en-US" sz="1800" kern="100" dirty="0">
                <a:effectLst/>
                <a:latin typeface="+mn-lt"/>
                <a:ea typeface="Calibri" panose="020F0502020204030204" pitchFamily="34" charset="0"/>
              </a:rPr>
              <a:t> </a:t>
            </a:r>
            <a:r>
              <a:rPr lang="en-US" sz="1800" kern="100" dirty="0" err="1">
                <a:effectLst/>
                <a:latin typeface="+mn-lt"/>
                <a:ea typeface="Calibri" panose="020F0502020204030204" pitchFamily="34" charset="0"/>
              </a:rPr>
              <a:t>mỗi</a:t>
            </a:r>
            <a:r>
              <a:rPr lang="en-US" sz="1800" kern="100" dirty="0">
                <a:effectLst/>
                <a:latin typeface="+mn-lt"/>
                <a:ea typeface="Calibri" panose="020F0502020204030204" pitchFamily="34" charset="0"/>
              </a:rPr>
              <a:t> </a:t>
            </a:r>
            <a:r>
              <a:rPr lang="en-US" sz="1800" kern="100" dirty="0" err="1">
                <a:effectLst/>
                <a:latin typeface="+mn-lt"/>
                <a:ea typeface="Calibri" panose="020F0502020204030204" pitchFamily="34" charset="0"/>
              </a:rPr>
              <a:t>dòng</a:t>
            </a:r>
            <a:r>
              <a:rPr lang="en-US" sz="1800" kern="100" dirty="0">
                <a:effectLst/>
                <a:latin typeface="+mn-lt"/>
                <a:ea typeface="Calibri" panose="020F0502020204030204" pitchFamily="34" charset="0"/>
              </a:rPr>
              <a:t>, </a:t>
            </a:r>
            <a:r>
              <a:rPr lang="en-US" sz="1800" kern="100" dirty="0" err="1">
                <a:effectLst/>
                <a:latin typeface="+mn-lt"/>
                <a:ea typeface="Calibri" panose="020F0502020204030204" pitchFamily="34" charset="0"/>
              </a:rPr>
              <a:t>tức</a:t>
            </a:r>
            <a:r>
              <a:rPr lang="en-US" sz="1800" kern="100" dirty="0">
                <a:effectLst/>
                <a:latin typeface="+mn-lt"/>
                <a:ea typeface="Calibri" panose="020F0502020204030204" pitchFamily="34" charset="0"/>
              </a:rPr>
              <a:t> opcode.</a:t>
            </a:r>
          </a:p>
          <a:p>
            <a:pPr marL="342900" marR="0" lvl="0" indent="-342900">
              <a:lnSpc>
                <a:spcPct val="100000"/>
              </a:lnSpc>
              <a:spcAft>
                <a:spcPts val="300"/>
              </a:spcAft>
              <a:buFont typeface="Symbol" panose="05050102010706020507" pitchFamily="18" charset="2"/>
              <a:buChar char=""/>
            </a:pPr>
            <a:r>
              <a:rPr lang="en-US" sz="1800" dirty="0">
                <a:effectLst/>
                <a:latin typeface="+mn-lt"/>
                <a:ea typeface="Calibri" panose="020F0502020204030204" pitchFamily="34" charset="0"/>
              </a:rPr>
              <a:t>sed "s/.*$//": </a:t>
            </a:r>
            <a:r>
              <a:rPr lang="en-US" sz="1800" dirty="0" err="1">
                <a:effectLst/>
                <a:latin typeface="+mn-lt"/>
                <a:ea typeface="Calibri" panose="020F0502020204030204" pitchFamily="34" charset="0"/>
              </a:rPr>
              <a:t>xóa</a:t>
            </a:r>
            <a:r>
              <a:rPr lang="en-US" sz="1800" dirty="0">
                <a:effectLst/>
                <a:latin typeface="+mn-lt"/>
                <a:ea typeface="Calibri" panose="020F0502020204030204" pitchFamily="34" charset="0"/>
              </a:rPr>
              <a:t> </a:t>
            </a:r>
            <a:r>
              <a:rPr lang="en-US" sz="1800" dirty="0" err="1">
                <a:effectLst/>
                <a:latin typeface="+mn-lt"/>
                <a:ea typeface="Calibri" panose="020F0502020204030204" pitchFamily="34" charset="0"/>
              </a:rPr>
              <a:t>mọi</a:t>
            </a:r>
            <a:r>
              <a:rPr lang="en-US" sz="1800" dirty="0">
                <a:effectLst/>
                <a:latin typeface="+mn-lt"/>
                <a:ea typeface="Calibri" panose="020F0502020204030204" pitchFamily="34" charset="0"/>
              </a:rPr>
              <a:t> </a:t>
            </a:r>
            <a:r>
              <a:rPr lang="en-US" sz="1800" dirty="0" err="1">
                <a:effectLst/>
                <a:latin typeface="+mn-lt"/>
                <a:ea typeface="Calibri" panose="020F0502020204030204" pitchFamily="34" charset="0"/>
              </a:rPr>
              <a:t>thông</a:t>
            </a:r>
            <a:r>
              <a:rPr lang="en-US" sz="1800" dirty="0">
                <a:effectLst/>
                <a:latin typeface="+mn-lt"/>
                <a:ea typeface="Calibri" panose="020F0502020204030204" pitchFamily="34" charset="0"/>
              </a:rPr>
              <a:t> tin </a:t>
            </a:r>
            <a:r>
              <a:rPr lang="en-US" sz="1800" dirty="0" err="1">
                <a:effectLst/>
                <a:latin typeface="+mn-lt"/>
                <a:ea typeface="Calibri" panose="020F0502020204030204" pitchFamily="34" charset="0"/>
              </a:rPr>
              <a:t>dư</a:t>
            </a:r>
            <a:r>
              <a:rPr lang="en-US" sz="1800" dirty="0">
                <a:effectLst/>
                <a:latin typeface="+mn-lt"/>
                <a:ea typeface="Calibri" panose="020F0502020204030204" pitchFamily="34" charset="0"/>
              </a:rPr>
              <a:t> </a:t>
            </a:r>
            <a:r>
              <a:rPr lang="en-US" sz="1800" dirty="0" err="1">
                <a:effectLst/>
                <a:latin typeface="+mn-lt"/>
                <a:ea typeface="Calibri" panose="020F0502020204030204" pitchFamily="34" charset="0"/>
              </a:rPr>
              <a:t>phía</a:t>
            </a:r>
            <a:r>
              <a:rPr lang="en-US" sz="1800" dirty="0">
                <a:effectLst/>
                <a:latin typeface="+mn-lt"/>
                <a:ea typeface="Calibri" panose="020F0502020204030204" pitchFamily="34" charset="0"/>
              </a:rPr>
              <a:t> </a:t>
            </a:r>
            <a:r>
              <a:rPr lang="en-US" sz="1800" dirty="0" err="1">
                <a:effectLst/>
                <a:latin typeface="+mn-lt"/>
                <a:ea typeface="Calibri" panose="020F0502020204030204" pitchFamily="34" charset="0"/>
              </a:rPr>
              <a:t>sau</a:t>
            </a:r>
            <a:r>
              <a:rPr lang="en-US" sz="1800" dirty="0">
                <a:effectLst/>
                <a:latin typeface="+mn-lt"/>
                <a:ea typeface="Calibri" panose="020F0502020204030204" pitchFamily="34" charset="0"/>
              </a:rPr>
              <a:t> opcode, </a:t>
            </a:r>
            <a:r>
              <a:rPr lang="en-US" sz="1800" dirty="0" err="1">
                <a:effectLst/>
                <a:latin typeface="+mn-lt"/>
                <a:ea typeface="Calibri" panose="020F0502020204030204" pitchFamily="34" charset="0"/>
              </a:rPr>
              <a:t>đảm</a:t>
            </a:r>
            <a:r>
              <a:rPr lang="en-US" sz="1800" dirty="0">
                <a:effectLst/>
                <a:latin typeface="+mn-lt"/>
                <a:ea typeface="Calibri" panose="020F0502020204030204" pitchFamily="34" charset="0"/>
              </a:rPr>
              <a:t> </a:t>
            </a:r>
            <a:r>
              <a:rPr lang="en-US" sz="1800" dirty="0" err="1">
                <a:effectLst/>
                <a:latin typeface="+mn-lt"/>
                <a:ea typeface="Calibri" panose="020F0502020204030204" pitchFamily="34" charset="0"/>
              </a:rPr>
              <a:t>bảo</a:t>
            </a:r>
            <a:r>
              <a:rPr lang="en-US" sz="1800" dirty="0">
                <a:effectLst/>
                <a:latin typeface="+mn-lt"/>
                <a:ea typeface="Calibri" panose="020F0502020204030204" pitchFamily="34" charset="0"/>
              </a:rPr>
              <a:t> </a:t>
            </a:r>
            <a:r>
              <a:rPr lang="en-US" sz="1800" dirty="0" err="1">
                <a:effectLst/>
                <a:latin typeface="+mn-lt"/>
                <a:ea typeface="Calibri" panose="020F0502020204030204" pitchFamily="34" charset="0"/>
              </a:rPr>
              <a:t>chỉ</a:t>
            </a:r>
            <a:r>
              <a:rPr lang="en-US" sz="1800" dirty="0">
                <a:effectLst/>
                <a:latin typeface="+mn-lt"/>
                <a:ea typeface="Calibri" panose="020F0502020204030204" pitchFamily="34" charset="0"/>
              </a:rPr>
              <a:t> </a:t>
            </a:r>
            <a:r>
              <a:rPr lang="en-US" sz="1800" dirty="0" err="1">
                <a:effectLst/>
                <a:latin typeface="+mn-lt"/>
                <a:ea typeface="Calibri" panose="020F0502020204030204" pitchFamily="34" charset="0"/>
              </a:rPr>
              <a:t>còn</a:t>
            </a:r>
            <a:r>
              <a:rPr lang="en-US" sz="1800" dirty="0">
                <a:effectLst/>
                <a:latin typeface="+mn-lt"/>
                <a:ea typeface="Calibri" panose="020F0502020204030204" pitchFamily="34" charset="0"/>
              </a:rPr>
              <a:t> opcode</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D3B7D4C-0050-46EF-7C71-EB042C453BE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1B59B2D-F152-6CA1-4624-CD176AD9290D}"/>
              </a:ext>
            </a:extLst>
          </p:cNvPr>
          <p:cNvSpPr/>
          <p:nvPr/>
        </p:nvSpPr>
        <p:spPr>
          <a:xfrm>
            <a:off x="0" y="0"/>
            <a:ext cx="12192000" cy="9429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261D6E6C-847E-3601-23C9-7860DF28A3F2}"/>
              </a:ext>
            </a:extLst>
          </p:cNvPr>
          <p:cNvSpPr/>
          <p:nvPr/>
        </p:nvSpPr>
        <p:spPr>
          <a:xfrm>
            <a:off x="0" y="904875"/>
            <a:ext cx="12192000" cy="3810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a:extLst>
              <a:ext uri="{FF2B5EF4-FFF2-40B4-BE49-F238E27FC236}">
                <a16:creationId xmlns:a16="http://schemas.microsoft.com/office/drawing/2014/main" id="{3E7CFCB2-EA11-8F7D-F668-597BACE9E04D}"/>
              </a:ext>
            </a:extLst>
          </p:cNvPr>
          <p:cNvPicPr>
            <a:picLocks noChangeAspect="1"/>
          </p:cNvPicPr>
          <p:nvPr/>
        </p:nvPicPr>
        <p:blipFill>
          <a:blip r:embed="rId3"/>
          <a:stretch>
            <a:fillRect/>
          </a:stretch>
        </p:blipFill>
        <p:spPr>
          <a:xfrm>
            <a:off x="11430000" y="338137"/>
            <a:ext cx="304800" cy="304800"/>
          </a:xfrm>
          <a:prstGeom prst="rect">
            <a:avLst/>
          </a:prstGeom>
        </p:spPr>
      </p:pic>
      <p:pic>
        <p:nvPicPr>
          <p:cNvPr id="8" name="Picture 7" descr="image.png">
            <a:extLst>
              <a:ext uri="{FF2B5EF4-FFF2-40B4-BE49-F238E27FC236}">
                <a16:creationId xmlns:a16="http://schemas.microsoft.com/office/drawing/2014/main" id="{9456B7B8-87EF-8BB2-36DB-B3D8F0AE6054}"/>
              </a:ext>
            </a:extLst>
          </p:cNvPr>
          <p:cNvPicPr>
            <a:picLocks noChangeAspect="1"/>
          </p:cNvPicPr>
          <p:nvPr/>
        </p:nvPicPr>
        <p:blipFill>
          <a:blip r:embed="rId4"/>
          <a:stretch>
            <a:fillRect/>
          </a:stretch>
        </p:blipFill>
        <p:spPr>
          <a:xfrm>
            <a:off x="6705600" y="2814637"/>
            <a:ext cx="4495800" cy="457200"/>
          </a:xfrm>
          <a:prstGeom prst="rect">
            <a:avLst/>
          </a:prstGeom>
        </p:spPr>
      </p:pic>
      <p:sp>
        <p:nvSpPr>
          <p:cNvPr id="9" name="TextBox 8">
            <a:extLst>
              <a:ext uri="{FF2B5EF4-FFF2-40B4-BE49-F238E27FC236}">
                <a16:creationId xmlns:a16="http://schemas.microsoft.com/office/drawing/2014/main" id="{E394D5AB-33D3-14AE-C644-51A035652B86}"/>
              </a:ext>
            </a:extLst>
          </p:cNvPr>
          <p:cNvSpPr txBox="1"/>
          <p:nvPr/>
        </p:nvSpPr>
        <p:spPr>
          <a:xfrm>
            <a:off x="457200" y="304800"/>
            <a:ext cx="3822906" cy="369332"/>
          </a:xfrm>
          <a:prstGeom prst="rect">
            <a:avLst/>
          </a:prstGeom>
          <a:noFill/>
        </p:spPr>
        <p:txBody>
          <a:bodyPr wrap="none" lIns="0" tIns="0" rIns="0" bIns="0" anchor="t">
            <a:spAutoFit/>
          </a:bodyPr>
          <a:lstStyle/>
          <a:p>
            <a:pPr algn="l"/>
            <a:r>
              <a:rPr lang="vi-VN" sz="2400" b="1" i="0" u="none" dirty="0">
                <a:solidFill>
                  <a:srgbClr val="1A293C"/>
                </a:solidFill>
                <a:latin typeface="Montserrat"/>
              </a:rPr>
              <a:t>Trích xuất đặc trưng với NLP </a:t>
            </a:r>
            <a:endParaRPr sz="2400" b="1" i="0" u="none" dirty="0">
              <a:solidFill>
                <a:srgbClr val="1A293C"/>
              </a:solidFill>
              <a:latin typeface="Montserrat"/>
            </a:endParaRPr>
          </a:p>
        </p:txBody>
      </p:sp>
      <p:sp>
        <p:nvSpPr>
          <p:cNvPr id="13" name="TextBox 12">
            <a:extLst>
              <a:ext uri="{FF2B5EF4-FFF2-40B4-BE49-F238E27FC236}">
                <a16:creationId xmlns:a16="http://schemas.microsoft.com/office/drawing/2014/main" id="{796CB14E-3843-5893-A342-4FBD4121C76F}"/>
              </a:ext>
            </a:extLst>
          </p:cNvPr>
          <p:cNvSpPr txBox="1"/>
          <p:nvPr/>
        </p:nvSpPr>
        <p:spPr>
          <a:xfrm>
            <a:off x="6705600" y="3500437"/>
            <a:ext cx="5486400" cy="323850"/>
          </a:xfrm>
          <a:prstGeom prst="rect">
            <a:avLst/>
          </a:prstGeom>
          <a:noFill/>
        </p:spPr>
        <p:txBody>
          <a:bodyPr wrap="none" lIns="0" tIns="0" rIns="0" bIns="0" anchor="t">
            <a:spAutoFit/>
          </a:bodyPr>
          <a:lstStyle/>
          <a:p>
            <a:pPr algn="l"/>
            <a:r>
              <a:rPr sz="2100" b="1" i="0" u="none">
                <a:solidFill>
                  <a:srgbClr val="FFFFFF"/>
                </a:solidFill>
                <a:latin typeface="Montserrat"/>
              </a:rPr>
              <a:t>Word2Vec Embedding</a:t>
            </a:r>
          </a:p>
        </p:txBody>
      </p:sp>
      <p:sp>
        <p:nvSpPr>
          <p:cNvPr id="15" name="TextBox 14">
            <a:extLst>
              <a:ext uri="{FF2B5EF4-FFF2-40B4-BE49-F238E27FC236}">
                <a16:creationId xmlns:a16="http://schemas.microsoft.com/office/drawing/2014/main" id="{F1BF4EEE-E0AD-C451-8E24-03448FB3BB69}"/>
              </a:ext>
            </a:extLst>
          </p:cNvPr>
          <p:cNvSpPr txBox="1"/>
          <p:nvPr/>
        </p:nvSpPr>
        <p:spPr>
          <a:xfrm>
            <a:off x="6705600" y="4757737"/>
            <a:ext cx="5486400" cy="228600"/>
          </a:xfrm>
          <a:prstGeom prst="rect">
            <a:avLst/>
          </a:prstGeom>
          <a:noFill/>
        </p:spPr>
        <p:txBody>
          <a:bodyPr wrap="none" lIns="0" tIns="0" rIns="0" bIns="0" anchor="t">
            <a:spAutoFit/>
          </a:bodyPr>
          <a:lstStyle/>
          <a:p>
            <a:pPr algn="l"/>
            <a:r>
              <a:rPr sz="1500" b="1" i="0" u="none">
                <a:solidFill>
                  <a:srgbClr val="F8FAFC"/>
                </a:solidFill>
                <a:latin typeface="Roboto"/>
              </a:rPr>
              <a:t>Đại diện mỗi malware bằng vector 104 chiều.</a:t>
            </a:r>
          </a:p>
        </p:txBody>
      </p:sp>
      <p:pic>
        <p:nvPicPr>
          <p:cNvPr id="16" name="Picture 15">
            <a:extLst>
              <a:ext uri="{FF2B5EF4-FFF2-40B4-BE49-F238E27FC236}">
                <a16:creationId xmlns:a16="http://schemas.microsoft.com/office/drawing/2014/main" id="{1EBA78B5-0C0C-0801-E936-49A05AD74BAC}"/>
              </a:ext>
            </a:extLst>
          </p:cNvPr>
          <p:cNvPicPr>
            <a:picLocks noChangeAspect="1"/>
          </p:cNvPicPr>
          <p:nvPr/>
        </p:nvPicPr>
        <p:blipFill>
          <a:blip r:embed="rId5"/>
          <a:stretch>
            <a:fillRect/>
          </a:stretch>
        </p:blipFill>
        <p:spPr>
          <a:xfrm>
            <a:off x="1621117" y="2059132"/>
            <a:ext cx="8145358" cy="4215939"/>
          </a:xfrm>
          <a:prstGeom prst="rect">
            <a:avLst/>
          </a:prstGeom>
        </p:spPr>
      </p:pic>
      <p:sp>
        <p:nvSpPr>
          <p:cNvPr id="20" name="TextBox 19">
            <a:extLst>
              <a:ext uri="{FF2B5EF4-FFF2-40B4-BE49-F238E27FC236}">
                <a16:creationId xmlns:a16="http://schemas.microsoft.com/office/drawing/2014/main" id="{A3431D1E-A4F3-096B-949E-A863257D4294}"/>
              </a:ext>
            </a:extLst>
          </p:cNvPr>
          <p:cNvSpPr txBox="1"/>
          <p:nvPr/>
        </p:nvSpPr>
        <p:spPr>
          <a:xfrm>
            <a:off x="606137" y="1134775"/>
            <a:ext cx="11364189" cy="369332"/>
          </a:xfrm>
          <a:prstGeom prst="rect">
            <a:avLst/>
          </a:prstGeom>
          <a:noFill/>
        </p:spPr>
        <p:txBody>
          <a:bodyPr wrap="square">
            <a:spAutoFit/>
          </a:bodyPr>
          <a:lstStyle/>
          <a:p>
            <a:r>
              <a:rPr lang="vi-VN" dirty="0"/>
              <a:t>Dùng Word2Vec, chuyển các opcode đã token hóa thành vectơ số, mỗi vectơ biểu diễn một opcode</a:t>
            </a:r>
            <a:endParaRPr lang="en-US" dirty="0"/>
          </a:p>
        </p:txBody>
      </p:sp>
    </p:spTree>
    <p:extLst>
      <p:ext uri="{BB962C8B-B14F-4D97-AF65-F5344CB8AC3E}">
        <p14:creationId xmlns:p14="http://schemas.microsoft.com/office/powerpoint/2010/main" val="4009587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DC8A89A-BC59-833D-C14C-C5EB9293783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D1424D5-191B-DBFD-F284-013758CED79B}"/>
              </a:ext>
            </a:extLst>
          </p:cNvPr>
          <p:cNvSpPr/>
          <p:nvPr/>
        </p:nvSpPr>
        <p:spPr>
          <a:xfrm>
            <a:off x="0" y="0"/>
            <a:ext cx="12192000" cy="9429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7467D0E2-753D-D8C3-E63D-F56E9EDCD358}"/>
              </a:ext>
            </a:extLst>
          </p:cNvPr>
          <p:cNvSpPr/>
          <p:nvPr/>
        </p:nvSpPr>
        <p:spPr>
          <a:xfrm>
            <a:off x="0" y="904875"/>
            <a:ext cx="12192000" cy="3810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a:extLst>
              <a:ext uri="{FF2B5EF4-FFF2-40B4-BE49-F238E27FC236}">
                <a16:creationId xmlns:a16="http://schemas.microsoft.com/office/drawing/2014/main" id="{3AE4B21F-B5B5-5C87-DA4C-A59E3ACA837A}"/>
              </a:ext>
            </a:extLst>
          </p:cNvPr>
          <p:cNvPicPr>
            <a:picLocks noChangeAspect="1"/>
          </p:cNvPicPr>
          <p:nvPr/>
        </p:nvPicPr>
        <p:blipFill>
          <a:blip r:embed="rId3"/>
          <a:stretch>
            <a:fillRect/>
          </a:stretch>
        </p:blipFill>
        <p:spPr>
          <a:xfrm>
            <a:off x="11430000" y="338137"/>
            <a:ext cx="304800" cy="304800"/>
          </a:xfrm>
          <a:prstGeom prst="rect">
            <a:avLst/>
          </a:prstGeom>
        </p:spPr>
      </p:pic>
      <p:pic>
        <p:nvPicPr>
          <p:cNvPr id="8" name="Picture 7" descr="image.png">
            <a:extLst>
              <a:ext uri="{FF2B5EF4-FFF2-40B4-BE49-F238E27FC236}">
                <a16:creationId xmlns:a16="http://schemas.microsoft.com/office/drawing/2014/main" id="{5E886286-B5F5-204F-9CF1-0CAB261498F4}"/>
              </a:ext>
            </a:extLst>
          </p:cNvPr>
          <p:cNvPicPr>
            <a:picLocks noChangeAspect="1"/>
          </p:cNvPicPr>
          <p:nvPr/>
        </p:nvPicPr>
        <p:blipFill>
          <a:blip r:embed="rId4"/>
          <a:stretch>
            <a:fillRect/>
          </a:stretch>
        </p:blipFill>
        <p:spPr>
          <a:xfrm>
            <a:off x="6705600" y="2814637"/>
            <a:ext cx="4495800" cy="457200"/>
          </a:xfrm>
          <a:prstGeom prst="rect">
            <a:avLst/>
          </a:prstGeom>
        </p:spPr>
      </p:pic>
      <p:sp>
        <p:nvSpPr>
          <p:cNvPr id="9" name="TextBox 8">
            <a:extLst>
              <a:ext uri="{FF2B5EF4-FFF2-40B4-BE49-F238E27FC236}">
                <a16:creationId xmlns:a16="http://schemas.microsoft.com/office/drawing/2014/main" id="{F3236EC4-E175-76C9-496B-4CAA9B93F35F}"/>
              </a:ext>
            </a:extLst>
          </p:cNvPr>
          <p:cNvSpPr txBox="1"/>
          <p:nvPr/>
        </p:nvSpPr>
        <p:spPr>
          <a:xfrm>
            <a:off x="457200" y="304800"/>
            <a:ext cx="3822906" cy="369332"/>
          </a:xfrm>
          <a:prstGeom prst="rect">
            <a:avLst/>
          </a:prstGeom>
          <a:noFill/>
        </p:spPr>
        <p:txBody>
          <a:bodyPr wrap="none" lIns="0" tIns="0" rIns="0" bIns="0" anchor="t">
            <a:spAutoFit/>
          </a:bodyPr>
          <a:lstStyle/>
          <a:p>
            <a:pPr algn="l"/>
            <a:r>
              <a:rPr lang="vi-VN" sz="2400" b="1" i="0" u="none" dirty="0">
                <a:solidFill>
                  <a:srgbClr val="1A293C"/>
                </a:solidFill>
                <a:latin typeface="Montserrat"/>
              </a:rPr>
              <a:t>Trích xuất đặc trưng với NLP </a:t>
            </a:r>
            <a:endParaRPr sz="2400" b="1" i="0" u="none" dirty="0">
              <a:solidFill>
                <a:srgbClr val="1A293C"/>
              </a:solidFill>
              <a:latin typeface="Montserrat"/>
            </a:endParaRPr>
          </a:p>
        </p:txBody>
      </p:sp>
      <p:sp>
        <p:nvSpPr>
          <p:cNvPr id="13" name="TextBox 12">
            <a:extLst>
              <a:ext uri="{FF2B5EF4-FFF2-40B4-BE49-F238E27FC236}">
                <a16:creationId xmlns:a16="http://schemas.microsoft.com/office/drawing/2014/main" id="{6EEBFB83-4736-0304-6003-A96B2CA62B0D}"/>
              </a:ext>
            </a:extLst>
          </p:cNvPr>
          <p:cNvSpPr txBox="1"/>
          <p:nvPr/>
        </p:nvSpPr>
        <p:spPr>
          <a:xfrm>
            <a:off x="6705600" y="3500437"/>
            <a:ext cx="5486400" cy="323850"/>
          </a:xfrm>
          <a:prstGeom prst="rect">
            <a:avLst/>
          </a:prstGeom>
          <a:noFill/>
        </p:spPr>
        <p:txBody>
          <a:bodyPr wrap="none" lIns="0" tIns="0" rIns="0" bIns="0" anchor="t">
            <a:spAutoFit/>
          </a:bodyPr>
          <a:lstStyle/>
          <a:p>
            <a:pPr algn="l"/>
            <a:r>
              <a:rPr sz="2100" b="1" i="0" u="none">
                <a:solidFill>
                  <a:srgbClr val="FFFFFF"/>
                </a:solidFill>
                <a:latin typeface="Montserrat"/>
              </a:rPr>
              <a:t>Word2Vec Embedding</a:t>
            </a:r>
          </a:p>
        </p:txBody>
      </p:sp>
      <p:sp>
        <p:nvSpPr>
          <p:cNvPr id="15" name="TextBox 14">
            <a:extLst>
              <a:ext uri="{FF2B5EF4-FFF2-40B4-BE49-F238E27FC236}">
                <a16:creationId xmlns:a16="http://schemas.microsoft.com/office/drawing/2014/main" id="{2AF6A985-EF2D-E83A-585C-3AEC3859A365}"/>
              </a:ext>
            </a:extLst>
          </p:cNvPr>
          <p:cNvSpPr txBox="1"/>
          <p:nvPr/>
        </p:nvSpPr>
        <p:spPr>
          <a:xfrm>
            <a:off x="6705600" y="4757737"/>
            <a:ext cx="5486400" cy="228600"/>
          </a:xfrm>
          <a:prstGeom prst="rect">
            <a:avLst/>
          </a:prstGeom>
          <a:noFill/>
        </p:spPr>
        <p:txBody>
          <a:bodyPr wrap="none" lIns="0" tIns="0" rIns="0" bIns="0" anchor="t">
            <a:spAutoFit/>
          </a:bodyPr>
          <a:lstStyle/>
          <a:p>
            <a:pPr algn="l"/>
            <a:r>
              <a:rPr sz="1500" b="1" i="0" u="none">
                <a:solidFill>
                  <a:srgbClr val="F8FAFC"/>
                </a:solidFill>
                <a:latin typeface="Roboto"/>
              </a:rPr>
              <a:t>Đại diện mỗi malware bằng vector 104 chiều.</a:t>
            </a:r>
          </a:p>
        </p:txBody>
      </p:sp>
      <p:sp>
        <p:nvSpPr>
          <p:cNvPr id="20" name="TextBox 19">
            <a:extLst>
              <a:ext uri="{FF2B5EF4-FFF2-40B4-BE49-F238E27FC236}">
                <a16:creationId xmlns:a16="http://schemas.microsoft.com/office/drawing/2014/main" id="{605A1CC9-167F-53DA-F032-C9F4281BB8A8}"/>
              </a:ext>
            </a:extLst>
          </p:cNvPr>
          <p:cNvSpPr txBox="1"/>
          <p:nvPr/>
        </p:nvSpPr>
        <p:spPr>
          <a:xfrm>
            <a:off x="606137" y="1326858"/>
            <a:ext cx="11364189" cy="646331"/>
          </a:xfrm>
          <a:prstGeom prst="rect">
            <a:avLst/>
          </a:prstGeom>
          <a:noFill/>
        </p:spPr>
        <p:txBody>
          <a:bodyPr wrap="square">
            <a:spAutoFit/>
          </a:bodyPr>
          <a:lstStyle/>
          <a:p>
            <a:r>
              <a:rPr lang="vi-VN" dirty="0"/>
              <a:t>Chọn số chiều tối ưu</a:t>
            </a:r>
            <a:r>
              <a:rPr lang="en-US" dirty="0"/>
              <a:t> </a:t>
            </a:r>
            <a:r>
              <a:rPr lang="en-US" dirty="0" err="1"/>
              <a:t>bằng</a:t>
            </a:r>
            <a:r>
              <a:rPr lang="en-US" dirty="0"/>
              <a:t> </a:t>
            </a:r>
            <a:r>
              <a:rPr lang="en-US" dirty="0" err="1"/>
              <a:t>cách</a:t>
            </a:r>
            <a:r>
              <a:rPr lang="vi-VN" dirty="0"/>
              <a:t> thực hiện phân loại đa lớp</a:t>
            </a:r>
            <a:endParaRPr lang="en-US" dirty="0"/>
          </a:p>
          <a:p>
            <a:endParaRPr lang="en-US" dirty="0"/>
          </a:p>
        </p:txBody>
      </p:sp>
      <p:pic>
        <p:nvPicPr>
          <p:cNvPr id="5" name="Picture 4">
            <a:extLst>
              <a:ext uri="{FF2B5EF4-FFF2-40B4-BE49-F238E27FC236}">
                <a16:creationId xmlns:a16="http://schemas.microsoft.com/office/drawing/2014/main" id="{A25DEB6C-7332-22C0-4D3F-5B1244586876}"/>
              </a:ext>
            </a:extLst>
          </p:cNvPr>
          <p:cNvPicPr>
            <a:picLocks noChangeAspect="1"/>
          </p:cNvPicPr>
          <p:nvPr/>
        </p:nvPicPr>
        <p:blipFill>
          <a:blip r:embed="rId5"/>
          <a:stretch>
            <a:fillRect/>
          </a:stretch>
        </p:blipFill>
        <p:spPr>
          <a:xfrm>
            <a:off x="1702703" y="2710077"/>
            <a:ext cx="8786593" cy="3013148"/>
          </a:xfrm>
          <a:prstGeom prst="rect">
            <a:avLst/>
          </a:prstGeom>
        </p:spPr>
      </p:pic>
    </p:spTree>
    <p:extLst>
      <p:ext uri="{BB962C8B-B14F-4D97-AF65-F5344CB8AC3E}">
        <p14:creationId xmlns:p14="http://schemas.microsoft.com/office/powerpoint/2010/main" val="25687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429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04875"/>
            <a:ext cx="12192000" cy="3810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09600" y="2905125"/>
            <a:ext cx="3454449" cy="1990725"/>
          </a:xfrm>
          <a:prstGeom prst="roundRect">
            <a:avLst>
              <a:gd name="adj" fmla="val 765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368849" y="2905125"/>
            <a:ext cx="3454449" cy="1990725"/>
          </a:xfrm>
          <a:prstGeom prst="roundRect">
            <a:avLst>
              <a:gd name="adj" fmla="val 765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128099" y="2905125"/>
            <a:ext cx="3454449" cy="1990725"/>
          </a:xfrm>
          <a:prstGeom prst="roundRect">
            <a:avLst>
              <a:gd name="adj" fmla="val 7655"/>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09600" y="4838700"/>
            <a:ext cx="3454449" cy="57150"/>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68849" y="4838700"/>
            <a:ext cx="3454449" cy="57150"/>
          </a:xfrm>
          <a:prstGeom prst="rect">
            <a:avLst/>
          </a:prstGeom>
          <a:solidFill>
            <a:srgbClr val="1A2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128099" y="4838700"/>
            <a:ext cx="3454449" cy="5715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p:cNvPicPr>
            <a:picLocks noChangeAspect="1"/>
          </p:cNvPicPr>
          <p:nvPr/>
        </p:nvPicPr>
        <p:blipFill>
          <a:blip r:embed="rId3"/>
          <a:stretch>
            <a:fillRect/>
          </a:stretch>
        </p:blipFill>
        <p:spPr>
          <a:xfrm>
            <a:off x="11353800" y="338137"/>
            <a:ext cx="381000" cy="304800"/>
          </a:xfrm>
          <a:prstGeom prst="rect">
            <a:avLst/>
          </a:prstGeom>
        </p:spPr>
      </p:pic>
      <p:sp>
        <p:nvSpPr>
          <p:cNvPr id="11" name="TextBox 10"/>
          <p:cNvSpPr txBox="1"/>
          <p:nvPr/>
        </p:nvSpPr>
        <p:spPr>
          <a:xfrm>
            <a:off x="457200" y="304800"/>
            <a:ext cx="3605667" cy="369332"/>
          </a:xfrm>
          <a:prstGeom prst="rect">
            <a:avLst/>
          </a:prstGeom>
          <a:noFill/>
        </p:spPr>
        <p:txBody>
          <a:bodyPr wrap="none" lIns="0" tIns="0" rIns="0" bIns="0" anchor="t">
            <a:spAutoFit/>
          </a:bodyPr>
          <a:lstStyle/>
          <a:p>
            <a:pPr algn="l"/>
            <a:r>
              <a:rPr sz="2400" b="1" i="0" u="none" dirty="0">
                <a:solidFill>
                  <a:srgbClr val="1A293C"/>
                </a:solidFill>
                <a:latin typeface="Montserrat"/>
              </a:rPr>
              <a:t>Các </a:t>
            </a:r>
            <a:r>
              <a:rPr lang="en-US" sz="2400" b="1" dirty="0" err="1">
                <a:solidFill>
                  <a:srgbClr val="1A293C"/>
                </a:solidFill>
                <a:latin typeface="Montserrat"/>
              </a:rPr>
              <a:t>m</a:t>
            </a:r>
            <a:r>
              <a:rPr sz="2400" b="1" i="0" u="none" dirty="0" err="1">
                <a:solidFill>
                  <a:srgbClr val="1A293C"/>
                </a:solidFill>
                <a:latin typeface="Montserrat"/>
              </a:rPr>
              <a:t>ô</a:t>
            </a:r>
            <a:r>
              <a:rPr sz="2400" b="1" i="0" u="none" dirty="0">
                <a:solidFill>
                  <a:srgbClr val="1A293C"/>
                </a:solidFill>
                <a:latin typeface="Montserrat"/>
              </a:rPr>
              <a:t> </a:t>
            </a:r>
            <a:r>
              <a:rPr lang="en-US" sz="2400" b="1" dirty="0" err="1">
                <a:solidFill>
                  <a:srgbClr val="1A293C"/>
                </a:solidFill>
                <a:latin typeface="Montserrat"/>
              </a:rPr>
              <a:t>h</a:t>
            </a:r>
            <a:r>
              <a:rPr sz="2400" b="1" i="0" u="none" dirty="0" err="1">
                <a:solidFill>
                  <a:srgbClr val="1A293C"/>
                </a:solidFill>
                <a:latin typeface="Montserrat"/>
              </a:rPr>
              <a:t>ình</a:t>
            </a:r>
            <a:r>
              <a:rPr sz="2400" b="1" i="0" u="none" dirty="0">
                <a:solidFill>
                  <a:srgbClr val="1A293C"/>
                </a:solidFill>
                <a:latin typeface="Montserrat"/>
              </a:rPr>
              <a:t> </a:t>
            </a:r>
            <a:r>
              <a:rPr lang="en-US" sz="2400" b="1" i="0" u="none" dirty="0">
                <a:solidFill>
                  <a:srgbClr val="1A293C"/>
                </a:solidFill>
                <a:latin typeface="Montserrat"/>
              </a:rPr>
              <a:t>G</a:t>
            </a:r>
            <a:r>
              <a:rPr sz="2400" b="1" i="0" u="none" dirty="0">
                <a:solidFill>
                  <a:srgbClr val="1A293C"/>
                </a:solidFill>
                <a:latin typeface="Montserrat"/>
              </a:rPr>
              <a:t>enerative AI</a:t>
            </a:r>
          </a:p>
        </p:txBody>
      </p:sp>
      <p:sp>
        <p:nvSpPr>
          <p:cNvPr id="12" name="TextBox 11"/>
          <p:cNvSpPr txBox="1"/>
          <p:nvPr/>
        </p:nvSpPr>
        <p:spPr>
          <a:xfrm>
            <a:off x="1806684" y="3286125"/>
            <a:ext cx="1060132" cy="371475"/>
          </a:xfrm>
          <a:prstGeom prst="rect">
            <a:avLst/>
          </a:prstGeom>
          <a:noFill/>
        </p:spPr>
        <p:txBody>
          <a:bodyPr wrap="none" lIns="0" tIns="0" rIns="0" bIns="0" anchor="t">
            <a:spAutoFit/>
          </a:bodyPr>
          <a:lstStyle/>
          <a:p>
            <a:pPr algn="ctr"/>
            <a:r>
              <a:rPr sz="2400" b="1" i="0" u="none">
                <a:solidFill>
                  <a:srgbClr val="1A293C"/>
                </a:solidFill>
                <a:latin typeface="Montserrat"/>
              </a:rPr>
              <a:t>GAN</a:t>
            </a:r>
          </a:p>
        </p:txBody>
      </p:sp>
      <p:sp>
        <p:nvSpPr>
          <p:cNvPr id="13" name="TextBox 12"/>
          <p:cNvSpPr txBox="1"/>
          <p:nvPr/>
        </p:nvSpPr>
        <p:spPr>
          <a:xfrm>
            <a:off x="558793" y="3886200"/>
            <a:ext cx="3556062" cy="571500"/>
          </a:xfrm>
          <a:prstGeom prst="rect">
            <a:avLst/>
          </a:prstGeom>
          <a:noFill/>
        </p:spPr>
        <p:txBody>
          <a:bodyPr wrap="square" lIns="0" tIns="0" rIns="0" bIns="0" anchor="t">
            <a:spAutoFit/>
          </a:bodyPr>
          <a:lstStyle/>
          <a:p>
            <a:pPr algn="ctr">
              <a:lnSpc>
                <a:spcPts val="2250"/>
              </a:lnSpc>
            </a:pPr>
            <a:r>
              <a:rPr sz="1500" b="0" i="0" u="none">
                <a:solidFill>
                  <a:srgbClr val="64748B"/>
                </a:solidFill>
                <a:latin typeface="Roboto"/>
              </a:rPr>
              <a:t>Cơ chế đối đầu trực tiếp giữa Generator và Discriminator.</a:t>
            </a:r>
          </a:p>
        </p:txBody>
      </p:sp>
      <p:sp>
        <p:nvSpPr>
          <p:cNvPr id="14" name="TextBox 13"/>
          <p:cNvSpPr txBox="1"/>
          <p:nvPr/>
        </p:nvSpPr>
        <p:spPr>
          <a:xfrm>
            <a:off x="5020865" y="3286125"/>
            <a:ext cx="2150268" cy="371475"/>
          </a:xfrm>
          <a:prstGeom prst="rect">
            <a:avLst/>
          </a:prstGeom>
          <a:noFill/>
        </p:spPr>
        <p:txBody>
          <a:bodyPr wrap="none" lIns="0" tIns="0" rIns="0" bIns="0" anchor="t">
            <a:spAutoFit/>
          </a:bodyPr>
          <a:lstStyle/>
          <a:p>
            <a:pPr algn="ctr"/>
            <a:r>
              <a:rPr sz="2400" b="1" i="0" u="none">
                <a:solidFill>
                  <a:srgbClr val="1A293C"/>
                </a:solidFill>
                <a:latin typeface="Montserrat"/>
              </a:rPr>
              <a:t>WGAN-GP</a:t>
            </a:r>
          </a:p>
        </p:txBody>
      </p:sp>
      <p:sp>
        <p:nvSpPr>
          <p:cNvPr id="15" name="TextBox 14"/>
          <p:cNvSpPr txBox="1"/>
          <p:nvPr/>
        </p:nvSpPr>
        <p:spPr>
          <a:xfrm>
            <a:off x="4318043" y="3886200"/>
            <a:ext cx="3556062" cy="571500"/>
          </a:xfrm>
          <a:prstGeom prst="rect">
            <a:avLst/>
          </a:prstGeom>
          <a:noFill/>
        </p:spPr>
        <p:txBody>
          <a:bodyPr wrap="square" lIns="0" tIns="0" rIns="0" bIns="0" anchor="t">
            <a:spAutoFit/>
          </a:bodyPr>
          <a:lstStyle/>
          <a:p>
            <a:pPr algn="ctr">
              <a:lnSpc>
                <a:spcPts val="2250"/>
              </a:lnSpc>
            </a:pPr>
            <a:r>
              <a:rPr sz="1500" b="0" i="0" u="none">
                <a:solidFill>
                  <a:srgbClr val="64748B"/>
                </a:solidFill>
                <a:latin typeface="Roboto"/>
              </a:rPr>
              <a:t>Sử dụng Gradient Penalty ổn định quá trình huấn luyện.</a:t>
            </a:r>
          </a:p>
        </p:txBody>
      </p:sp>
      <p:sp>
        <p:nvSpPr>
          <p:cNvPr id="16" name="TextBox 15"/>
          <p:cNvSpPr txBox="1"/>
          <p:nvPr/>
        </p:nvSpPr>
        <p:spPr>
          <a:xfrm>
            <a:off x="8905130" y="3286125"/>
            <a:ext cx="1900237" cy="371475"/>
          </a:xfrm>
          <a:prstGeom prst="rect">
            <a:avLst/>
          </a:prstGeom>
          <a:noFill/>
        </p:spPr>
        <p:txBody>
          <a:bodyPr wrap="none" lIns="0" tIns="0" rIns="0" bIns="0" anchor="t">
            <a:spAutoFit/>
          </a:bodyPr>
          <a:lstStyle/>
          <a:p>
            <a:pPr algn="ctr"/>
            <a:r>
              <a:rPr sz="2400" b="1" i="0" u="none">
                <a:solidFill>
                  <a:srgbClr val="D32F2F"/>
                </a:solidFill>
                <a:latin typeface="Montserrat"/>
              </a:rPr>
              <a:t>Diffusion</a:t>
            </a:r>
          </a:p>
        </p:txBody>
      </p:sp>
      <p:sp>
        <p:nvSpPr>
          <p:cNvPr id="17" name="TextBox 16"/>
          <p:cNvSpPr txBox="1"/>
          <p:nvPr/>
        </p:nvSpPr>
        <p:spPr>
          <a:xfrm>
            <a:off x="8077293" y="3886200"/>
            <a:ext cx="3556062" cy="571500"/>
          </a:xfrm>
          <a:prstGeom prst="rect">
            <a:avLst/>
          </a:prstGeom>
          <a:noFill/>
        </p:spPr>
        <p:txBody>
          <a:bodyPr wrap="square" lIns="0" tIns="0" rIns="0" bIns="0" anchor="t">
            <a:spAutoFit/>
          </a:bodyPr>
          <a:lstStyle/>
          <a:p>
            <a:pPr algn="ctr">
              <a:lnSpc>
                <a:spcPts val="2250"/>
              </a:lnSpc>
            </a:pPr>
            <a:r>
              <a:rPr sz="1500" b="0" i="0" u="none">
                <a:solidFill>
                  <a:srgbClr val="64748B"/>
                </a:solidFill>
                <a:latin typeface="Roboto"/>
              </a:rPr>
              <a:t>Quá trình khuếch tán và khử nhiễu lặp lại qua mạng U-Net.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CE9609D-F323-313D-32CE-51BBC71CA03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C8C4894-00E7-CCB8-1562-D947C9750F51}"/>
              </a:ext>
            </a:extLst>
          </p:cNvPr>
          <p:cNvSpPr/>
          <p:nvPr/>
        </p:nvSpPr>
        <p:spPr>
          <a:xfrm>
            <a:off x="0" y="0"/>
            <a:ext cx="12192000" cy="9429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FD00B717-159D-757A-73A3-27FB61552E1C}"/>
              </a:ext>
            </a:extLst>
          </p:cNvPr>
          <p:cNvSpPr/>
          <p:nvPr/>
        </p:nvSpPr>
        <p:spPr>
          <a:xfrm>
            <a:off x="0" y="904875"/>
            <a:ext cx="12192000" cy="3810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a:extLst>
              <a:ext uri="{FF2B5EF4-FFF2-40B4-BE49-F238E27FC236}">
                <a16:creationId xmlns:a16="http://schemas.microsoft.com/office/drawing/2014/main" id="{815AF551-BEF8-EE5C-9599-4DFF32D42371}"/>
              </a:ext>
            </a:extLst>
          </p:cNvPr>
          <p:cNvPicPr>
            <a:picLocks noChangeAspect="1"/>
          </p:cNvPicPr>
          <p:nvPr/>
        </p:nvPicPr>
        <p:blipFill>
          <a:blip r:embed="rId3"/>
          <a:stretch>
            <a:fillRect/>
          </a:stretch>
        </p:blipFill>
        <p:spPr>
          <a:xfrm>
            <a:off x="11353800" y="338137"/>
            <a:ext cx="381000" cy="304800"/>
          </a:xfrm>
          <a:prstGeom prst="rect">
            <a:avLst/>
          </a:prstGeom>
        </p:spPr>
      </p:pic>
      <p:sp>
        <p:nvSpPr>
          <p:cNvPr id="11" name="TextBox 10">
            <a:extLst>
              <a:ext uri="{FF2B5EF4-FFF2-40B4-BE49-F238E27FC236}">
                <a16:creationId xmlns:a16="http://schemas.microsoft.com/office/drawing/2014/main" id="{05F9C27A-9477-626C-5603-BE5A5299C396}"/>
              </a:ext>
            </a:extLst>
          </p:cNvPr>
          <p:cNvSpPr txBox="1"/>
          <p:nvPr/>
        </p:nvSpPr>
        <p:spPr>
          <a:xfrm>
            <a:off x="457200" y="304800"/>
            <a:ext cx="3605667" cy="369332"/>
          </a:xfrm>
          <a:prstGeom prst="rect">
            <a:avLst/>
          </a:prstGeom>
          <a:noFill/>
        </p:spPr>
        <p:txBody>
          <a:bodyPr wrap="none" lIns="0" tIns="0" rIns="0" bIns="0" anchor="t">
            <a:spAutoFit/>
          </a:bodyPr>
          <a:lstStyle/>
          <a:p>
            <a:pPr algn="l"/>
            <a:r>
              <a:rPr sz="2400" b="1" i="0" u="none" dirty="0">
                <a:solidFill>
                  <a:srgbClr val="1A293C"/>
                </a:solidFill>
                <a:latin typeface="Montserrat"/>
              </a:rPr>
              <a:t>Các </a:t>
            </a:r>
            <a:r>
              <a:rPr lang="en-US" sz="2400" b="1" dirty="0" err="1">
                <a:solidFill>
                  <a:srgbClr val="1A293C"/>
                </a:solidFill>
                <a:latin typeface="Montserrat"/>
              </a:rPr>
              <a:t>m</a:t>
            </a:r>
            <a:r>
              <a:rPr sz="2400" b="1" i="0" u="none" dirty="0" err="1">
                <a:solidFill>
                  <a:srgbClr val="1A293C"/>
                </a:solidFill>
                <a:latin typeface="Montserrat"/>
              </a:rPr>
              <a:t>ô</a:t>
            </a:r>
            <a:r>
              <a:rPr sz="2400" b="1" i="0" u="none" dirty="0">
                <a:solidFill>
                  <a:srgbClr val="1A293C"/>
                </a:solidFill>
                <a:latin typeface="Montserrat"/>
              </a:rPr>
              <a:t> </a:t>
            </a:r>
            <a:r>
              <a:rPr lang="en-US" sz="2400" b="1" dirty="0" err="1">
                <a:solidFill>
                  <a:srgbClr val="1A293C"/>
                </a:solidFill>
                <a:latin typeface="Montserrat"/>
              </a:rPr>
              <a:t>h</a:t>
            </a:r>
            <a:r>
              <a:rPr sz="2400" b="1" i="0" u="none" dirty="0" err="1">
                <a:solidFill>
                  <a:srgbClr val="1A293C"/>
                </a:solidFill>
                <a:latin typeface="Montserrat"/>
              </a:rPr>
              <a:t>ình</a:t>
            </a:r>
            <a:r>
              <a:rPr sz="2400" b="1" i="0" u="none" dirty="0">
                <a:solidFill>
                  <a:srgbClr val="1A293C"/>
                </a:solidFill>
                <a:latin typeface="Montserrat"/>
              </a:rPr>
              <a:t> </a:t>
            </a:r>
            <a:r>
              <a:rPr lang="en-US" sz="2400" b="1" i="0" u="none" dirty="0">
                <a:solidFill>
                  <a:srgbClr val="1A293C"/>
                </a:solidFill>
                <a:latin typeface="Montserrat"/>
              </a:rPr>
              <a:t>G</a:t>
            </a:r>
            <a:r>
              <a:rPr sz="2400" b="1" i="0" u="none" dirty="0">
                <a:solidFill>
                  <a:srgbClr val="1A293C"/>
                </a:solidFill>
                <a:latin typeface="Montserrat"/>
              </a:rPr>
              <a:t>enerative AI</a:t>
            </a:r>
          </a:p>
        </p:txBody>
      </p:sp>
      <p:pic>
        <p:nvPicPr>
          <p:cNvPr id="19" name="Picture 18">
            <a:extLst>
              <a:ext uri="{FF2B5EF4-FFF2-40B4-BE49-F238E27FC236}">
                <a16:creationId xmlns:a16="http://schemas.microsoft.com/office/drawing/2014/main" id="{E9FE0684-7E35-814E-B7C6-A8DDA6E2454F}"/>
              </a:ext>
            </a:extLst>
          </p:cNvPr>
          <p:cNvPicPr>
            <a:picLocks noChangeAspect="1"/>
          </p:cNvPicPr>
          <p:nvPr/>
        </p:nvPicPr>
        <p:blipFill>
          <a:blip r:embed="rId4"/>
          <a:stretch>
            <a:fillRect/>
          </a:stretch>
        </p:blipFill>
        <p:spPr>
          <a:xfrm>
            <a:off x="2695054" y="1847850"/>
            <a:ext cx="6469381" cy="4519280"/>
          </a:xfrm>
          <a:prstGeom prst="rect">
            <a:avLst/>
          </a:prstGeom>
        </p:spPr>
      </p:pic>
    </p:spTree>
    <p:extLst>
      <p:ext uri="{BB962C8B-B14F-4D97-AF65-F5344CB8AC3E}">
        <p14:creationId xmlns:p14="http://schemas.microsoft.com/office/powerpoint/2010/main" val="3721709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5585013-2C58-48A5-5304-44B01B2F1B2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A7BFF89-EDA9-300C-FA0D-7F347EB74107}"/>
              </a:ext>
            </a:extLst>
          </p:cNvPr>
          <p:cNvSpPr/>
          <p:nvPr/>
        </p:nvSpPr>
        <p:spPr>
          <a:xfrm>
            <a:off x="0" y="0"/>
            <a:ext cx="12192000" cy="9429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2E12FE00-E6E7-D0C2-4DB7-9446D0B8463C}"/>
              </a:ext>
            </a:extLst>
          </p:cNvPr>
          <p:cNvSpPr/>
          <p:nvPr/>
        </p:nvSpPr>
        <p:spPr>
          <a:xfrm>
            <a:off x="0" y="904875"/>
            <a:ext cx="12192000" cy="3810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a:extLst>
              <a:ext uri="{FF2B5EF4-FFF2-40B4-BE49-F238E27FC236}">
                <a16:creationId xmlns:a16="http://schemas.microsoft.com/office/drawing/2014/main" id="{6B9FF738-578F-24ED-9DD5-FEDBC8F20B38}"/>
              </a:ext>
            </a:extLst>
          </p:cNvPr>
          <p:cNvPicPr>
            <a:picLocks noChangeAspect="1"/>
          </p:cNvPicPr>
          <p:nvPr/>
        </p:nvPicPr>
        <p:blipFill>
          <a:blip r:embed="rId3"/>
          <a:stretch>
            <a:fillRect/>
          </a:stretch>
        </p:blipFill>
        <p:spPr>
          <a:xfrm>
            <a:off x="11353800" y="338137"/>
            <a:ext cx="381000" cy="304800"/>
          </a:xfrm>
          <a:prstGeom prst="rect">
            <a:avLst/>
          </a:prstGeom>
        </p:spPr>
      </p:pic>
      <p:sp>
        <p:nvSpPr>
          <p:cNvPr id="11" name="TextBox 10">
            <a:extLst>
              <a:ext uri="{FF2B5EF4-FFF2-40B4-BE49-F238E27FC236}">
                <a16:creationId xmlns:a16="http://schemas.microsoft.com/office/drawing/2014/main" id="{2C0D2D69-F321-61AA-5F31-BC5E6BBEC08A}"/>
              </a:ext>
            </a:extLst>
          </p:cNvPr>
          <p:cNvSpPr txBox="1"/>
          <p:nvPr/>
        </p:nvSpPr>
        <p:spPr>
          <a:xfrm>
            <a:off x="457200" y="304800"/>
            <a:ext cx="3605667" cy="369332"/>
          </a:xfrm>
          <a:prstGeom prst="rect">
            <a:avLst/>
          </a:prstGeom>
          <a:noFill/>
        </p:spPr>
        <p:txBody>
          <a:bodyPr wrap="none" lIns="0" tIns="0" rIns="0" bIns="0" anchor="t">
            <a:spAutoFit/>
          </a:bodyPr>
          <a:lstStyle/>
          <a:p>
            <a:pPr algn="l"/>
            <a:r>
              <a:rPr sz="2400" b="1" i="0" u="none" dirty="0">
                <a:solidFill>
                  <a:srgbClr val="1A293C"/>
                </a:solidFill>
                <a:latin typeface="Montserrat"/>
              </a:rPr>
              <a:t>Các </a:t>
            </a:r>
            <a:r>
              <a:rPr lang="en-US" sz="2400" b="1" dirty="0" err="1">
                <a:solidFill>
                  <a:srgbClr val="1A293C"/>
                </a:solidFill>
                <a:latin typeface="Montserrat"/>
              </a:rPr>
              <a:t>m</a:t>
            </a:r>
            <a:r>
              <a:rPr sz="2400" b="1" i="0" u="none" dirty="0" err="1">
                <a:solidFill>
                  <a:srgbClr val="1A293C"/>
                </a:solidFill>
                <a:latin typeface="Montserrat"/>
              </a:rPr>
              <a:t>ô</a:t>
            </a:r>
            <a:r>
              <a:rPr sz="2400" b="1" i="0" u="none" dirty="0">
                <a:solidFill>
                  <a:srgbClr val="1A293C"/>
                </a:solidFill>
                <a:latin typeface="Montserrat"/>
              </a:rPr>
              <a:t> </a:t>
            </a:r>
            <a:r>
              <a:rPr lang="en-US" sz="2400" b="1" dirty="0" err="1">
                <a:solidFill>
                  <a:srgbClr val="1A293C"/>
                </a:solidFill>
                <a:latin typeface="Montserrat"/>
              </a:rPr>
              <a:t>h</a:t>
            </a:r>
            <a:r>
              <a:rPr sz="2400" b="1" i="0" u="none" dirty="0" err="1">
                <a:solidFill>
                  <a:srgbClr val="1A293C"/>
                </a:solidFill>
                <a:latin typeface="Montserrat"/>
              </a:rPr>
              <a:t>ình</a:t>
            </a:r>
            <a:r>
              <a:rPr sz="2400" b="1" i="0" u="none" dirty="0">
                <a:solidFill>
                  <a:srgbClr val="1A293C"/>
                </a:solidFill>
                <a:latin typeface="Montserrat"/>
              </a:rPr>
              <a:t> </a:t>
            </a:r>
            <a:r>
              <a:rPr lang="en-US" sz="2400" b="1" i="0" u="none" dirty="0">
                <a:solidFill>
                  <a:srgbClr val="1A293C"/>
                </a:solidFill>
                <a:latin typeface="Montserrat"/>
              </a:rPr>
              <a:t>G</a:t>
            </a:r>
            <a:r>
              <a:rPr sz="2400" b="1" i="0" u="none" dirty="0">
                <a:solidFill>
                  <a:srgbClr val="1A293C"/>
                </a:solidFill>
                <a:latin typeface="Montserrat"/>
              </a:rPr>
              <a:t>enerative AI</a:t>
            </a:r>
          </a:p>
        </p:txBody>
      </p:sp>
      <p:pic>
        <p:nvPicPr>
          <p:cNvPr id="18" name="Picture 17">
            <a:extLst>
              <a:ext uri="{FF2B5EF4-FFF2-40B4-BE49-F238E27FC236}">
                <a16:creationId xmlns:a16="http://schemas.microsoft.com/office/drawing/2014/main" id="{C8FE75E0-A6AA-1CEA-6343-2D372E6AA3B5}"/>
              </a:ext>
            </a:extLst>
          </p:cNvPr>
          <p:cNvPicPr>
            <a:picLocks noChangeAspect="1"/>
          </p:cNvPicPr>
          <p:nvPr/>
        </p:nvPicPr>
        <p:blipFill>
          <a:blip r:embed="rId4"/>
          <a:stretch>
            <a:fillRect/>
          </a:stretch>
        </p:blipFill>
        <p:spPr>
          <a:xfrm>
            <a:off x="3327514" y="1847850"/>
            <a:ext cx="5162897" cy="4653553"/>
          </a:xfrm>
          <a:prstGeom prst="rect">
            <a:avLst/>
          </a:prstGeom>
        </p:spPr>
      </p:pic>
    </p:spTree>
    <p:extLst>
      <p:ext uri="{BB962C8B-B14F-4D97-AF65-F5344CB8AC3E}">
        <p14:creationId xmlns:p14="http://schemas.microsoft.com/office/powerpoint/2010/main" val="3992388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3F37071-4B68-487B-8795-0F2DC7C1D60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EFAEE08-7503-334F-72D1-CC16DBF004BD}"/>
              </a:ext>
            </a:extLst>
          </p:cNvPr>
          <p:cNvSpPr/>
          <p:nvPr/>
        </p:nvSpPr>
        <p:spPr>
          <a:xfrm>
            <a:off x="0" y="0"/>
            <a:ext cx="12192000" cy="9429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214163E3-3D0A-4827-F8EA-A0873D93BE92}"/>
              </a:ext>
            </a:extLst>
          </p:cNvPr>
          <p:cNvSpPr/>
          <p:nvPr/>
        </p:nvSpPr>
        <p:spPr>
          <a:xfrm>
            <a:off x="0" y="904875"/>
            <a:ext cx="12192000" cy="3810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a:extLst>
              <a:ext uri="{FF2B5EF4-FFF2-40B4-BE49-F238E27FC236}">
                <a16:creationId xmlns:a16="http://schemas.microsoft.com/office/drawing/2014/main" id="{51B07280-FEDD-62D3-6AE4-12238FE9F210}"/>
              </a:ext>
            </a:extLst>
          </p:cNvPr>
          <p:cNvPicPr>
            <a:picLocks noChangeAspect="1"/>
          </p:cNvPicPr>
          <p:nvPr/>
        </p:nvPicPr>
        <p:blipFill>
          <a:blip r:embed="rId3"/>
          <a:stretch>
            <a:fillRect/>
          </a:stretch>
        </p:blipFill>
        <p:spPr>
          <a:xfrm>
            <a:off x="11353800" y="338137"/>
            <a:ext cx="381000" cy="304800"/>
          </a:xfrm>
          <a:prstGeom prst="rect">
            <a:avLst/>
          </a:prstGeom>
        </p:spPr>
      </p:pic>
      <p:sp>
        <p:nvSpPr>
          <p:cNvPr id="11" name="TextBox 10">
            <a:extLst>
              <a:ext uri="{FF2B5EF4-FFF2-40B4-BE49-F238E27FC236}">
                <a16:creationId xmlns:a16="http://schemas.microsoft.com/office/drawing/2014/main" id="{3C5CA401-232D-72B4-24E1-0B703A658096}"/>
              </a:ext>
            </a:extLst>
          </p:cNvPr>
          <p:cNvSpPr txBox="1"/>
          <p:nvPr/>
        </p:nvSpPr>
        <p:spPr>
          <a:xfrm>
            <a:off x="457200" y="304800"/>
            <a:ext cx="3605667" cy="369332"/>
          </a:xfrm>
          <a:prstGeom prst="rect">
            <a:avLst/>
          </a:prstGeom>
          <a:noFill/>
        </p:spPr>
        <p:txBody>
          <a:bodyPr wrap="none" lIns="0" tIns="0" rIns="0" bIns="0" anchor="t">
            <a:spAutoFit/>
          </a:bodyPr>
          <a:lstStyle/>
          <a:p>
            <a:pPr algn="l"/>
            <a:r>
              <a:rPr sz="2400" b="1" i="0" u="none" dirty="0">
                <a:solidFill>
                  <a:srgbClr val="1A293C"/>
                </a:solidFill>
                <a:latin typeface="Montserrat"/>
              </a:rPr>
              <a:t>Các </a:t>
            </a:r>
            <a:r>
              <a:rPr lang="en-US" sz="2400" b="1" dirty="0" err="1">
                <a:solidFill>
                  <a:srgbClr val="1A293C"/>
                </a:solidFill>
                <a:latin typeface="Montserrat"/>
              </a:rPr>
              <a:t>m</a:t>
            </a:r>
            <a:r>
              <a:rPr sz="2400" b="1" i="0" u="none" dirty="0" err="1">
                <a:solidFill>
                  <a:srgbClr val="1A293C"/>
                </a:solidFill>
                <a:latin typeface="Montserrat"/>
              </a:rPr>
              <a:t>ô</a:t>
            </a:r>
            <a:r>
              <a:rPr sz="2400" b="1" i="0" u="none" dirty="0">
                <a:solidFill>
                  <a:srgbClr val="1A293C"/>
                </a:solidFill>
                <a:latin typeface="Montserrat"/>
              </a:rPr>
              <a:t> </a:t>
            </a:r>
            <a:r>
              <a:rPr lang="en-US" sz="2400" b="1" dirty="0" err="1">
                <a:solidFill>
                  <a:srgbClr val="1A293C"/>
                </a:solidFill>
                <a:latin typeface="Montserrat"/>
              </a:rPr>
              <a:t>h</a:t>
            </a:r>
            <a:r>
              <a:rPr sz="2400" b="1" i="0" u="none" dirty="0" err="1">
                <a:solidFill>
                  <a:srgbClr val="1A293C"/>
                </a:solidFill>
                <a:latin typeface="Montserrat"/>
              </a:rPr>
              <a:t>ình</a:t>
            </a:r>
            <a:r>
              <a:rPr sz="2400" b="1" i="0" u="none" dirty="0">
                <a:solidFill>
                  <a:srgbClr val="1A293C"/>
                </a:solidFill>
                <a:latin typeface="Montserrat"/>
              </a:rPr>
              <a:t> </a:t>
            </a:r>
            <a:r>
              <a:rPr lang="en-US" sz="2400" b="1" i="0" u="none" dirty="0">
                <a:solidFill>
                  <a:srgbClr val="1A293C"/>
                </a:solidFill>
                <a:latin typeface="Montserrat"/>
              </a:rPr>
              <a:t>G</a:t>
            </a:r>
            <a:r>
              <a:rPr sz="2400" b="1" i="0" u="none" dirty="0">
                <a:solidFill>
                  <a:srgbClr val="1A293C"/>
                </a:solidFill>
                <a:latin typeface="Montserrat"/>
              </a:rPr>
              <a:t>enerative AI</a:t>
            </a:r>
          </a:p>
        </p:txBody>
      </p:sp>
      <p:pic>
        <p:nvPicPr>
          <p:cNvPr id="18" name="Picture 17">
            <a:extLst>
              <a:ext uri="{FF2B5EF4-FFF2-40B4-BE49-F238E27FC236}">
                <a16:creationId xmlns:a16="http://schemas.microsoft.com/office/drawing/2014/main" id="{A69B7508-E8AA-43C2-AA99-BDF4A99E22EC}"/>
              </a:ext>
            </a:extLst>
          </p:cNvPr>
          <p:cNvPicPr>
            <a:picLocks noChangeAspect="1"/>
          </p:cNvPicPr>
          <p:nvPr/>
        </p:nvPicPr>
        <p:blipFill>
          <a:blip r:embed="rId4"/>
          <a:stretch>
            <a:fillRect/>
          </a:stretch>
        </p:blipFill>
        <p:spPr>
          <a:xfrm>
            <a:off x="3855047" y="1173718"/>
            <a:ext cx="4187515" cy="5420244"/>
          </a:xfrm>
          <a:prstGeom prst="rect">
            <a:avLst/>
          </a:prstGeom>
        </p:spPr>
      </p:pic>
    </p:spTree>
    <p:extLst>
      <p:ext uri="{BB962C8B-B14F-4D97-AF65-F5344CB8AC3E}">
        <p14:creationId xmlns:p14="http://schemas.microsoft.com/office/powerpoint/2010/main" val="3833336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429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04875"/>
            <a:ext cx="12192000" cy="3810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11430000" y="338137"/>
            <a:ext cx="304800" cy="304800"/>
          </a:xfrm>
          <a:prstGeom prst="rect">
            <a:avLst/>
          </a:prstGeom>
        </p:spPr>
      </p:pic>
      <p:pic>
        <p:nvPicPr>
          <p:cNvPr id="5" name="Picture 4" descr="image.png"/>
          <p:cNvPicPr>
            <a:picLocks noChangeAspect="1"/>
          </p:cNvPicPr>
          <p:nvPr/>
        </p:nvPicPr>
        <p:blipFill>
          <a:blip r:embed="rId4"/>
          <a:stretch>
            <a:fillRect/>
          </a:stretch>
        </p:blipFill>
        <p:spPr>
          <a:xfrm>
            <a:off x="609600" y="2947987"/>
            <a:ext cx="3333750" cy="1905000"/>
          </a:xfrm>
          <a:prstGeom prst="rect">
            <a:avLst/>
          </a:prstGeom>
        </p:spPr>
      </p:pic>
      <p:sp>
        <p:nvSpPr>
          <p:cNvPr id="6" name="TextBox 5"/>
          <p:cNvSpPr txBox="1"/>
          <p:nvPr/>
        </p:nvSpPr>
        <p:spPr>
          <a:xfrm>
            <a:off x="457200" y="304800"/>
            <a:ext cx="7688460" cy="371475"/>
          </a:xfrm>
          <a:prstGeom prst="rect">
            <a:avLst/>
          </a:prstGeom>
          <a:noFill/>
        </p:spPr>
        <p:txBody>
          <a:bodyPr wrap="none" lIns="0" tIns="0" rIns="0" bIns="0" anchor="t">
            <a:spAutoFit/>
          </a:bodyPr>
          <a:lstStyle/>
          <a:p>
            <a:pPr algn="l"/>
            <a:r>
              <a:rPr sz="2400" b="1" i="0" u="none">
                <a:solidFill>
                  <a:srgbClr val="1A293C"/>
                </a:solidFill>
                <a:latin typeface="Montserrat"/>
              </a:rPr>
              <a:t>Điều Chỉnh Kiến Trúc Cho Dữ Liệu 1D</a:t>
            </a:r>
          </a:p>
        </p:txBody>
      </p:sp>
      <p:sp>
        <p:nvSpPr>
          <p:cNvPr id="7" name="TextBox 6"/>
          <p:cNvSpPr txBox="1"/>
          <p:nvPr/>
        </p:nvSpPr>
        <p:spPr>
          <a:xfrm>
            <a:off x="4400550" y="2590800"/>
            <a:ext cx="7791450" cy="276225"/>
          </a:xfrm>
          <a:prstGeom prst="rect">
            <a:avLst/>
          </a:prstGeom>
          <a:noFill/>
        </p:spPr>
        <p:txBody>
          <a:bodyPr wrap="none" lIns="0" tIns="0" rIns="0" bIns="0" anchor="t">
            <a:spAutoFit/>
          </a:bodyPr>
          <a:lstStyle/>
          <a:p>
            <a:pPr algn="l"/>
            <a:r>
              <a:rPr sz="1800" b="1" i="0" u="none">
                <a:solidFill>
                  <a:srgbClr val="D32F2F"/>
                </a:solidFill>
                <a:latin typeface="Montserrat"/>
              </a:rPr>
              <a:t>Tương thích chiều dữ liệu</a:t>
            </a:r>
          </a:p>
        </p:txBody>
      </p:sp>
      <p:sp>
        <p:nvSpPr>
          <p:cNvPr id="8" name="TextBox 7"/>
          <p:cNvSpPr txBox="1"/>
          <p:nvPr/>
        </p:nvSpPr>
        <p:spPr>
          <a:xfrm>
            <a:off x="4400550" y="2943225"/>
            <a:ext cx="7791450" cy="238125"/>
          </a:xfrm>
          <a:prstGeom prst="rect">
            <a:avLst/>
          </a:prstGeom>
          <a:noFill/>
        </p:spPr>
        <p:txBody>
          <a:bodyPr wrap="none" lIns="0" tIns="0" rIns="0" bIns="0" anchor="t">
            <a:spAutoFit/>
          </a:bodyPr>
          <a:lstStyle/>
          <a:p>
            <a:pPr algn="l"/>
            <a:r>
              <a:rPr sz="1650" b="0" i="0" u="none">
                <a:solidFill>
                  <a:srgbClr val="64748B"/>
                </a:solidFill>
                <a:latin typeface="Roboto"/>
              </a:rPr>
              <a:t>Thay thế Conv2D bằng Conv1D cho chuỗi embedding.</a:t>
            </a:r>
          </a:p>
        </p:txBody>
      </p:sp>
      <p:sp>
        <p:nvSpPr>
          <p:cNvPr id="9" name="TextBox 8"/>
          <p:cNvSpPr txBox="1"/>
          <p:nvPr/>
        </p:nvSpPr>
        <p:spPr>
          <a:xfrm>
            <a:off x="4400550" y="3486150"/>
            <a:ext cx="7791450" cy="276225"/>
          </a:xfrm>
          <a:prstGeom prst="rect">
            <a:avLst/>
          </a:prstGeom>
          <a:noFill/>
        </p:spPr>
        <p:txBody>
          <a:bodyPr wrap="none" lIns="0" tIns="0" rIns="0" bIns="0" anchor="t">
            <a:spAutoFit/>
          </a:bodyPr>
          <a:lstStyle/>
          <a:p>
            <a:pPr algn="l"/>
            <a:r>
              <a:rPr sz="1800" b="1" i="0" u="none">
                <a:solidFill>
                  <a:srgbClr val="D32F2F"/>
                </a:solidFill>
                <a:latin typeface="Montserrat"/>
              </a:rPr>
              <a:t>Chuẩn hóa đối xứng</a:t>
            </a:r>
          </a:p>
        </p:txBody>
      </p:sp>
      <p:sp>
        <p:nvSpPr>
          <p:cNvPr id="10" name="TextBox 9"/>
          <p:cNvSpPr txBox="1"/>
          <p:nvPr/>
        </p:nvSpPr>
        <p:spPr>
          <a:xfrm>
            <a:off x="4400550" y="3838575"/>
            <a:ext cx="7791450" cy="238125"/>
          </a:xfrm>
          <a:prstGeom prst="rect">
            <a:avLst/>
          </a:prstGeom>
          <a:noFill/>
        </p:spPr>
        <p:txBody>
          <a:bodyPr wrap="none" lIns="0" tIns="0" rIns="0" bIns="0" anchor="t">
            <a:spAutoFit/>
          </a:bodyPr>
          <a:lstStyle/>
          <a:p>
            <a:pPr algn="l"/>
            <a:r>
              <a:rPr sz="1650" b="0" i="0" u="none">
                <a:solidFill>
                  <a:srgbClr val="64748B"/>
                </a:solidFill>
                <a:latin typeface="Roboto"/>
              </a:rPr>
              <a:t>Scale dữ liệu về khoảng [-1, 1] phù hợp hàm kích hoạt Tanh.</a:t>
            </a:r>
          </a:p>
        </p:txBody>
      </p:sp>
      <p:sp>
        <p:nvSpPr>
          <p:cNvPr id="11" name="TextBox 10"/>
          <p:cNvSpPr txBox="1"/>
          <p:nvPr/>
        </p:nvSpPr>
        <p:spPr>
          <a:xfrm>
            <a:off x="4400550" y="4381500"/>
            <a:ext cx="7791450" cy="276225"/>
          </a:xfrm>
          <a:prstGeom prst="rect">
            <a:avLst/>
          </a:prstGeom>
          <a:noFill/>
        </p:spPr>
        <p:txBody>
          <a:bodyPr wrap="none" lIns="0" tIns="0" rIns="0" bIns="0" anchor="t">
            <a:spAutoFit/>
          </a:bodyPr>
          <a:lstStyle/>
          <a:p>
            <a:pPr algn="l"/>
            <a:r>
              <a:rPr sz="1800" b="1" i="0" u="none">
                <a:solidFill>
                  <a:srgbClr val="D32F2F"/>
                </a:solidFill>
                <a:latin typeface="Montserrat"/>
              </a:rPr>
              <a:t>Tinh chỉnh chu kỳ Diffusion</a:t>
            </a:r>
          </a:p>
        </p:txBody>
      </p:sp>
      <p:sp>
        <p:nvSpPr>
          <p:cNvPr id="12" name="TextBox 11"/>
          <p:cNvSpPr txBox="1"/>
          <p:nvPr/>
        </p:nvSpPr>
        <p:spPr>
          <a:xfrm>
            <a:off x="4400550" y="4733925"/>
            <a:ext cx="7277100" cy="476250"/>
          </a:xfrm>
          <a:prstGeom prst="rect">
            <a:avLst/>
          </a:prstGeom>
          <a:noFill/>
        </p:spPr>
        <p:txBody>
          <a:bodyPr wrap="square" lIns="0" tIns="0" rIns="0" bIns="0" anchor="t">
            <a:spAutoFit/>
          </a:bodyPr>
          <a:lstStyle/>
          <a:p>
            <a:pPr algn="l"/>
            <a:r>
              <a:rPr sz="1650" b="0" i="0" u="none">
                <a:solidFill>
                  <a:srgbClr val="64748B"/>
                </a:solidFill>
                <a:latin typeface="Roboto"/>
              </a:rPr>
              <a:t>Chỉ thêm nhiễu đến T/2 (giữ 96% Gaussian distribution). Giúp mô hình tái tạo chính xác hơn.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429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04875"/>
            <a:ext cx="12192000" cy="3810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09600" y="2595562"/>
            <a:ext cx="5334000" cy="1152525"/>
          </a:xfrm>
          <a:prstGeom prst="roundRect">
            <a:avLst>
              <a:gd name="adj" fmla="val 9917"/>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248400" y="2595562"/>
            <a:ext cx="5334000" cy="1152525"/>
          </a:xfrm>
          <a:prstGeom prst="roundRect">
            <a:avLst>
              <a:gd name="adj" fmla="val 9917"/>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09600" y="4052887"/>
            <a:ext cx="5334000" cy="1152525"/>
          </a:xfrm>
          <a:prstGeom prst="roundRect">
            <a:avLst>
              <a:gd name="adj" fmla="val 9917"/>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248400" y="4052887"/>
            <a:ext cx="5334000" cy="1152525"/>
          </a:xfrm>
          <a:prstGeom prst="roundRect">
            <a:avLst>
              <a:gd name="adj" fmla="val 9917"/>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2"/>
          <a:stretch>
            <a:fillRect/>
          </a:stretch>
        </p:blipFill>
        <p:spPr>
          <a:xfrm>
            <a:off x="11430000" y="338137"/>
            <a:ext cx="304800" cy="304800"/>
          </a:xfrm>
          <a:prstGeom prst="rect">
            <a:avLst/>
          </a:prstGeom>
        </p:spPr>
      </p:pic>
      <p:pic>
        <p:nvPicPr>
          <p:cNvPr id="9" name="Picture 8" descr="image.png"/>
          <p:cNvPicPr>
            <a:picLocks noChangeAspect="1"/>
          </p:cNvPicPr>
          <p:nvPr/>
        </p:nvPicPr>
        <p:blipFill>
          <a:blip r:embed="rId3"/>
          <a:stretch>
            <a:fillRect/>
          </a:stretch>
        </p:blipFill>
        <p:spPr>
          <a:xfrm>
            <a:off x="914400" y="2900362"/>
            <a:ext cx="533400" cy="542925"/>
          </a:xfrm>
          <a:prstGeom prst="rect">
            <a:avLst/>
          </a:prstGeom>
        </p:spPr>
      </p:pic>
      <p:pic>
        <p:nvPicPr>
          <p:cNvPr id="10" name="Picture 9" descr="image.png"/>
          <p:cNvPicPr>
            <a:picLocks noChangeAspect="1"/>
          </p:cNvPicPr>
          <p:nvPr/>
        </p:nvPicPr>
        <p:blipFill>
          <a:blip r:embed="rId4"/>
          <a:stretch>
            <a:fillRect/>
          </a:stretch>
        </p:blipFill>
        <p:spPr>
          <a:xfrm>
            <a:off x="6553200" y="2900362"/>
            <a:ext cx="561975" cy="542925"/>
          </a:xfrm>
          <a:prstGeom prst="rect">
            <a:avLst/>
          </a:prstGeom>
        </p:spPr>
      </p:pic>
      <p:pic>
        <p:nvPicPr>
          <p:cNvPr id="11" name="Picture 10" descr="image.png"/>
          <p:cNvPicPr>
            <a:picLocks noChangeAspect="1"/>
          </p:cNvPicPr>
          <p:nvPr/>
        </p:nvPicPr>
        <p:blipFill>
          <a:blip r:embed="rId5"/>
          <a:stretch>
            <a:fillRect/>
          </a:stretch>
        </p:blipFill>
        <p:spPr>
          <a:xfrm>
            <a:off x="914400" y="4357687"/>
            <a:ext cx="561975" cy="542925"/>
          </a:xfrm>
          <a:prstGeom prst="rect">
            <a:avLst/>
          </a:prstGeom>
        </p:spPr>
      </p:pic>
      <p:pic>
        <p:nvPicPr>
          <p:cNvPr id="12" name="Picture 11" descr="image.png"/>
          <p:cNvPicPr>
            <a:picLocks noChangeAspect="1"/>
          </p:cNvPicPr>
          <p:nvPr/>
        </p:nvPicPr>
        <p:blipFill>
          <a:blip r:embed="rId6"/>
          <a:stretch>
            <a:fillRect/>
          </a:stretch>
        </p:blipFill>
        <p:spPr>
          <a:xfrm>
            <a:off x="6553200" y="4357687"/>
            <a:ext cx="561975" cy="542925"/>
          </a:xfrm>
          <a:prstGeom prst="rect">
            <a:avLst/>
          </a:prstGeom>
        </p:spPr>
      </p:pic>
      <p:pic>
        <p:nvPicPr>
          <p:cNvPr id="13" name="Picture 12" descr="image.png"/>
          <p:cNvPicPr>
            <a:picLocks noChangeAspect="1"/>
          </p:cNvPicPr>
          <p:nvPr/>
        </p:nvPicPr>
        <p:blipFill>
          <a:blip r:embed="rId7"/>
          <a:stretch>
            <a:fillRect/>
          </a:stretch>
        </p:blipFill>
        <p:spPr>
          <a:xfrm>
            <a:off x="1066800" y="3052762"/>
            <a:ext cx="228600" cy="228600"/>
          </a:xfrm>
          <a:prstGeom prst="rect">
            <a:avLst/>
          </a:prstGeom>
        </p:spPr>
      </p:pic>
      <p:pic>
        <p:nvPicPr>
          <p:cNvPr id="14" name="Picture 13" descr="image.png"/>
          <p:cNvPicPr>
            <a:picLocks noChangeAspect="1"/>
          </p:cNvPicPr>
          <p:nvPr/>
        </p:nvPicPr>
        <p:blipFill>
          <a:blip r:embed="rId8"/>
          <a:stretch>
            <a:fillRect/>
          </a:stretch>
        </p:blipFill>
        <p:spPr>
          <a:xfrm>
            <a:off x="6705600" y="3052762"/>
            <a:ext cx="257175" cy="228600"/>
          </a:xfrm>
          <a:prstGeom prst="rect">
            <a:avLst/>
          </a:prstGeom>
        </p:spPr>
      </p:pic>
      <p:pic>
        <p:nvPicPr>
          <p:cNvPr id="15" name="Picture 14" descr="image.png"/>
          <p:cNvPicPr>
            <a:picLocks noChangeAspect="1"/>
          </p:cNvPicPr>
          <p:nvPr/>
        </p:nvPicPr>
        <p:blipFill>
          <a:blip r:embed="rId9"/>
          <a:stretch>
            <a:fillRect/>
          </a:stretch>
        </p:blipFill>
        <p:spPr>
          <a:xfrm>
            <a:off x="1066800" y="4510087"/>
            <a:ext cx="257175" cy="228600"/>
          </a:xfrm>
          <a:prstGeom prst="rect">
            <a:avLst/>
          </a:prstGeom>
        </p:spPr>
      </p:pic>
      <p:pic>
        <p:nvPicPr>
          <p:cNvPr id="16" name="Picture 15" descr="image.png"/>
          <p:cNvPicPr>
            <a:picLocks noChangeAspect="1"/>
          </p:cNvPicPr>
          <p:nvPr/>
        </p:nvPicPr>
        <p:blipFill>
          <a:blip r:embed="rId10"/>
          <a:stretch>
            <a:fillRect/>
          </a:stretch>
        </p:blipFill>
        <p:spPr>
          <a:xfrm>
            <a:off x="6705600" y="4510087"/>
            <a:ext cx="257175" cy="228600"/>
          </a:xfrm>
          <a:prstGeom prst="rect">
            <a:avLst/>
          </a:prstGeom>
        </p:spPr>
      </p:pic>
      <p:sp>
        <p:nvSpPr>
          <p:cNvPr id="17" name="TextBox 16"/>
          <p:cNvSpPr txBox="1"/>
          <p:nvPr/>
        </p:nvSpPr>
        <p:spPr>
          <a:xfrm>
            <a:off x="457200" y="304800"/>
            <a:ext cx="6888360" cy="371475"/>
          </a:xfrm>
          <a:prstGeom prst="rect">
            <a:avLst/>
          </a:prstGeom>
          <a:noFill/>
        </p:spPr>
        <p:txBody>
          <a:bodyPr wrap="none" lIns="0" tIns="0" rIns="0" bIns="0" anchor="t">
            <a:spAutoFit/>
          </a:bodyPr>
          <a:lstStyle/>
          <a:p>
            <a:pPr algn="l"/>
            <a:r>
              <a:rPr sz="2400" b="1" i="0" u="none">
                <a:solidFill>
                  <a:srgbClr val="1A293C"/>
                </a:solidFill>
                <a:latin typeface="Montserrat"/>
              </a:rPr>
              <a:t>Phương Pháp Đánh Giá Đa Chiều</a:t>
            </a:r>
          </a:p>
        </p:txBody>
      </p:sp>
      <p:sp>
        <p:nvSpPr>
          <p:cNvPr id="18" name="TextBox 17"/>
          <p:cNvSpPr txBox="1"/>
          <p:nvPr/>
        </p:nvSpPr>
        <p:spPr>
          <a:xfrm>
            <a:off x="1676400" y="2919412"/>
            <a:ext cx="4463057" cy="228600"/>
          </a:xfrm>
          <a:prstGeom prst="rect">
            <a:avLst/>
          </a:prstGeom>
          <a:noFill/>
        </p:spPr>
        <p:txBody>
          <a:bodyPr wrap="none" lIns="0" tIns="0" rIns="0" bIns="0" anchor="t">
            <a:spAutoFit/>
          </a:bodyPr>
          <a:lstStyle/>
          <a:p>
            <a:pPr algn="l"/>
            <a:r>
              <a:rPr sz="1500" b="1" i="0" u="none">
                <a:solidFill>
                  <a:srgbClr val="1A293C"/>
                </a:solidFill>
                <a:latin typeface="Montserrat"/>
              </a:rPr>
              <a:t>Binary Classification</a:t>
            </a:r>
          </a:p>
        </p:txBody>
      </p:sp>
      <p:sp>
        <p:nvSpPr>
          <p:cNvPr id="19" name="TextBox 18"/>
          <p:cNvSpPr txBox="1"/>
          <p:nvPr/>
        </p:nvSpPr>
        <p:spPr>
          <a:xfrm>
            <a:off x="1676400" y="3224212"/>
            <a:ext cx="4250531" cy="200025"/>
          </a:xfrm>
          <a:prstGeom prst="rect">
            <a:avLst/>
          </a:prstGeom>
          <a:noFill/>
        </p:spPr>
        <p:txBody>
          <a:bodyPr wrap="none" lIns="0" tIns="0" rIns="0" bIns="0" anchor="t">
            <a:spAutoFit/>
          </a:bodyPr>
          <a:lstStyle/>
          <a:p>
            <a:pPr algn="l"/>
            <a:r>
              <a:rPr sz="1350" b="0" i="0" u="none">
                <a:solidFill>
                  <a:srgbClr val="64748B"/>
                </a:solidFill>
                <a:latin typeface="Roboto"/>
              </a:rPr>
              <a:t>Kiểm tra khả năng phân biệt dữ liệu thật - giả.</a:t>
            </a:r>
          </a:p>
        </p:txBody>
      </p:sp>
      <p:sp>
        <p:nvSpPr>
          <p:cNvPr id="20" name="TextBox 19"/>
          <p:cNvSpPr txBox="1"/>
          <p:nvPr/>
        </p:nvSpPr>
        <p:spPr>
          <a:xfrm>
            <a:off x="7343775" y="2919412"/>
            <a:ext cx="4675584" cy="228600"/>
          </a:xfrm>
          <a:prstGeom prst="rect">
            <a:avLst/>
          </a:prstGeom>
          <a:noFill/>
        </p:spPr>
        <p:txBody>
          <a:bodyPr wrap="none" lIns="0" tIns="0" rIns="0" bIns="0" anchor="t">
            <a:spAutoFit/>
          </a:bodyPr>
          <a:lstStyle/>
          <a:p>
            <a:pPr algn="l"/>
            <a:r>
              <a:rPr sz="1500" b="1" i="0" u="none">
                <a:solidFill>
                  <a:srgbClr val="1A293C"/>
                </a:solidFill>
                <a:latin typeface="Montserrat"/>
              </a:rPr>
              <a:t>t-SNE Visualization</a:t>
            </a:r>
          </a:p>
        </p:txBody>
      </p:sp>
      <p:sp>
        <p:nvSpPr>
          <p:cNvPr id="21" name="TextBox 20"/>
          <p:cNvSpPr txBox="1"/>
          <p:nvPr/>
        </p:nvSpPr>
        <p:spPr>
          <a:xfrm>
            <a:off x="7343775" y="3224212"/>
            <a:ext cx="4452937" cy="200025"/>
          </a:xfrm>
          <a:prstGeom prst="rect">
            <a:avLst/>
          </a:prstGeom>
          <a:noFill/>
        </p:spPr>
        <p:txBody>
          <a:bodyPr wrap="none" lIns="0" tIns="0" rIns="0" bIns="0" anchor="t">
            <a:spAutoFit/>
          </a:bodyPr>
          <a:lstStyle/>
          <a:p>
            <a:pPr algn="l"/>
            <a:r>
              <a:rPr sz="1350" b="0" i="0" u="none">
                <a:solidFill>
                  <a:srgbClr val="64748B"/>
                </a:solidFill>
                <a:latin typeface="Roboto"/>
              </a:rPr>
              <a:t>Trực quan hóa phân bố không gian cụm dữ liệu.</a:t>
            </a:r>
          </a:p>
        </p:txBody>
      </p:sp>
      <p:sp>
        <p:nvSpPr>
          <p:cNvPr id="22" name="TextBox 21"/>
          <p:cNvSpPr txBox="1"/>
          <p:nvPr/>
        </p:nvSpPr>
        <p:spPr>
          <a:xfrm>
            <a:off x="1704975" y="4376737"/>
            <a:ext cx="4488060" cy="228600"/>
          </a:xfrm>
          <a:prstGeom prst="rect">
            <a:avLst/>
          </a:prstGeom>
          <a:noFill/>
        </p:spPr>
        <p:txBody>
          <a:bodyPr wrap="none" lIns="0" tIns="0" rIns="0" bIns="0" anchor="t">
            <a:spAutoFit/>
          </a:bodyPr>
          <a:lstStyle/>
          <a:p>
            <a:pPr algn="l"/>
            <a:r>
              <a:rPr sz="1500" b="1" i="0" u="none">
                <a:solidFill>
                  <a:srgbClr val="1A293C"/>
                </a:solidFill>
                <a:latin typeface="Montserrat"/>
              </a:rPr>
              <a:t>Fidelity &amp; Cosine</a:t>
            </a:r>
          </a:p>
        </p:txBody>
      </p:sp>
      <p:sp>
        <p:nvSpPr>
          <p:cNvPr id="23" name="TextBox 22"/>
          <p:cNvSpPr txBox="1"/>
          <p:nvPr/>
        </p:nvSpPr>
        <p:spPr>
          <a:xfrm>
            <a:off x="1704975" y="4681537"/>
            <a:ext cx="4274343" cy="200025"/>
          </a:xfrm>
          <a:prstGeom prst="rect">
            <a:avLst/>
          </a:prstGeom>
          <a:noFill/>
        </p:spPr>
        <p:txBody>
          <a:bodyPr wrap="none" lIns="0" tIns="0" rIns="0" bIns="0" anchor="t">
            <a:spAutoFit/>
          </a:bodyPr>
          <a:lstStyle/>
          <a:p>
            <a:pPr algn="l"/>
            <a:r>
              <a:rPr sz="1350" b="0" i="0" u="none" dirty="0" err="1">
                <a:solidFill>
                  <a:srgbClr val="64748B"/>
                </a:solidFill>
                <a:latin typeface="Roboto"/>
              </a:rPr>
              <a:t>Đo</a:t>
            </a:r>
            <a:r>
              <a:rPr sz="1350" b="0" i="0" u="none" dirty="0">
                <a:solidFill>
                  <a:srgbClr val="64748B"/>
                </a:solidFill>
                <a:latin typeface="Roboto"/>
              </a:rPr>
              <a:t> </a:t>
            </a:r>
            <a:r>
              <a:rPr sz="1350" b="0" i="0" u="none" dirty="0" err="1">
                <a:solidFill>
                  <a:srgbClr val="64748B"/>
                </a:solidFill>
                <a:latin typeface="Roboto"/>
              </a:rPr>
              <a:t>lường</a:t>
            </a:r>
            <a:r>
              <a:rPr sz="1350" b="0" i="0" u="none" dirty="0">
                <a:solidFill>
                  <a:srgbClr val="64748B"/>
                </a:solidFill>
                <a:latin typeface="Roboto"/>
              </a:rPr>
              <a:t> </a:t>
            </a:r>
            <a:r>
              <a:rPr sz="1350" b="0" i="0" u="none" dirty="0" err="1">
                <a:solidFill>
                  <a:srgbClr val="64748B"/>
                </a:solidFill>
                <a:latin typeface="Roboto"/>
              </a:rPr>
              <a:t>độ</a:t>
            </a:r>
            <a:r>
              <a:rPr sz="1350" b="0" i="0" u="none" dirty="0">
                <a:solidFill>
                  <a:srgbClr val="64748B"/>
                </a:solidFill>
                <a:latin typeface="Roboto"/>
              </a:rPr>
              <a:t> </a:t>
            </a:r>
            <a:r>
              <a:rPr sz="1350" b="0" i="0" u="none" dirty="0" err="1">
                <a:solidFill>
                  <a:srgbClr val="64748B"/>
                </a:solidFill>
                <a:latin typeface="Roboto"/>
              </a:rPr>
              <a:t>trung</a:t>
            </a:r>
            <a:r>
              <a:rPr sz="1350" b="0" i="0" u="none" dirty="0">
                <a:solidFill>
                  <a:srgbClr val="64748B"/>
                </a:solidFill>
                <a:latin typeface="Roboto"/>
              </a:rPr>
              <a:t> </a:t>
            </a:r>
            <a:r>
              <a:rPr sz="1350" b="0" i="0" u="none" dirty="0" err="1">
                <a:solidFill>
                  <a:srgbClr val="64748B"/>
                </a:solidFill>
                <a:latin typeface="Roboto"/>
              </a:rPr>
              <a:t>thực</a:t>
            </a:r>
            <a:r>
              <a:rPr sz="1350" b="0" i="0" u="none" dirty="0">
                <a:solidFill>
                  <a:srgbClr val="64748B"/>
                </a:solidFill>
                <a:latin typeface="Roboto"/>
              </a:rPr>
              <a:t> </a:t>
            </a:r>
            <a:r>
              <a:rPr sz="1350" b="0" i="0" u="none" dirty="0" err="1">
                <a:solidFill>
                  <a:srgbClr val="64748B"/>
                </a:solidFill>
                <a:latin typeface="Roboto"/>
              </a:rPr>
              <a:t>và</a:t>
            </a:r>
            <a:r>
              <a:rPr sz="1350" b="0" i="0" u="none" dirty="0">
                <a:solidFill>
                  <a:srgbClr val="64748B"/>
                </a:solidFill>
                <a:latin typeface="Roboto"/>
              </a:rPr>
              <a:t> </a:t>
            </a:r>
            <a:r>
              <a:rPr sz="1350" b="0" i="0" u="none" dirty="0" err="1">
                <a:solidFill>
                  <a:srgbClr val="64748B"/>
                </a:solidFill>
                <a:latin typeface="Roboto"/>
              </a:rPr>
              <a:t>tương</a:t>
            </a:r>
            <a:r>
              <a:rPr sz="1350" b="0" i="0" u="none" dirty="0">
                <a:solidFill>
                  <a:srgbClr val="64748B"/>
                </a:solidFill>
                <a:latin typeface="Roboto"/>
              </a:rPr>
              <a:t> </a:t>
            </a:r>
            <a:r>
              <a:rPr sz="1350" b="0" i="0" u="none" dirty="0" err="1">
                <a:solidFill>
                  <a:srgbClr val="64748B"/>
                </a:solidFill>
                <a:latin typeface="Roboto"/>
              </a:rPr>
              <a:t>đồng</a:t>
            </a:r>
            <a:r>
              <a:rPr sz="1350" b="0" i="0" u="none" dirty="0">
                <a:solidFill>
                  <a:srgbClr val="64748B"/>
                </a:solidFill>
                <a:latin typeface="Roboto"/>
              </a:rPr>
              <a:t> vector.</a:t>
            </a:r>
          </a:p>
        </p:txBody>
      </p:sp>
      <p:sp>
        <p:nvSpPr>
          <p:cNvPr id="24" name="TextBox 23"/>
          <p:cNvSpPr txBox="1"/>
          <p:nvPr/>
        </p:nvSpPr>
        <p:spPr>
          <a:xfrm>
            <a:off x="7343775" y="4376737"/>
            <a:ext cx="4550568" cy="228600"/>
          </a:xfrm>
          <a:prstGeom prst="rect">
            <a:avLst/>
          </a:prstGeom>
          <a:noFill/>
        </p:spPr>
        <p:txBody>
          <a:bodyPr wrap="none" lIns="0" tIns="0" rIns="0" bIns="0" anchor="t">
            <a:spAutoFit/>
          </a:bodyPr>
          <a:lstStyle/>
          <a:p>
            <a:pPr algn="l"/>
            <a:r>
              <a:rPr sz="1500" b="1" i="0" u="none">
                <a:solidFill>
                  <a:srgbClr val="1A293C"/>
                </a:solidFill>
                <a:latin typeface="Montserrat"/>
              </a:rPr>
              <a:t>Threshold Augmentation</a:t>
            </a:r>
          </a:p>
        </p:txBody>
      </p:sp>
      <p:sp>
        <p:nvSpPr>
          <p:cNvPr id="25" name="TextBox 24"/>
          <p:cNvSpPr txBox="1"/>
          <p:nvPr/>
        </p:nvSpPr>
        <p:spPr>
          <a:xfrm>
            <a:off x="7343775" y="4681537"/>
            <a:ext cx="4333875" cy="200025"/>
          </a:xfrm>
          <a:prstGeom prst="rect">
            <a:avLst/>
          </a:prstGeom>
          <a:noFill/>
        </p:spPr>
        <p:txBody>
          <a:bodyPr wrap="none" lIns="0" tIns="0" rIns="0" bIns="0" anchor="t">
            <a:spAutoFit/>
          </a:bodyPr>
          <a:lstStyle/>
          <a:p>
            <a:pPr algn="l"/>
            <a:r>
              <a:rPr sz="1350" b="0" i="0" u="none">
                <a:solidFill>
                  <a:srgbClr val="64748B"/>
                </a:solidFill>
                <a:latin typeface="Roboto"/>
              </a:rPr>
              <a:t>Đánh giá hiệu quả bổ sung dữ liệu có chọn lọc.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9429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04875"/>
            <a:ext cx="12192000" cy="3810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96433" y="2105206"/>
            <a:ext cx="3886200" cy="3200400"/>
          </a:xfrm>
          <a:prstGeom prst="roundRect">
            <a:avLst>
              <a:gd name="adj" fmla="val 7142"/>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567958" y="2152831"/>
            <a:ext cx="5343525" cy="8382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567958" y="3219631"/>
            <a:ext cx="5343525" cy="8382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567958" y="4286431"/>
            <a:ext cx="5343525" cy="8382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567958" y="2152831"/>
            <a:ext cx="57150" cy="838200"/>
          </a:xfrm>
          <a:prstGeom prst="rect">
            <a:avLst/>
          </a:prstGeom>
          <a:solidFill>
            <a:srgbClr val="1A2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567958" y="3219631"/>
            <a:ext cx="57150" cy="83820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567958" y="4286431"/>
            <a:ext cx="57150" cy="838200"/>
          </a:xfrm>
          <a:prstGeom prst="rect">
            <a:avLst/>
          </a:prstGeom>
          <a:solidFill>
            <a:srgbClr val="1A29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image.png"/>
          <p:cNvPicPr>
            <a:picLocks noChangeAspect="1"/>
          </p:cNvPicPr>
          <p:nvPr/>
        </p:nvPicPr>
        <p:blipFill>
          <a:blip r:embed="rId2"/>
          <a:stretch>
            <a:fillRect/>
          </a:stretch>
        </p:blipFill>
        <p:spPr>
          <a:xfrm>
            <a:off x="11391900" y="338137"/>
            <a:ext cx="342900" cy="304800"/>
          </a:xfrm>
          <a:prstGeom prst="rect">
            <a:avLst/>
          </a:prstGeom>
        </p:spPr>
      </p:pic>
      <p:sp>
        <p:nvSpPr>
          <p:cNvPr id="12" name="TextBox 11"/>
          <p:cNvSpPr txBox="1"/>
          <p:nvPr/>
        </p:nvSpPr>
        <p:spPr>
          <a:xfrm>
            <a:off x="457200" y="304800"/>
            <a:ext cx="3563476" cy="369332"/>
          </a:xfrm>
          <a:prstGeom prst="rect">
            <a:avLst/>
          </a:prstGeom>
          <a:noFill/>
        </p:spPr>
        <p:txBody>
          <a:bodyPr wrap="none" lIns="0" tIns="0" rIns="0" bIns="0" anchor="t">
            <a:spAutoFit/>
          </a:bodyPr>
          <a:lstStyle/>
          <a:p>
            <a:pPr algn="l"/>
            <a:r>
              <a:rPr sz="2400" b="1" i="0" u="none" dirty="0">
                <a:solidFill>
                  <a:srgbClr val="1A293C"/>
                </a:solidFill>
                <a:latin typeface="Montserrat"/>
              </a:rPr>
              <a:t>Kết Quả </a:t>
            </a:r>
            <a:r>
              <a:rPr sz="2400" b="1" i="0" u="none">
                <a:solidFill>
                  <a:srgbClr val="1A293C"/>
                </a:solidFill>
                <a:latin typeface="Montserrat"/>
              </a:rPr>
              <a:t>Thực </a:t>
            </a:r>
            <a:r>
              <a:rPr sz="2400" b="1" i="0" u="none" smtClean="0">
                <a:solidFill>
                  <a:srgbClr val="1A293C"/>
                </a:solidFill>
                <a:latin typeface="Montserrat"/>
              </a:rPr>
              <a:t>Nghiệm</a:t>
            </a:r>
            <a:endParaRPr sz="2400" b="1" i="0" u="none" dirty="0">
              <a:solidFill>
                <a:srgbClr val="1A293C"/>
              </a:solidFill>
              <a:latin typeface="Montserrat"/>
            </a:endParaRPr>
          </a:p>
        </p:txBody>
      </p:sp>
      <p:sp>
        <p:nvSpPr>
          <p:cNvPr id="13" name="TextBox 12"/>
          <p:cNvSpPr txBox="1"/>
          <p:nvPr/>
        </p:nvSpPr>
        <p:spPr>
          <a:xfrm>
            <a:off x="1172658" y="2714806"/>
            <a:ext cx="3333750" cy="266700"/>
          </a:xfrm>
          <a:prstGeom prst="rect">
            <a:avLst/>
          </a:prstGeom>
          <a:noFill/>
        </p:spPr>
        <p:txBody>
          <a:bodyPr wrap="none" lIns="0" tIns="0" rIns="0" bIns="0" anchor="t">
            <a:spAutoFit/>
          </a:bodyPr>
          <a:lstStyle/>
          <a:p>
            <a:pPr algn="ctr"/>
            <a:r>
              <a:rPr sz="1800" b="1" i="0" u="none">
                <a:solidFill>
                  <a:srgbClr val="64748B"/>
                </a:solidFill>
                <a:latin typeface="Roboto"/>
              </a:rPr>
              <a:t>F1 SCORE CẢI THIỆN LÊN</a:t>
            </a:r>
          </a:p>
        </p:txBody>
      </p:sp>
      <p:sp>
        <p:nvSpPr>
          <p:cNvPr id="14" name="TextBox 13"/>
          <p:cNvSpPr txBox="1"/>
          <p:nvPr/>
        </p:nvSpPr>
        <p:spPr>
          <a:xfrm>
            <a:off x="1303626" y="3133906"/>
            <a:ext cx="3071812" cy="1143000"/>
          </a:xfrm>
          <a:prstGeom prst="rect">
            <a:avLst/>
          </a:prstGeom>
          <a:noFill/>
        </p:spPr>
        <p:txBody>
          <a:bodyPr wrap="none" lIns="0" tIns="0" rIns="0" bIns="0" anchor="t">
            <a:spAutoFit/>
          </a:bodyPr>
          <a:lstStyle/>
          <a:p>
            <a:pPr algn="ctr">
              <a:lnSpc>
                <a:spcPts val="9000"/>
              </a:lnSpc>
            </a:pPr>
            <a:r>
              <a:rPr sz="9000" b="1" i="0" u="none">
                <a:solidFill>
                  <a:srgbClr val="D32F2F"/>
                </a:solidFill>
                <a:latin typeface="Montserrat"/>
              </a:rPr>
              <a:t>95%</a:t>
            </a:r>
          </a:p>
        </p:txBody>
      </p:sp>
      <p:sp>
        <p:nvSpPr>
          <p:cNvPr id="15" name="TextBox 14"/>
          <p:cNvSpPr txBox="1"/>
          <p:nvPr/>
        </p:nvSpPr>
        <p:spPr>
          <a:xfrm>
            <a:off x="1654861" y="4429306"/>
            <a:ext cx="2369343" cy="266700"/>
          </a:xfrm>
          <a:prstGeom prst="rect">
            <a:avLst/>
          </a:prstGeom>
          <a:noFill/>
        </p:spPr>
        <p:txBody>
          <a:bodyPr wrap="none" lIns="0" tIns="0" rIns="0" bIns="0" anchor="t">
            <a:spAutoFit/>
          </a:bodyPr>
          <a:lstStyle/>
          <a:p>
            <a:pPr algn="ctr"/>
            <a:r>
              <a:rPr sz="1800" b="0" i="0" u="none">
                <a:solidFill>
                  <a:srgbClr val="1A293C"/>
                </a:solidFill>
                <a:latin typeface="Roboto"/>
              </a:rPr>
              <a:t>Từ mức cơ sở 87%</a:t>
            </a:r>
          </a:p>
        </p:txBody>
      </p:sp>
      <p:sp>
        <p:nvSpPr>
          <p:cNvPr id="16" name="TextBox 15"/>
          <p:cNvSpPr txBox="1"/>
          <p:nvPr/>
        </p:nvSpPr>
        <p:spPr>
          <a:xfrm>
            <a:off x="5853708" y="2305231"/>
            <a:ext cx="6338292" cy="257175"/>
          </a:xfrm>
          <a:prstGeom prst="rect">
            <a:avLst/>
          </a:prstGeom>
          <a:noFill/>
        </p:spPr>
        <p:txBody>
          <a:bodyPr wrap="none" lIns="0" tIns="0" rIns="0" bIns="0" anchor="t">
            <a:spAutoFit/>
          </a:bodyPr>
          <a:lstStyle/>
          <a:p>
            <a:pPr algn="l"/>
            <a:r>
              <a:rPr sz="1650" b="1" i="0" u="none">
                <a:solidFill>
                  <a:srgbClr val="1A293C"/>
                </a:solidFill>
                <a:latin typeface="Montserrat"/>
              </a:rPr>
              <a:t>Diffusion vượt trội</a:t>
            </a:r>
          </a:p>
        </p:txBody>
      </p:sp>
      <p:sp>
        <p:nvSpPr>
          <p:cNvPr id="17" name="TextBox 16"/>
          <p:cNvSpPr txBox="1"/>
          <p:nvPr/>
        </p:nvSpPr>
        <p:spPr>
          <a:xfrm>
            <a:off x="5853708" y="2638606"/>
            <a:ext cx="6036468" cy="200025"/>
          </a:xfrm>
          <a:prstGeom prst="rect">
            <a:avLst/>
          </a:prstGeom>
          <a:noFill/>
        </p:spPr>
        <p:txBody>
          <a:bodyPr wrap="none" lIns="0" tIns="0" rIns="0" bIns="0" anchor="t">
            <a:spAutoFit/>
          </a:bodyPr>
          <a:lstStyle/>
          <a:p>
            <a:pPr algn="l"/>
            <a:r>
              <a:rPr sz="1350" b="0" i="0" u="none">
                <a:solidFill>
                  <a:srgbClr val="64748B"/>
                </a:solidFill>
                <a:latin typeface="Roboto"/>
              </a:rPr>
              <a:t>Tạo ra cụm dữ liệu phân bố gần nhất với malware thực tế.</a:t>
            </a:r>
          </a:p>
        </p:txBody>
      </p:sp>
      <p:sp>
        <p:nvSpPr>
          <p:cNvPr id="18" name="TextBox 17"/>
          <p:cNvSpPr txBox="1"/>
          <p:nvPr/>
        </p:nvSpPr>
        <p:spPr>
          <a:xfrm>
            <a:off x="5853708" y="3372031"/>
            <a:ext cx="6338292" cy="257175"/>
          </a:xfrm>
          <a:prstGeom prst="rect">
            <a:avLst/>
          </a:prstGeom>
          <a:noFill/>
        </p:spPr>
        <p:txBody>
          <a:bodyPr wrap="none" lIns="0" tIns="0" rIns="0" bIns="0" anchor="t">
            <a:spAutoFit/>
          </a:bodyPr>
          <a:lstStyle/>
          <a:p>
            <a:pPr algn="l"/>
            <a:r>
              <a:rPr sz="1650" b="1" i="0" u="none">
                <a:solidFill>
                  <a:srgbClr val="1A293C"/>
                </a:solidFill>
                <a:latin typeface="Montserrat"/>
              </a:rPr>
              <a:t>Độ trung thực cao</a:t>
            </a:r>
          </a:p>
        </p:txBody>
      </p:sp>
      <p:sp>
        <p:nvSpPr>
          <p:cNvPr id="19" name="TextBox 18"/>
          <p:cNvSpPr txBox="1"/>
          <p:nvPr/>
        </p:nvSpPr>
        <p:spPr>
          <a:xfrm>
            <a:off x="5853708" y="3705406"/>
            <a:ext cx="6036468" cy="200025"/>
          </a:xfrm>
          <a:prstGeom prst="rect">
            <a:avLst/>
          </a:prstGeom>
          <a:noFill/>
        </p:spPr>
        <p:txBody>
          <a:bodyPr wrap="none" lIns="0" tIns="0" rIns="0" bIns="0" anchor="t">
            <a:spAutoFit/>
          </a:bodyPr>
          <a:lstStyle/>
          <a:p>
            <a:pPr algn="l"/>
            <a:r>
              <a:rPr sz="1350" b="0" i="0" u="none">
                <a:solidFill>
                  <a:srgbClr val="64748B"/>
                </a:solidFill>
                <a:latin typeface="Roboto"/>
              </a:rPr>
              <a:t>Fidelity score đạt 92% khi kiểm thử với Random Forest.</a:t>
            </a:r>
          </a:p>
        </p:txBody>
      </p:sp>
      <p:sp>
        <p:nvSpPr>
          <p:cNvPr id="20" name="TextBox 19"/>
          <p:cNvSpPr txBox="1"/>
          <p:nvPr/>
        </p:nvSpPr>
        <p:spPr>
          <a:xfrm>
            <a:off x="5853708" y="4438831"/>
            <a:ext cx="6338292" cy="0"/>
          </a:xfrm>
          <a:prstGeom prst="rect">
            <a:avLst/>
          </a:prstGeom>
          <a:noFill/>
        </p:spPr>
        <p:txBody>
          <a:bodyPr wrap="none" lIns="0" tIns="0" rIns="0" bIns="0" anchor="t">
            <a:spAutoFit/>
          </a:bodyPr>
          <a:lstStyle/>
          <a:p>
            <a:pPr algn="l"/>
            <a:r>
              <a:rPr sz="1650" b="1" i="0" u="none">
                <a:solidFill>
                  <a:srgbClr val="1A293C"/>
                </a:solidFill>
                <a:latin typeface="Montserrat"/>
              </a:rPr>
              <a:t>Giải quyết mất cân bằng</a:t>
            </a:r>
          </a:p>
        </p:txBody>
      </p:sp>
      <p:sp>
        <p:nvSpPr>
          <p:cNvPr id="21" name="TextBox 20"/>
          <p:cNvSpPr txBox="1"/>
          <p:nvPr/>
        </p:nvSpPr>
        <p:spPr>
          <a:xfrm>
            <a:off x="5853708" y="4772206"/>
            <a:ext cx="6036468" cy="0"/>
          </a:xfrm>
          <a:prstGeom prst="rect">
            <a:avLst/>
          </a:prstGeom>
          <a:noFill/>
        </p:spPr>
        <p:txBody>
          <a:bodyPr wrap="none" lIns="0" tIns="0" rIns="0" bIns="0" anchor="t">
            <a:spAutoFit/>
          </a:bodyPr>
          <a:lstStyle/>
          <a:p>
            <a:pPr algn="l"/>
            <a:r>
              <a:rPr sz="1350" b="0" i="0" u="none">
                <a:solidFill>
                  <a:srgbClr val="64748B"/>
                </a:solidFill>
                <a:latin typeface="Roboto"/>
              </a:rPr>
              <a:t>Cải thiện mạnh mẽ khả năng phát hiện các họ malware thiểu số.</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A293C"/>
        </a:solidFill>
        <a:effectLst/>
      </p:bgPr>
    </p:bg>
    <p:spTree>
      <p:nvGrpSpPr>
        <p:cNvPr id="1" name=""/>
        <p:cNvGrpSpPr/>
        <p:nvPr/>
      </p:nvGrpSpPr>
      <p:grpSpPr>
        <a:xfrm>
          <a:off x="0" y="0"/>
          <a:ext cx="0" cy="0"/>
          <a:chOff x="0" y="0"/>
          <a:chExt cx="0" cy="0"/>
        </a:xfrm>
      </p:grpSpPr>
      <p:sp>
        <p:nvSpPr>
          <p:cNvPr id="2" name="Rectangle 1"/>
          <p:cNvSpPr/>
          <p:nvPr/>
        </p:nvSpPr>
        <p:spPr>
          <a:xfrm>
            <a:off x="609600" y="1076325"/>
            <a:ext cx="609600" cy="3810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1571625"/>
            <a:ext cx="5257800" cy="2619375"/>
          </a:xfrm>
          <a:prstGeom prst="roundRect">
            <a:avLst>
              <a:gd name="adj" fmla="val 5818"/>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324600" y="1571625"/>
            <a:ext cx="5257800" cy="2619375"/>
          </a:xfrm>
          <a:prstGeom prst="roundRect">
            <a:avLst>
              <a:gd name="adj" fmla="val 5818"/>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324600" y="1571625"/>
            <a:ext cx="5257800" cy="5715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2"/>
          <a:stretch>
            <a:fillRect/>
          </a:stretch>
        </p:blipFill>
        <p:spPr>
          <a:xfrm>
            <a:off x="990600" y="1952625"/>
            <a:ext cx="304800" cy="304800"/>
          </a:xfrm>
          <a:prstGeom prst="rect">
            <a:avLst/>
          </a:prstGeom>
        </p:spPr>
      </p:pic>
      <p:pic>
        <p:nvPicPr>
          <p:cNvPr id="7" name="Picture 6" descr="image.png"/>
          <p:cNvPicPr>
            <a:picLocks noChangeAspect="1"/>
          </p:cNvPicPr>
          <p:nvPr/>
        </p:nvPicPr>
        <p:blipFill>
          <a:blip r:embed="rId3"/>
          <a:stretch>
            <a:fillRect/>
          </a:stretch>
        </p:blipFill>
        <p:spPr>
          <a:xfrm>
            <a:off x="6705600" y="2009775"/>
            <a:ext cx="304800" cy="304800"/>
          </a:xfrm>
          <a:prstGeom prst="rect">
            <a:avLst/>
          </a:prstGeom>
        </p:spPr>
      </p:pic>
      <p:sp>
        <p:nvSpPr>
          <p:cNvPr id="8" name="TextBox 7"/>
          <p:cNvSpPr txBox="1"/>
          <p:nvPr/>
        </p:nvSpPr>
        <p:spPr>
          <a:xfrm>
            <a:off x="609600" y="457200"/>
            <a:ext cx="11582400" cy="466725"/>
          </a:xfrm>
          <a:prstGeom prst="rect">
            <a:avLst/>
          </a:prstGeom>
          <a:noFill/>
        </p:spPr>
        <p:txBody>
          <a:bodyPr wrap="none" lIns="0" tIns="0" rIns="0" bIns="0" anchor="t">
            <a:spAutoFit/>
          </a:bodyPr>
          <a:lstStyle/>
          <a:p>
            <a:pPr algn="l"/>
            <a:r>
              <a:rPr sz="3000" b="1" i="0" u="none">
                <a:solidFill>
                  <a:srgbClr val="FFFFFF"/>
                </a:solidFill>
                <a:latin typeface="Montserrat"/>
              </a:rPr>
              <a:t>Kết Luận &amp; Hạn Chế</a:t>
            </a:r>
          </a:p>
        </p:txBody>
      </p:sp>
      <p:sp>
        <p:nvSpPr>
          <p:cNvPr id="9" name="TextBox 8"/>
          <p:cNvSpPr txBox="1"/>
          <p:nvPr/>
        </p:nvSpPr>
        <p:spPr>
          <a:xfrm>
            <a:off x="3781425" y="4800600"/>
            <a:ext cx="6075759" cy="371475"/>
          </a:xfrm>
          <a:prstGeom prst="rect">
            <a:avLst/>
          </a:prstGeom>
          <a:noFill/>
        </p:spPr>
        <p:txBody>
          <a:bodyPr wrap="none" lIns="0" tIns="0" rIns="0" bIns="0" anchor="t">
            <a:spAutoFit/>
          </a:bodyPr>
          <a:lstStyle/>
          <a:p>
            <a:pPr algn="l"/>
            <a:r>
              <a:rPr sz="2400" b="1" i="0" u="none">
                <a:solidFill>
                  <a:srgbClr val="F8FAFC"/>
                </a:solidFill>
                <a:latin typeface="Montserrat"/>
              </a:rPr>
              <a:t>XIN TRÂN TRỌNG CẢM ƠN</a:t>
            </a:r>
          </a:p>
        </p:txBody>
      </p:sp>
      <p:sp>
        <p:nvSpPr>
          <p:cNvPr id="10" name="TextBox 9"/>
          <p:cNvSpPr txBox="1"/>
          <p:nvPr/>
        </p:nvSpPr>
        <p:spPr>
          <a:xfrm>
            <a:off x="990600" y="2409825"/>
            <a:ext cx="5900737" cy="276225"/>
          </a:xfrm>
          <a:prstGeom prst="rect">
            <a:avLst/>
          </a:prstGeom>
          <a:noFill/>
        </p:spPr>
        <p:txBody>
          <a:bodyPr wrap="none" lIns="0" tIns="0" rIns="0" bIns="0" anchor="t">
            <a:spAutoFit/>
          </a:bodyPr>
          <a:lstStyle/>
          <a:p>
            <a:pPr algn="l"/>
            <a:r>
              <a:rPr sz="1800" b="1" i="0" u="none">
                <a:solidFill>
                  <a:srgbClr val="1A293C"/>
                </a:solidFill>
                <a:latin typeface="Montserrat"/>
              </a:rPr>
              <a:t>Thành Tựu Cốt Lõi</a:t>
            </a:r>
          </a:p>
        </p:txBody>
      </p:sp>
      <p:sp>
        <p:nvSpPr>
          <p:cNvPr id="11" name="TextBox 10"/>
          <p:cNvSpPr txBox="1"/>
          <p:nvPr/>
        </p:nvSpPr>
        <p:spPr>
          <a:xfrm>
            <a:off x="990600" y="2838450"/>
            <a:ext cx="4591050" cy="914400"/>
          </a:xfrm>
          <a:prstGeom prst="rect">
            <a:avLst/>
          </a:prstGeom>
          <a:noFill/>
        </p:spPr>
        <p:txBody>
          <a:bodyPr wrap="square" lIns="0" tIns="0" rIns="0" bIns="0" anchor="t">
            <a:spAutoFit/>
          </a:bodyPr>
          <a:lstStyle/>
          <a:p>
            <a:pPr algn="l">
              <a:lnSpc>
                <a:spcPts val="2400"/>
              </a:lnSpc>
            </a:pPr>
            <a:r>
              <a:rPr sz="1500" b="0" i="0" u="none">
                <a:solidFill>
                  <a:srgbClr val="64748B"/>
                </a:solidFill>
                <a:latin typeface="Roboto"/>
              </a:rPr>
              <a:t>Sinh dữ liệu embedding bằng GenAI giải quyết triệt để vấn đề tập dữ liệu nhỏ và mất cân bằng. Hoàn toàn khả thi cho Machine Learning.</a:t>
            </a:r>
          </a:p>
        </p:txBody>
      </p:sp>
      <p:sp>
        <p:nvSpPr>
          <p:cNvPr id="12" name="TextBox 11"/>
          <p:cNvSpPr txBox="1"/>
          <p:nvPr/>
        </p:nvSpPr>
        <p:spPr>
          <a:xfrm>
            <a:off x="6705600" y="2466975"/>
            <a:ext cx="5486400" cy="276225"/>
          </a:xfrm>
          <a:prstGeom prst="rect">
            <a:avLst/>
          </a:prstGeom>
          <a:noFill/>
        </p:spPr>
        <p:txBody>
          <a:bodyPr wrap="none" lIns="0" tIns="0" rIns="0" bIns="0" anchor="t">
            <a:spAutoFit/>
          </a:bodyPr>
          <a:lstStyle/>
          <a:p>
            <a:pPr algn="l"/>
            <a:r>
              <a:rPr sz="1800" b="1" i="0" u="none">
                <a:solidFill>
                  <a:srgbClr val="D32F2F"/>
                </a:solidFill>
                <a:latin typeface="Montserrat"/>
              </a:rPr>
              <a:t>Hạn Chế Hiện Tại</a:t>
            </a:r>
          </a:p>
        </p:txBody>
      </p:sp>
      <p:sp>
        <p:nvSpPr>
          <p:cNvPr id="13" name="TextBox 12"/>
          <p:cNvSpPr txBox="1"/>
          <p:nvPr/>
        </p:nvSpPr>
        <p:spPr>
          <a:xfrm>
            <a:off x="6705600" y="2895600"/>
            <a:ext cx="4591050" cy="914400"/>
          </a:xfrm>
          <a:prstGeom prst="rect">
            <a:avLst/>
          </a:prstGeom>
          <a:noFill/>
        </p:spPr>
        <p:txBody>
          <a:bodyPr wrap="square" lIns="0" tIns="0" rIns="0" bIns="0" anchor="t">
            <a:spAutoFit/>
          </a:bodyPr>
          <a:lstStyle/>
          <a:p>
            <a:pPr algn="l">
              <a:lnSpc>
                <a:spcPts val="2400"/>
              </a:lnSpc>
            </a:pPr>
            <a:r>
              <a:rPr sz="1500" b="0" i="0" u="none">
                <a:solidFill>
                  <a:srgbClr val="64748B"/>
                </a:solidFill>
                <a:latin typeface="Roboto"/>
              </a:rPr>
              <a:t>Không tạo file malware thực thi. Đánh mất thông tin luồng dữ liệu. Không giả lập được Zero-day attack hoàn toàn mới.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TotalTime>
  <Words>3068</Words>
  <Application>Microsoft Office PowerPoint</Application>
  <PresentationFormat>Widescreen</PresentationFormat>
  <Paragraphs>184</Paragraphs>
  <Slides>15</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Montserrat</vt:lpstr>
      <vt:lpstr>Roboto</vt:lpstr>
      <vt:lpstr>Arial</vt:lpstr>
      <vt:lpstr>Symbol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Van Beo</cp:lastModifiedBy>
  <cp:revision>7</cp:revision>
  <dcterms:created xsi:type="dcterms:W3CDTF">2013-01-27T09:14:16Z</dcterms:created>
  <dcterms:modified xsi:type="dcterms:W3CDTF">2026-10-04T09:07:12Z</dcterms:modified>
  <cp:category/>
</cp:coreProperties>
</file>