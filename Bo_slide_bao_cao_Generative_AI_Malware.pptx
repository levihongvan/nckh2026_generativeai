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1. GIỚI THIỆU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CE6F2"/>
                </a:solidFill>
                <a:latin typeface="Aptos"/>
              </a:rPr>
              <a:t>Generating Synthetic Malware Samples Using 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897B"/>
                </a:solidFill>
                <a:latin typeface="Aptos"/>
              </a:rPr>
              <a:t>GAN  •  WGAN-GP  •  DIFFUSION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B"/>
                </a:solidFill>
                <a:latin typeface="Aptos"/>
              </a:rPr>
              <a:t>2. MỤC TIÊU NGHIÊN CỨU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75BA4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32004"/>
          </a:xfrm>
          <a:prstGeom prst="rect">
            <a:avLst/>
          </a:prstGeom>
          <a:solidFill>
            <a:srgbClr val="27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Malware classification gặp thiếu dữ liệu và mất cân bằng giữa các malware families.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Thu thập mẫu thực tế tốn thời gian; obfuscation làm phân tích khó hơn.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88336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Generative AI học phân bố dữ liệu đã có rồi sinh synthetic samples.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Trong nghiên cứu, synthetic sample chủ yếu là malware embedding, không phải file malware thực thi.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382"/>
                </a:solidFill>
                <a:latin typeface="Aptos"/>
              </a:rPr>
              <a:t>Generating Synthetic Malware Samples Using Generative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B"/>
                </a:solidFill>
                <a:latin typeface="Aptos"/>
              </a:rPr>
              <a:t>3. BỐI CẢNH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75BA4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32004"/>
          </a:xfrm>
          <a:prstGeom prst="rect">
            <a:avLst/>
          </a:prstGeom>
          <a:solidFill>
            <a:srgbClr val="27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Imbalanced dataset: một số family có nhiều mẫu, một số family có ít mẫu.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Các lớp thiểu số dễ bị mô hình học kém.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88336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Obfuscation có thể thay đổi biểu diễn malware nhưng giữ chức năng.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Synthetic data được dùng để tăng dữ liệu và hỗ trợ cân bằng tập huấn luyện.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382"/>
                </a:solidFill>
                <a:latin typeface="Aptos"/>
              </a:rPr>
              <a:t>Generating Synthetic Malware Samples Using Generative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B"/>
                </a:solidFill>
                <a:latin typeface="Aptos"/>
              </a:rPr>
              <a:t>4. DỮ LIỆU NGHIÊN CỨU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75BA4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32004"/>
          </a:xfrm>
          <a:prstGeom prst="rect">
            <a:avLst/>
          </a:prstGeom>
          <a:solidFill>
            <a:srgbClr val="27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Khoảng 40.000 mẫu malware.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25 malware families từ MALICIA và VirusShare.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88336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MALICIA gồm Zbot, Zeroaccess, Winwebsec; VirusShare bổ sung các families khác.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Duplicate được xử lý khác nhau giữa training và test để tránh đánh giá bị thổi phồng.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382"/>
                </a:solidFill>
                <a:latin typeface="Aptos"/>
              </a:rPr>
              <a:t>Generating Synthetic Malware Samples Using Generative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B"/>
                </a:solidFill>
                <a:latin typeface="Aptos"/>
              </a:rPr>
              <a:t>5. PIPELINE TỔNG THỂ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75BA4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32004"/>
          </a:xfrm>
          <a:prstGeom prst="rect">
            <a:avLst/>
          </a:prstGeom>
          <a:solidFill>
            <a:srgbClr val="27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1261872"/>
            <a:ext cx="98755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33502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33B"/>
                </a:solidFill>
                <a:latin typeface="Aptos"/>
              </a:rPr>
              <a:t>Malware Binary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1874519"/>
            <a:ext cx="98755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94767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33B"/>
                </a:solidFill>
                <a:latin typeface="Aptos"/>
              </a:rPr>
              <a:t>→ Disassembly / Opcode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487168"/>
            <a:ext cx="98755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5603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33B"/>
                </a:solidFill>
                <a:latin typeface="Aptos"/>
              </a:rPr>
              <a:t>→ Word2Vec → Malware embedding 104D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099815"/>
            <a:ext cx="98755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1729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33B"/>
                </a:solidFill>
                <a:latin typeface="Aptos"/>
              </a:rPr>
              <a:t>→ GAN / WGAN-GP / Diffusion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712463"/>
            <a:ext cx="98755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785615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33B"/>
                </a:solidFill>
                <a:latin typeface="Aptos"/>
              </a:rPr>
              <a:t>→ Synthetic embeddings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4325112"/>
            <a:ext cx="98755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39826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33B"/>
                </a:solidFill>
                <a:latin typeface="Aptos"/>
              </a:rPr>
              <a:t>→ Evaluation + Threshold Augmentation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937759"/>
            <a:ext cx="98755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01091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33B"/>
                </a:solidFill>
                <a:latin typeface="Aptos"/>
              </a:rPr>
              <a:t>→ Malware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382"/>
                </a:solidFill>
                <a:latin typeface="Aptos"/>
              </a:rPr>
              <a:t>Generating Synthetic Malware Samples Using Generative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B"/>
                </a:solidFill>
                <a:latin typeface="Aptos"/>
              </a:rPr>
              <a:t>6. OPCODE VÀ WORD2VEC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75BA4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32004"/>
          </a:xfrm>
          <a:prstGeom prst="rect">
            <a:avLst/>
          </a:prstGeom>
          <a:solidFill>
            <a:srgbClr val="27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Giữ opcode như mov, push, call; loại bỏ register, address và label.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Chuỗi opcode được xem tương tự chuỗi token trong NLP.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88336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Word2Vec học vector opcode dựa trên ngữ cảnh.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Nghiên cứu chọn embedding 104 chiều.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Embedding được scale về [-1, 1] để phù hợp Tanh.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382"/>
                </a:solidFill>
                <a:latin typeface="Aptos"/>
              </a:rPr>
              <a:t>Generating Synthetic Malware Samples Using Generative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B"/>
                </a:solidFill>
                <a:latin typeface="Aptos"/>
              </a:rPr>
              <a:t>7. 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75BA4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32004"/>
          </a:xfrm>
          <a:prstGeom prst="rect">
            <a:avLst/>
          </a:prstGeom>
          <a:solidFill>
            <a:srgbClr val="27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Generator: noise → synthetic malware embedding.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Discriminator: phân biệt embedding thật và embedding sinh.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88336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Hai mạng cạnh tranh trong quá trình 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Mẫu trung gian không phải cứ tạo ra là giữ lại; sau training, model có thể sinh nhiều mẫu từ nhiều noise khác nhau.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Nhược điểm: training có thể khó ổn định và độ đa dạng mẫu có thể giảm.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382"/>
                </a:solidFill>
                <a:latin typeface="Aptos"/>
              </a:rPr>
              <a:t>Generating Synthetic Malware Samples Using Generative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B"/>
                </a:solidFill>
                <a:latin typeface="Aptos"/>
              </a:rPr>
              <a:t>8. WGAN-GP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75BA4"/>
                </a:solidFill>
                <a:latin typeface="Aptos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32004"/>
          </a:xfrm>
          <a:prstGeom prst="rect">
            <a:avLst/>
          </a:prstGeom>
          <a:solidFill>
            <a:srgbClr val="27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WGAN thay cách đánh giá thật/giả bằng Wasserstein distance giữa các phân phối.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Critic đánh giá mức độ khác biệt giữa phân phối thật và phân phối sinh.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88336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Gradient Penalty thêm khoản phạt vào loss khi gradient lệch khỏi điều kiện Lipschitz mong muốn.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Mục tiêu: Critic ổn định hơn và tối ưu Generator tốt hơn.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Trong bài: Conv1D + LeakyReLU.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382"/>
                </a:solidFill>
                <a:latin typeface="Aptos"/>
              </a:rPr>
              <a:t>Generating Synthetic Malware Samples Using Generative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B"/>
                </a:solidFill>
                <a:latin typeface="Aptos"/>
              </a:rPr>
              <a:t>9. DIFFUSION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75BA4"/>
                </a:solidFill>
                <a:latin typeface="Aptos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32004"/>
          </a:xfrm>
          <a:prstGeom prst="rect">
            <a:avLst/>
          </a:prstGeom>
          <a:solidFill>
            <a:srgbClr val="27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Forward process: dần thêm Gaussian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Reverse process: học cách khử nhiễu để tạo sample.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88336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Mỗi sample hoàn chỉnh chỉ xuất hiện ở cuối quá trình khử nhiễu.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Muốn sinh nhiều sample: bắt đầu từ nhiều noise khác nhau.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Bài báo điều chỉnh mô hình cho dữ liệu 1D bằng U-Net/Conv1D và Dropout1D; chu kỳ nhiễu được điều chỉnh đến T/2.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382"/>
                </a:solidFill>
                <a:latin typeface="Aptos"/>
              </a:rPr>
              <a:t>Generating Synthetic Malware Samples Using Generative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B"/>
                </a:solidFill>
                <a:latin typeface="Aptos"/>
              </a:rPr>
              <a:t>10. SO SÁNH 3 MÔ HÌNH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75BA4"/>
                </a:solidFill>
                <a:latin typeface="Aptos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32004"/>
          </a:xfrm>
          <a:prstGeom prst="rect">
            <a:avLst/>
          </a:prstGeom>
          <a:solidFill>
            <a:srgbClr val="27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GAN: Generator ↔ Discriminator.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WGAN-GP: Wasserstein distance + Critic + Gradient Penalty.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88336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Diffusion: forward noise + reverse denoising.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GAN đơn giản hơn nhưng khó ổn định hơn.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WGAN-GP ổn định hơn GAN.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28032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Diffusion cho kết quả nổi bật nhất trong nhiều đánh giá của bài.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382"/>
                </a:solidFill>
                <a:latin typeface="Aptos"/>
              </a:rPr>
              <a:t>Generating Synthetic Malware Samples Using Generative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B"/>
                </a:solidFill>
                <a:latin typeface="Aptos"/>
              </a:rPr>
              <a:t>11. PHƯƠNG PHÁP ĐÁNH GIÁ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75BA4"/>
                </a:solidFill>
                <a:latin typeface="Aptos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32004"/>
          </a:xfrm>
          <a:prstGeom prst="rect">
            <a:avLst/>
          </a:prstGeom>
          <a:solidFill>
            <a:srgbClr val="27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Binary Classification: kiểm tra khả năng phân biệt real/fake.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t-SNE: trực quan hóa cấu trúc cluster của embedding.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88336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Synthetic-only training: kiểm tra khả năng huấn luyện bằng dữ liệu sinh.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Fidelity: đánh giá mức độ giữ đặc trưng của dữ liệu thật.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Cosine similarity: đo độ tương đồng vector.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28032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Threshold Augmentation: chỉ chọn sample đủ tương đồng để bổ sung training.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382"/>
                </a:solidFill>
                <a:latin typeface="Aptos"/>
              </a:rPr>
              <a:t>Generating Synthetic Malware Samples Using Generative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B"/>
                </a:solidFill>
                <a:latin typeface="Aptos"/>
              </a:rPr>
              <a:t>12. KẾT QUẢ CHẤT LƯỢNG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75BA4"/>
                </a:solidFill>
                <a:latin typeface="Aptos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32004"/>
          </a:xfrm>
          <a:prstGeom prst="rect">
            <a:avLst/>
          </a:prstGeom>
          <a:solidFill>
            <a:srgbClr val="27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Diffusion và WGAN-GP nhìn chung tốt hơn GAN.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t-SNE: Diffusion tái hiện cấu trúc cluster/ring gần dữ liệu thật hơn.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88336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Fidelity: Diffusion khoảng 92%; WGAN-GP khoảng 90%.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Median cosine-similarity deviation: Diffusion 0,035; WGAN-GP 0,046; GAN 0,176.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Độ lệch càng nhỏ → embedding sinh càng gần đặc trưng dữ liệu thật.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382"/>
                </a:solidFill>
                <a:latin typeface="Aptos"/>
              </a:rPr>
              <a:t>Generating Synthetic Malware Samples Using Generative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B"/>
                </a:solidFill>
                <a:latin typeface="Aptos"/>
              </a:rPr>
              <a:t>13. KẾT QUẢ 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75BA4"/>
                </a:solidFill>
                <a:latin typeface="Aptos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32004"/>
          </a:xfrm>
          <a:prstGeom prst="rect">
            <a:avLst/>
          </a:prstGeom>
          <a:solidFill>
            <a:srgbClr val="27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Synthetic samples được chọn có điều kiện thay vì đưa toàn bộ vào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Threshold t = 0,95 được lựa chọn theo F1 trong thí nghiệm.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88336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Augmentation hỗ trợ các malware families thiểu số.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Multiclass F1 tăng từ khoảng 87% lên khoảng 95%.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Diffusion cho kết quả augmentation nổi bật nhất.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382"/>
                </a:solidFill>
                <a:latin typeface="Aptos"/>
              </a:rPr>
              <a:t>Generating Synthetic Malware Samples Using Generative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B"/>
                </a:solidFill>
                <a:latin typeface="Aptos"/>
              </a:rPr>
              <a:t>14. HẠN CHẾ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75BA4"/>
                </a:solidFill>
                <a:latin typeface="Aptos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32004"/>
          </a:xfrm>
          <a:prstGeom prst="rect">
            <a:avLst/>
          </a:prstGeom>
          <a:solidFill>
            <a:srgbClr val="27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Sinh malware embedding, không tạo executable malware hoàn chỉnh.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Chủ yếu dùng opcode nên chưa biểu diễn đầy đủ register, data flow và ngữ nghĩa khác.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88336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Chất lượng sample cần được kiểm soát/lọc tốt hơn.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Không thể khẳng định mô hình tạo ra zero-day attack hoàn toàn mới.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Hướng phát triển: richer malware representation, quality filtering, embedding/diffusion phù hợp dữ liệu rời rạc.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382"/>
                </a:solidFill>
                <a:latin typeface="Aptos"/>
              </a:rPr>
              <a:t>Generating Synthetic Malware Samples Using Generative 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33B"/>
                </a:solidFill>
                <a:latin typeface="Aptos"/>
              </a:rPr>
              <a:t>15. 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75BA4"/>
                </a:solidFill>
                <a:latin typeface="Aptos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32004"/>
          </a:xfrm>
          <a:prstGeom prst="rect">
            <a:avLst/>
          </a:prstGeom>
          <a:solidFill>
            <a:srgbClr val="27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Generative AI có thể hỗ trợ giải quyết thiếu dữ liệu và mất cân bằng.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GAN là baseline; WGAN-GP cải thiện tính ổn định; Diffusion nổi bật trong nhiều đánh giá.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88336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Synthetic data trong bài được sinh ở mức embedding để augmentation.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Kết quả nổi bật: multiclass F1 khoảng 87% → 95%.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10469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F3A"/>
                </a:solidFill>
                <a:latin typeface="Aptos"/>
              </a:rPr>
              <a:t>• Phương pháp có tiềm năng nhưng cần biểu diễn malware đầy đủ hơn.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382"/>
                </a:solidFill>
                <a:latin typeface="Aptos"/>
              </a:rPr>
              <a:t>Generating Synthetic Malware Samples Using Generative 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16. CẢM 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CE6F2"/>
                </a:solidFill>
                <a:latin typeface="Aptos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